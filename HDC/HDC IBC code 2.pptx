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  <p:sldId id="291" r:id="rId7"/>
    <p:sldId id="292" r:id="rId8"/>
    <p:sldId id="293" r:id="rId9"/>
    <p:sldId id="290" r:id="rId10"/>
    <p:sldId id="257" r:id="rId11"/>
    <p:sldId id="258" r:id="rId12"/>
    <p:sldId id="259" r:id="rId13"/>
    <p:sldId id="269" r:id="rId14"/>
    <p:sldId id="277" r:id="rId15"/>
    <p:sldId id="261" r:id="rId16"/>
    <p:sldId id="262" r:id="rId17"/>
    <p:sldId id="286" r:id="rId18"/>
    <p:sldId id="284" r:id="rId19"/>
    <p:sldId id="283" r:id="rId20"/>
    <p:sldId id="285" r:id="rId21"/>
    <p:sldId id="282" r:id="rId22"/>
    <p:sldId id="287" r:id="rId23"/>
    <p:sldId id="288" r:id="rId24"/>
    <p:sldId id="289" r:id="rId25"/>
    <p:sldId id="263" r:id="rId26"/>
    <p:sldId id="266" r:id="rId27"/>
    <p:sldId id="278" r:id="rId28"/>
    <p:sldId id="264" r:id="rId29"/>
    <p:sldId id="280" r:id="rId30"/>
    <p:sldId id="265" r:id="rId31"/>
    <p:sldId id="279" r:id="rId32"/>
    <p:sldId id="267" r:id="rId33"/>
    <p:sldId id="268" r:id="rId34"/>
    <p:sldId id="281" r:id="rId35"/>
    <p:sldId id="270" r:id="rId36"/>
    <p:sldId id="271" r:id="rId37"/>
    <p:sldId id="272" r:id="rId38"/>
    <p:sldId id="273" r:id="rId39"/>
    <p:sldId id="275" r:id="rId40"/>
    <p:sldId id="276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978CEDF-B184-4855-B32B-D6F3537BC494}">
          <p14:sldIdLst>
            <p14:sldId id="256"/>
            <p14:sldId id="260"/>
            <p14:sldId id="291"/>
            <p14:sldId id="292"/>
            <p14:sldId id="293"/>
            <p14:sldId id="290"/>
            <p14:sldId id="257"/>
            <p14:sldId id="258"/>
            <p14:sldId id="259"/>
            <p14:sldId id="269"/>
          </p14:sldIdLst>
        </p14:section>
        <p14:section name="HDC_状态机管理" id="{F0D732EB-064D-4463-B58B-AC23A6DE5FA2}">
          <p14:sldIdLst>
            <p14:sldId id="277"/>
            <p14:sldId id="261"/>
            <p14:sldId id="262"/>
            <p14:sldId id="286"/>
            <p14:sldId id="284"/>
            <p14:sldId id="283"/>
            <p14:sldId id="285"/>
            <p14:sldId id="282"/>
            <p14:sldId id="287"/>
            <p14:sldId id="288"/>
            <p14:sldId id="289"/>
            <p14:sldId id="263"/>
            <p14:sldId id="266"/>
            <p14:sldId id="278"/>
            <p14:sldId id="264"/>
            <p14:sldId id="280"/>
            <p14:sldId id="265"/>
            <p14:sldId id="279"/>
            <p14:sldId id="267"/>
            <p14:sldId id="268"/>
            <p14:sldId id="281"/>
            <p14:sldId id="270"/>
          </p14:sldIdLst>
        </p14:section>
        <p14:section name="坡度估计" id="{7927F38D-277C-434B-8B5D-45B86FD8ACDF}">
          <p14:sldIdLst>
            <p14:sldId id="271"/>
          </p14:sldIdLst>
        </p14:section>
        <p14:section name="HDC 速度控制" id="{39339AC5-07B8-495C-951E-48267027A7D9}">
          <p14:sldIdLst>
            <p14:sldId id="272"/>
          </p14:sldIdLst>
        </p14:section>
        <p14:section name="制动分配" id="{2E72E4DB-8B9E-4E7E-89A1-6512550A77FB}">
          <p14:sldIdLst>
            <p14:sldId id="273"/>
          </p14:sldIdLst>
        </p14:section>
        <p14:section name="Output" id="{F60124C6-5DB2-47BF-B198-587934A68D4B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240250-1D73-4C60-8D18-D0015A0B52E8}" v="806" dt="2026-01-26T08:26:26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 Kangrui GNG CDAY223" userId="605f26f0-21dc-4f70-9551-a95d6349359e" providerId="ADAL" clId="{DDB62759-9047-466A-BFE5-551C349BBA59}"/>
    <pc:docChg chg="undo custSel addSld modSld">
      <pc:chgData name="Li Kangrui GNG CDAY223" userId="605f26f0-21dc-4f70-9551-a95d6349359e" providerId="ADAL" clId="{DDB62759-9047-466A-BFE5-551C349BBA59}" dt="2024-11-04T09:02:42.765" v="3093" actId="20577"/>
      <pc:docMkLst>
        <pc:docMk/>
      </pc:docMkLst>
      <pc:sldChg chg="addSp delSp modSp new mod">
        <pc:chgData name="Li Kangrui GNG CDAY223" userId="605f26f0-21dc-4f70-9551-a95d6349359e" providerId="ADAL" clId="{DDB62759-9047-466A-BFE5-551C349BBA59}" dt="2024-11-04T07:57:00.842" v="2197" actId="21"/>
        <pc:sldMkLst>
          <pc:docMk/>
          <pc:sldMk cId="2350896169" sldId="256"/>
        </pc:sldMkLst>
      </pc:sldChg>
      <pc:sldChg chg="addSp delSp modSp add mod">
        <pc:chgData name="Li Kangrui GNG CDAY223" userId="605f26f0-21dc-4f70-9551-a95d6349359e" providerId="ADAL" clId="{DDB62759-9047-466A-BFE5-551C349BBA59}" dt="2024-10-15T06:12:13.475" v="1865" actId="1076"/>
        <pc:sldMkLst>
          <pc:docMk/>
          <pc:sldMk cId="234695658" sldId="257"/>
        </pc:sldMkLst>
      </pc:sldChg>
      <pc:sldChg chg="addSp delSp modSp new mod">
        <pc:chgData name="Li Kangrui GNG CDAY223" userId="605f26f0-21dc-4f70-9551-a95d6349359e" providerId="ADAL" clId="{DDB62759-9047-466A-BFE5-551C349BBA59}" dt="2024-11-04T09:02:42.765" v="3093" actId="20577"/>
        <pc:sldMkLst>
          <pc:docMk/>
          <pc:sldMk cId="3293750939" sldId="258"/>
        </pc:sldMkLst>
      </pc:sldChg>
      <pc:sldChg chg="addSp delSp modSp new mod">
        <pc:chgData name="Li Kangrui GNG CDAY223" userId="605f26f0-21dc-4f70-9551-a95d6349359e" providerId="ADAL" clId="{DDB62759-9047-466A-BFE5-551C349BBA59}" dt="2024-11-04T08:52:52.184" v="2830" actId="1076"/>
        <pc:sldMkLst>
          <pc:docMk/>
          <pc:sldMk cId="972982292" sldId="259"/>
        </pc:sldMkLst>
      </pc:sldChg>
    </pc:docChg>
  </pc:docChgLst>
  <pc:docChgLst>
    <pc:chgData name="Yang Zhen SGH CDAY223" userId="58c6818a-3577-4ae3-8238-bcb4cc81b368" providerId="ADAL" clId="{97C1D56C-83CC-4093-BED0-87185018C134}"/>
    <pc:docChg chg="custSel addSld modSld modSection">
      <pc:chgData name="Yang Zhen SGH CDAY223" userId="58c6818a-3577-4ae3-8238-bcb4cc81b368" providerId="ADAL" clId="{97C1D56C-83CC-4093-BED0-87185018C134}" dt="2026-01-06T03:18:03.425" v="286" actId="20577"/>
      <pc:docMkLst>
        <pc:docMk/>
      </pc:docMkLst>
      <pc:sldChg chg="addSp delSp modSp new mod">
        <pc:chgData name="Yang Zhen SGH CDAY223" userId="58c6818a-3577-4ae3-8238-bcb4cc81b368" providerId="ADAL" clId="{97C1D56C-83CC-4093-BED0-87185018C134}" dt="2026-01-06T03:01:46.138" v="127" actId="21"/>
        <pc:sldMkLst>
          <pc:docMk/>
          <pc:sldMk cId="3061189710" sldId="282"/>
        </pc:sldMkLst>
      </pc:sldChg>
      <pc:sldChg chg="addSp delSp modSp new mod">
        <pc:chgData name="Yang Zhen SGH CDAY223" userId="58c6818a-3577-4ae3-8238-bcb4cc81b368" providerId="ADAL" clId="{97C1D56C-83CC-4093-BED0-87185018C134}" dt="2025-12-23T05:21:00.850" v="111" actId="1076"/>
        <pc:sldMkLst>
          <pc:docMk/>
          <pc:sldMk cId="252336975" sldId="283"/>
        </pc:sldMkLst>
      </pc:sldChg>
      <pc:sldChg chg="addSp delSp modSp new mod">
        <pc:chgData name="Yang Zhen SGH CDAY223" userId="58c6818a-3577-4ae3-8238-bcb4cc81b368" providerId="ADAL" clId="{97C1D56C-83CC-4093-BED0-87185018C134}" dt="2025-12-23T05:08:58.938" v="31" actId="14100"/>
        <pc:sldMkLst>
          <pc:docMk/>
          <pc:sldMk cId="2736467653" sldId="284"/>
        </pc:sldMkLst>
      </pc:sldChg>
      <pc:sldChg chg="addSp delSp modSp add mod">
        <pc:chgData name="Yang Zhen SGH CDAY223" userId="58c6818a-3577-4ae3-8238-bcb4cc81b368" providerId="ADAL" clId="{97C1D56C-83CC-4093-BED0-87185018C134}" dt="2025-12-23T05:20:17.064" v="108" actId="1076"/>
        <pc:sldMkLst>
          <pc:docMk/>
          <pc:sldMk cId="2071804342" sldId="285"/>
        </pc:sldMkLst>
      </pc:sldChg>
      <pc:sldChg chg="addSp delSp modSp new mod">
        <pc:chgData name="Yang Zhen SGH CDAY223" userId="58c6818a-3577-4ae3-8238-bcb4cc81b368" providerId="ADAL" clId="{97C1D56C-83CC-4093-BED0-87185018C134}" dt="2025-12-23T05:22:27.226" v="123" actId="14100"/>
        <pc:sldMkLst>
          <pc:docMk/>
          <pc:sldMk cId="780166688" sldId="286"/>
        </pc:sldMkLst>
      </pc:sldChg>
      <pc:sldChg chg="addSp modSp new mod">
        <pc:chgData name="Yang Zhen SGH CDAY223" userId="58c6818a-3577-4ae3-8238-bcb4cc81b368" providerId="ADAL" clId="{97C1D56C-83CC-4093-BED0-87185018C134}" dt="2026-01-06T03:18:03.425" v="286" actId="20577"/>
        <pc:sldMkLst>
          <pc:docMk/>
          <pc:sldMk cId="2132797327" sldId="287"/>
        </pc:sldMkLst>
        <pc:spChg chg="add mod">
          <ac:chgData name="Yang Zhen SGH CDAY223" userId="58c6818a-3577-4ae3-8238-bcb4cc81b368" providerId="ADAL" clId="{97C1D56C-83CC-4093-BED0-87185018C134}" dt="2026-01-06T03:18:03.425" v="286" actId="20577"/>
          <ac:spMkLst>
            <pc:docMk/>
            <pc:sldMk cId="2132797327" sldId="287"/>
            <ac:spMk id="5" creationId="{8F40BD71-0541-54A7-E96E-5FB6C3154B47}"/>
          </ac:spMkLst>
        </pc:spChg>
        <pc:picChg chg="add mod">
          <ac:chgData name="Yang Zhen SGH CDAY223" userId="58c6818a-3577-4ae3-8238-bcb4cc81b368" providerId="ADAL" clId="{97C1D56C-83CC-4093-BED0-87185018C134}" dt="2026-01-06T03:02:58.887" v="184" actId="14100"/>
          <ac:picMkLst>
            <pc:docMk/>
            <pc:sldMk cId="2132797327" sldId="287"/>
            <ac:picMk id="4" creationId="{B06EBC15-3C47-9AF4-84E0-C169E9BCC19E}"/>
          </ac:picMkLst>
        </pc:picChg>
        <pc:picChg chg="add mod">
          <ac:chgData name="Yang Zhen SGH CDAY223" userId="58c6818a-3577-4ae3-8238-bcb4cc81b368" providerId="ADAL" clId="{97C1D56C-83CC-4093-BED0-87185018C134}" dt="2026-01-06T03:03:00.175" v="185" actId="1076"/>
          <ac:picMkLst>
            <pc:docMk/>
            <pc:sldMk cId="2132797327" sldId="287"/>
            <ac:picMk id="7" creationId="{A0A53A77-4228-7795-D40B-2501CA6BDAA6}"/>
          </ac:picMkLst>
        </pc:picChg>
      </pc:sldChg>
    </pc:docChg>
  </pc:docChgLst>
  <pc:docChgLst>
    <pc:chgData name="Yang Zhen SGH CDAY223" userId="58c6818a-3577-4ae3-8238-bcb4cc81b368" providerId="ADAL" clId="{963127D6-7245-4436-B55C-BE5360097B0F}"/>
    <pc:docChg chg="custSel addSld modSld sldOrd modSection">
      <pc:chgData name="Yang Zhen SGH CDAY223" userId="58c6818a-3577-4ae3-8238-bcb4cc81b368" providerId="ADAL" clId="{963127D6-7245-4436-B55C-BE5360097B0F}" dt="2025-10-30T02:29:35.712" v="46" actId="14100"/>
      <pc:docMkLst>
        <pc:docMk/>
      </pc:docMkLst>
      <pc:sldChg chg="modSp">
        <pc:chgData name="Yang Zhen SGH CDAY223" userId="58c6818a-3577-4ae3-8238-bcb4cc81b368" providerId="ADAL" clId="{963127D6-7245-4436-B55C-BE5360097B0F}" dt="2025-10-27T05:57:02.123" v="0" actId="20578"/>
        <pc:sldMkLst>
          <pc:docMk/>
          <pc:sldMk cId="3284382893" sldId="261"/>
        </pc:sldMkLst>
      </pc:sldChg>
      <pc:sldChg chg="delSp new mod ord">
        <pc:chgData name="Yang Zhen SGH CDAY223" userId="58c6818a-3577-4ae3-8238-bcb4cc81b368" providerId="ADAL" clId="{963127D6-7245-4436-B55C-BE5360097B0F}" dt="2025-10-27T06:21:22.606" v="4"/>
        <pc:sldMkLst>
          <pc:docMk/>
          <pc:sldMk cId="2609850541" sldId="277"/>
        </pc:sldMkLst>
      </pc:sldChg>
      <pc:sldChg chg="addSp delSp modSp new mod ord">
        <pc:chgData name="Yang Zhen SGH CDAY223" userId="58c6818a-3577-4ae3-8238-bcb4cc81b368" providerId="ADAL" clId="{963127D6-7245-4436-B55C-BE5360097B0F}" dt="2025-10-29T09:30:55.687" v="12"/>
        <pc:sldMkLst>
          <pc:docMk/>
          <pc:sldMk cId="315327267" sldId="278"/>
        </pc:sldMkLst>
      </pc:sldChg>
      <pc:sldChg chg="addSp delSp modSp new mod ord">
        <pc:chgData name="Yang Zhen SGH CDAY223" userId="58c6818a-3577-4ae3-8238-bcb4cc81b368" providerId="ADAL" clId="{963127D6-7245-4436-B55C-BE5360097B0F}" dt="2025-10-30T02:29:17.567" v="42" actId="14100"/>
        <pc:sldMkLst>
          <pc:docMk/>
          <pc:sldMk cId="1555662356" sldId="279"/>
        </pc:sldMkLst>
      </pc:sldChg>
      <pc:sldChg chg="addSp delSp modSp new mod">
        <pc:chgData name="Yang Zhen SGH CDAY223" userId="58c6818a-3577-4ae3-8238-bcb4cc81b368" providerId="ADAL" clId="{963127D6-7245-4436-B55C-BE5360097B0F}" dt="2025-10-30T02:28:53.858" v="38" actId="1076"/>
        <pc:sldMkLst>
          <pc:docMk/>
          <pc:sldMk cId="324961032" sldId="280"/>
        </pc:sldMkLst>
      </pc:sldChg>
      <pc:sldChg chg="addSp delSp modSp new mod">
        <pc:chgData name="Yang Zhen SGH CDAY223" userId="58c6818a-3577-4ae3-8238-bcb4cc81b368" providerId="ADAL" clId="{963127D6-7245-4436-B55C-BE5360097B0F}" dt="2025-10-30T02:29:35.712" v="46" actId="14100"/>
        <pc:sldMkLst>
          <pc:docMk/>
          <pc:sldMk cId="944043205" sldId="281"/>
        </pc:sldMkLst>
      </pc:sldChg>
    </pc:docChg>
  </pc:docChgLst>
  <pc:docChgLst>
    <pc:chgData name="Yang Zhen SGH CDAY223" userId="58c6818a-3577-4ae3-8238-bcb4cc81b368" providerId="ADAL" clId="{BEBCD458-1472-443B-8616-221ED4FCAD17}"/>
    <pc:docChg chg="modSld">
      <pc:chgData name="Yang Zhen SGH CDAY223" userId="58c6818a-3577-4ae3-8238-bcb4cc81b368" providerId="ADAL" clId="{BEBCD458-1472-443B-8616-221ED4FCAD17}" dt="2026-01-28T07:55:44.206" v="26" actId="20577"/>
      <pc:docMkLst>
        <pc:docMk/>
      </pc:docMkLst>
      <pc:sldChg chg="modSp mod">
        <pc:chgData name="Yang Zhen SGH CDAY223" userId="58c6818a-3577-4ae3-8238-bcb4cc81b368" providerId="ADAL" clId="{BEBCD458-1472-443B-8616-221ED4FCAD17}" dt="2026-01-28T07:55:44.206" v="26" actId="20577"/>
        <pc:sldMkLst>
          <pc:docMk/>
          <pc:sldMk cId="2350896169" sldId="256"/>
        </pc:sldMkLst>
        <pc:spChg chg="mod">
          <ac:chgData name="Yang Zhen SGH CDAY223" userId="58c6818a-3577-4ae3-8238-bcb4cc81b368" providerId="ADAL" clId="{BEBCD458-1472-443B-8616-221ED4FCAD17}" dt="2026-01-28T07:55:44.206" v="26" actId="20577"/>
          <ac:spMkLst>
            <pc:docMk/>
            <pc:sldMk cId="2350896169" sldId="256"/>
            <ac:spMk id="22" creationId="{8BB93079-EA3C-B058-EDF2-2729CB7942B6}"/>
          </ac:spMkLst>
        </pc:spChg>
      </pc:sldChg>
    </pc:docChg>
  </pc:docChgLst>
  <pc:docChgLst>
    <pc:chgData name="Yang Zhen SGH CDAY223" userId="58c6818a-3577-4ae3-8238-bcb4cc81b368" providerId="ADAL" clId="{21240250-1D73-4C60-8D18-D0015A0B52E8}"/>
    <pc:docChg chg="custSel addSld modSld modSection">
      <pc:chgData name="Yang Zhen SGH CDAY223" userId="58c6818a-3577-4ae3-8238-bcb4cc81b368" providerId="ADAL" clId="{21240250-1D73-4C60-8D18-D0015A0B52E8}" dt="2026-01-26T08:26:26.699" v="1283" actId="1076"/>
      <pc:docMkLst>
        <pc:docMk/>
      </pc:docMkLst>
      <pc:sldChg chg="addSp modSp mod">
        <pc:chgData name="Yang Zhen SGH CDAY223" userId="58c6818a-3577-4ae3-8238-bcb4cc81b368" providerId="ADAL" clId="{21240250-1D73-4C60-8D18-D0015A0B52E8}" dt="2026-01-26T08:26:26.699" v="1283" actId="1076"/>
        <pc:sldMkLst>
          <pc:docMk/>
          <pc:sldMk cId="2350896169" sldId="256"/>
        </pc:sldMkLst>
        <pc:spChg chg="add mod">
          <ac:chgData name="Yang Zhen SGH CDAY223" userId="58c6818a-3577-4ae3-8238-bcb4cc81b368" providerId="ADAL" clId="{21240250-1D73-4C60-8D18-D0015A0B52E8}" dt="2026-01-26T05:34:44.836" v="488" actId="1076"/>
          <ac:spMkLst>
            <pc:docMk/>
            <pc:sldMk cId="2350896169" sldId="256"/>
            <ac:spMk id="3" creationId="{CCE129CF-8F64-A49F-E0E7-7D68F29976D3}"/>
          </ac:spMkLst>
        </pc:spChg>
        <pc:spChg chg="mod">
          <ac:chgData name="Yang Zhen SGH CDAY223" userId="58c6818a-3577-4ae3-8238-bcb4cc81b368" providerId="ADAL" clId="{21240250-1D73-4C60-8D18-D0015A0B52E8}" dt="2026-01-26T06:25:29.744" v="513" actId="20577"/>
          <ac:spMkLst>
            <pc:docMk/>
            <pc:sldMk cId="2350896169" sldId="256"/>
            <ac:spMk id="11" creationId="{F2DD0840-E6B6-5358-C225-0600F2C71AF0}"/>
          </ac:spMkLst>
        </pc:spChg>
        <pc:spChg chg="add mod">
          <ac:chgData name="Yang Zhen SGH CDAY223" userId="58c6818a-3577-4ae3-8238-bcb4cc81b368" providerId="ADAL" clId="{21240250-1D73-4C60-8D18-D0015A0B52E8}" dt="2026-01-26T08:23:14.376" v="1253" actId="571"/>
          <ac:spMkLst>
            <pc:docMk/>
            <pc:sldMk cId="2350896169" sldId="256"/>
            <ac:spMk id="14" creationId="{EF6F2AF2-8AB3-D915-BDB8-BA7CF49DD30E}"/>
          </ac:spMkLst>
        </pc:spChg>
        <pc:spChg chg="add mod">
          <ac:chgData name="Yang Zhen SGH CDAY223" userId="58c6818a-3577-4ae3-8238-bcb4cc81b368" providerId="ADAL" clId="{21240250-1D73-4C60-8D18-D0015A0B52E8}" dt="2026-01-26T08:25:47.501" v="1274" actId="1076"/>
          <ac:spMkLst>
            <pc:docMk/>
            <pc:sldMk cId="2350896169" sldId="256"/>
            <ac:spMk id="22" creationId="{8BB93079-EA3C-B058-EDF2-2729CB7942B6}"/>
          </ac:spMkLst>
        </pc:spChg>
        <pc:spChg chg="mod">
          <ac:chgData name="Yang Zhen SGH CDAY223" userId="58c6818a-3577-4ae3-8238-bcb4cc81b368" providerId="ADAL" clId="{21240250-1D73-4C60-8D18-D0015A0B52E8}" dt="2026-01-26T06:21:52.661" v="504" actId="1076"/>
          <ac:spMkLst>
            <pc:docMk/>
            <pc:sldMk cId="2350896169" sldId="256"/>
            <ac:spMk id="23" creationId="{93FA47C2-F0F7-E581-EC3C-073FE9A18D7B}"/>
          </ac:spMkLst>
        </pc:spChg>
        <pc:picChg chg="add mod">
          <ac:chgData name="Yang Zhen SGH CDAY223" userId="58c6818a-3577-4ae3-8238-bcb4cc81b368" providerId="ADAL" clId="{21240250-1D73-4C60-8D18-D0015A0B52E8}" dt="2026-01-26T08:23:56.695" v="1260" actId="1076"/>
          <ac:picMkLst>
            <pc:docMk/>
            <pc:sldMk cId="2350896169" sldId="256"/>
            <ac:picMk id="20" creationId="{99872757-2253-B331-A84E-154C33257A7A}"/>
          </ac:picMkLst>
        </pc:picChg>
        <pc:picChg chg="add mod">
          <ac:chgData name="Yang Zhen SGH CDAY223" userId="58c6818a-3577-4ae3-8238-bcb4cc81b368" providerId="ADAL" clId="{21240250-1D73-4C60-8D18-D0015A0B52E8}" dt="2026-01-26T08:26:26.699" v="1283" actId="1076"/>
          <ac:picMkLst>
            <pc:docMk/>
            <pc:sldMk cId="2350896169" sldId="256"/>
            <ac:picMk id="33" creationId="{41AD086A-D836-A896-8448-75B4B86A374E}"/>
          </ac:picMkLst>
        </pc:picChg>
        <pc:cxnChg chg="add mod">
          <ac:chgData name="Yang Zhen SGH CDAY223" userId="58c6818a-3577-4ae3-8238-bcb4cc81b368" providerId="ADAL" clId="{21240250-1D73-4C60-8D18-D0015A0B52E8}" dt="2026-01-26T08:23:28.044" v="1256" actId="14100"/>
          <ac:cxnSpMkLst>
            <pc:docMk/>
            <pc:sldMk cId="2350896169" sldId="256"/>
            <ac:cxnSpMk id="15" creationId="{B0C69549-994A-F1D0-1D3D-96D842F45AE0}"/>
          </ac:cxnSpMkLst>
        </pc:cxnChg>
        <pc:cxnChg chg="add mod">
          <ac:chgData name="Yang Zhen SGH CDAY223" userId="58c6818a-3577-4ae3-8238-bcb4cc81b368" providerId="ADAL" clId="{21240250-1D73-4C60-8D18-D0015A0B52E8}" dt="2026-01-26T08:25:57.450" v="1277" actId="14100"/>
          <ac:cxnSpMkLst>
            <pc:docMk/>
            <pc:sldMk cId="2350896169" sldId="256"/>
            <ac:cxnSpMk id="24" creationId="{262AFD3B-F3A8-BCA3-2AFE-BDF8C6269FE7}"/>
          </ac:cxnSpMkLst>
        </pc:cxnChg>
      </pc:sldChg>
      <pc:sldChg chg="addSp modSp mod">
        <pc:chgData name="Yang Zhen SGH CDAY223" userId="58c6818a-3577-4ae3-8238-bcb4cc81b368" providerId="ADAL" clId="{21240250-1D73-4C60-8D18-D0015A0B52E8}" dt="2026-01-26T05:36:12.421" v="496" actId="20577"/>
        <pc:sldMkLst>
          <pc:docMk/>
          <pc:sldMk cId="3293750939" sldId="258"/>
        </pc:sldMkLst>
        <pc:spChg chg="add mod">
          <ac:chgData name="Yang Zhen SGH CDAY223" userId="58c6818a-3577-4ae3-8238-bcb4cc81b368" providerId="ADAL" clId="{21240250-1D73-4C60-8D18-D0015A0B52E8}" dt="2026-01-26T05:36:12.421" v="496" actId="20577"/>
          <ac:spMkLst>
            <pc:docMk/>
            <pc:sldMk cId="3293750939" sldId="258"/>
            <ac:spMk id="3" creationId="{047C624B-36C9-99D3-5D96-3D4DF44319A9}"/>
          </ac:spMkLst>
        </pc:spChg>
      </pc:sldChg>
      <pc:sldChg chg="addSp modSp mod">
        <pc:chgData name="Yang Zhen SGH CDAY223" userId="58c6818a-3577-4ae3-8238-bcb4cc81b368" providerId="ADAL" clId="{21240250-1D73-4C60-8D18-D0015A0B52E8}" dt="2026-01-26T07:16:37.142" v="769" actId="20577"/>
        <pc:sldMkLst>
          <pc:docMk/>
          <pc:sldMk cId="3008384688" sldId="260"/>
        </pc:sldMkLst>
        <pc:spChg chg="add mod ord">
          <ac:chgData name="Yang Zhen SGH CDAY223" userId="58c6818a-3577-4ae3-8238-bcb4cc81b368" providerId="ADAL" clId="{21240250-1D73-4C60-8D18-D0015A0B52E8}" dt="2026-01-26T07:16:37.142" v="769" actId="20577"/>
          <ac:spMkLst>
            <pc:docMk/>
            <pc:sldMk cId="3008384688" sldId="260"/>
            <ac:spMk id="2" creationId="{AAECDCC0-9251-6185-BBFD-A0B98B6031CB}"/>
          </ac:spMkLst>
        </pc:spChg>
        <pc:spChg chg="add mod">
          <ac:chgData name="Yang Zhen SGH CDAY223" userId="58c6818a-3577-4ae3-8238-bcb4cc81b368" providerId="ADAL" clId="{21240250-1D73-4C60-8D18-D0015A0B52E8}" dt="2026-01-26T06:35:35.888" v="629" actId="14100"/>
          <ac:spMkLst>
            <pc:docMk/>
            <pc:sldMk cId="3008384688" sldId="260"/>
            <ac:spMk id="3" creationId="{6A09228C-6B2D-EDFA-7A4E-71CEF9ADF480}"/>
          </ac:spMkLst>
        </pc:spChg>
        <pc:spChg chg="add mod">
          <ac:chgData name="Yang Zhen SGH CDAY223" userId="58c6818a-3577-4ae3-8238-bcb4cc81b368" providerId="ADAL" clId="{21240250-1D73-4C60-8D18-D0015A0B52E8}" dt="2026-01-26T06:36:03.126" v="635" actId="20577"/>
          <ac:spMkLst>
            <pc:docMk/>
            <pc:sldMk cId="3008384688" sldId="260"/>
            <ac:spMk id="5" creationId="{156DD227-F8AF-3BA8-550E-78C583F25DD2}"/>
          </ac:spMkLst>
        </pc:spChg>
        <pc:spChg chg="add mod">
          <ac:chgData name="Yang Zhen SGH CDAY223" userId="58c6818a-3577-4ae3-8238-bcb4cc81b368" providerId="ADAL" clId="{21240250-1D73-4C60-8D18-D0015A0B52E8}" dt="2026-01-26T06:35:54.889" v="632" actId="571"/>
          <ac:spMkLst>
            <pc:docMk/>
            <pc:sldMk cId="3008384688" sldId="260"/>
            <ac:spMk id="6" creationId="{D1A3D7A6-A9D5-E04C-F442-70C5A0AB3F16}"/>
          </ac:spMkLst>
        </pc:spChg>
        <pc:spChg chg="add mod">
          <ac:chgData name="Yang Zhen SGH CDAY223" userId="58c6818a-3577-4ae3-8238-bcb4cc81b368" providerId="ADAL" clId="{21240250-1D73-4C60-8D18-D0015A0B52E8}" dt="2026-01-26T06:45:38.657" v="708"/>
          <ac:spMkLst>
            <pc:docMk/>
            <pc:sldMk cId="3008384688" sldId="260"/>
            <ac:spMk id="7" creationId="{5FDFB000-8818-28F0-E390-965751FB42F9}"/>
          </ac:spMkLst>
        </pc:spChg>
        <pc:spChg chg="add mod">
          <ac:chgData name="Yang Zhen SGH CDAY223" userId="58c6818a-3577-4ae3-8238-bcb4cc81b368" providerId="ADAL" clId="{21240250-1D73-4C60-8D18-D0015A0B52E8}" dt="2026-01-26T06:46:05.256" v="710" actId="571"/>
          <ac:spMkLst>
            <pc:docMk/>
            <pc:sldMk cId="3008384688" sldId="260"/>
            <ac:spMk id="12" creationId="{498B5715-7786-BCEB-B22F-1BC17ADD1493}"/>
          </ac:spMkLst>
        </pc:spChg>
        <pc:spChg chg="add mod">
          <ac:chgData name="Yang Zhen SGH CDAY223" userId="58c6818a-3577-4ae3-8238-bcb4cc81b368" providerId="ADAL" clId="{21240250-1D73-4C60-8D18-D0015A0B52E8}" dt="2026-01-26T06:48:45.910" v="746"/>
          <ac:spMkLst>
            <pc:docMk/>
            <pc:sldMk cId="3008384688" sldId="260"/>
            <ac:spMk id="13" creationId="{4CC18454-E238-6EE3-74FD-F8960584F275}"/>
          </ac:spMkLst>
        </pc:spChg>
        <pc:picChg chg="add mod">
          <ac:chgData name="Yang Zhen SGH CDAY223" userId="58c6818a-3577-4ae3-8238-bcb4cc81b368" providerId="ADAL" clId="{21240250-1D73-4C60-8D18-D0015A0B52E8}" dt="2026-01-26T06:37:15.504" v="644" actId="1076"/>
          <ac:picMkLst>
            <pc:docMk/>
            <pc:sldMk cId="3008384688" sldId="260"/>
            <ac:picMk id="9" creationId="{744B889B-EC3B-1CB9-DF7D-776717EF6568}"/>
          </ac:picMkLst>
        </pc:picChg>
        <pc:picChg chg="add mod">
          <ac:chgData name="Yang Zhen SGH CDAY223" userId="58c6818a-3577-4ae3-8238-bcb4cc81b368" providerId="ADAL" clId="{21240250-1D73-4C60-8D18-D0015A0B52E8}" dt="2026-01-26T06:48:19.540" v="718" actId="1076"/>
          <ac:picMkLst>
            <pc:docMk/>
            <pc:sldMk cId="3008384688" sldId="260"/>
            <ac:picMk id="15" creationId="{A9B13CC2-29B3-DF41-8631-F748F0BA9D5D}"/>
          </ac:picMkLst>
        </pc:picChg>
        <pc:cxnChg chg="add">
          <ac:chgData name="Yang Zhen SGH CDAY223" userId="58c6818a-3577-4ae3-8238-bcb4cc81b368" providerId="ADAL" clId="{21240250-1D73-4C60-8D18-D0015A0B52E8}" dt="2026-01-26T06:45:49.408" v="709" actId="11529"/>
          <ac:cxnSpMkLst>
            <pc:docMk/>
            <pc:sldMk cId="3008384688" sldId="260"/>
            <ac:cxnSpMk id="11" creationId="{67F7C46D-15AC-EAFE-98F7-2A878E9847E6}"/>
          </ac:cxnSpMkLst>
        </pc:cxnChg>
      </pc:sldChg>
      <pc:sldChg chg="modSp mod">
        <pc:chgData name="Yang Zhen SGH CDAY223" userId="58c6818a-3577-4ae3-8238-bcb4cc81b368" providerId="ADAL" clId="{21240250-1D73-4C60-8D18-D0015A0B52E8}" dt="2026-01-23T05:45:32.095" v="106"/>
        <pc:sldMkLst>
          <pc:docMk/>
          <pc:sldMk cId="3478946152" sldId="262"/>
        </pc:sldMkLst>
        <pc:spChg chg="mod">
          <ac:chgData name="Yang Zhen SGH CDAY223" userId="58c6818a-3577-4ae3-8238-bcb4cc81b368" providerId="ADAL" clId="{21240250-1D73-4C60-8D18-D0015A0B52E8}" dt="2026-01-23T05:45:32.095" v="106"/>
          <ac:spMkLst>
            <pc:docMk/>
            <pc:sldMk cId="3478946152" sldId="262"/>
            <ac:spMk id="5" creationId="{60235621-EE24-468C-59C6-213E1C01A883}"/>
          </ac:spMkLst>
        </pc:spChg>
        <pc:spChg chg="mod">
          <ac:chgData name="Yang Zhen SGH CDAY223" userId="58c6818a-3577-4ae3-8238-bcb4cc81b368" providerId="ADAL" clId="{21240250-1D73-4C60-8D18-D0015A0B52E8}" dt="2026-01-23T05:45:19.638" v="88"/>
          <ac:spMkLst>
            <pc:docMk/>
            <pc:sldMk cId="3478946152" sldId="262"/>
            <ac:spMk id="13" creationId="{D1309A32-C598-B548-EA08-DD3993178AA4}"/>
          </ac:spMkLst>
        </pc:spChg>
      </pc:sldChg>
      <pc:sldChg chg="modSp mod">
        <pc:chgData name="Yang Zhen SGH CDAY223" userId="58c6818a-3577-4ae3-8238-bcb4cc81b368" providerId="ADAL" clId="{21240250-1D73-4C60-8D18-D0015A0B52E8}" dt="2026-01-23T06:22:33.511" v="109" actId="1076"/>
        <pc:sldMkLst>
          <pc:docMk/>
          <pc:sldMk cId="3061189710" sldId="282"/>
        </pc:sldMkLst>
        <pc:picChg chg="mod">
          <ac:chgData name="Yang Zhen SGH CDAY223" userId="58c6818a-3577-4ae3-8238-bcb4cc81b368" providerId="ADAL" clId="{21240250-1D73-4C60-8D18-D0015A0B52E8}" dt="2026-01-23T06:22:33.511" v="109" actId="1076"/>
          <ac:picMkLst>
            <pc:docMk/>
            <pc:sldMk cId="3061189710" sldId="282"/>
            <ac:picMk id="5" creationId="{88587C13-8FC8-EFEF-8297-6494F7F76C51}"/>
          </ac:picMkLst>
        </pc:picChg>
      </pc:sldChg>
      <pc:sldChg chg="modSp mod">
        <pc:chgData name="Yang Zhen SGH CDAY223" userId="58c6818a-3577-4ae3-8238-bcb4cc81b368" providerId="ADAL" clId="{21240250-1D73-4C60-8D18-D0015A0B52E8}" dt="2026-01-23T02:05:20.495" v="0" actId="1036"/>
        <pc:sldMkLst>
          <pc:docMk/>
          <pc:sldMk cId="2071804342" sldId="285"/>
        </pc:sldMkLst>
        <pc:picChg chg="mod">
          <ac:chgData name="Yang Zhen SGH CDAY223" userId="58c6818a-3577-4ae3-8238-bcb4cc81b368" providerId="ADAL" clId="{21240250-1D73-4C60-8D18-D0015A0B52E8}" dt="2026-01-23T02:05:20.495" v="0" actId="1036"/>
          <ac:picMkLst>
            <pc:docMk/>
            <pc:sldMk cId="2071804342" sldId="285"/>
            <ac:picMk id="6" creationId="{3316AC2E-A9F6-CB19-BA1E-2D7B2F6391DC}"/>
          </ac:picMkLst>
        </pc:picChg>
      </pc:sldChg>
      <pc:sldChg chg="addSp delSp modSp new mod">
        <pc:chgData name="Yang Zhen SGH CDAY223" userId="58c6818a-3577-4ae3-8238-bcb4cc81b368" providerId="ADAL" clId="{21240250-1D73-4C60-8D18-D0015A0B52E8}" dt="2026-01-23T07:28:16.570" v="476"/>
        <pc:sldMkLst>
          <pc:docMk/>
          <pc:sldMk cId="2576354113" sldId="288"/>
        </pc:sldMkLst>
        <pc:spChg chg="add mod">
          <ac:chgData name="Yang Zhen SGH CDAY223" userId="58c6818a-3577-4ae3-8238-bcb4cc81b368" providerId="ADAL" clId="{21240250-1D73-4C60-8D18-D0015A0B52E8}" dt="2026-01-23T07:28:16.570" v="476"/>
          <ac:spMkLst>
            <pc:docMk/>
            <pc:sldMk cId="2576354113" sldId="288"/>
            <ac:spMk id="6" creationId="{5061F541-363E-27A9-802D-21B85C58CAC5}"/>
          </ac:spMkLst>
        </pc:spChg>
        <pc:picChg chg="add mod">
          <ac:chgData name="Yang Zhen SGH CDAY223" userId="58c6818a-3577-4ae3-8238-bcb4cc81b368" providerId="ADAL" clId="{21240250-1D73-4C60-8D18-D0015A0B52E8}" dt="2026-01-23T07:22:06.311" v="113" actId="1076"/>
          <ac:picMkLst>
            <pc:docMk/>
            <pc:sldMk cId="2576354113" sldId="288"/>
            <ac:picMk id="5" creationId="{D6DA9BE5-42EE-2D32-76D0-5B9B5BF7BA87}"/>
          </ac:picMkLst>
        </pc:picChg>
      </pc:sldChg>
      <pc:sldChg chg="addSp delSp modSp new mod">
        <pc:chgData name="Yang Zhen SGH CDAY223" userId="58c6818a-3577-4ae3-8238-bcb4cc81b368" providerId="ADAL" clId="{21240250-1D73-4C60-8D18-D0015A0B52E8}" dt="2026-01-26T03:25:18.655" v="481" actId="14100"/>
        <pc:sldMkLst>
          <pc:docMk/>
          <pc:sldMk cId="621592913" sldId="289"/>
        </pc:sldMkLst>
        <pc:picChg chg="add mod">
          <ac:chgData name="Yang Zhen SGH CDAY223" userId="58c6818a-3577-4ae3-8238-bcb4cc81b368" providerId="ADAL" clId="{21240250-1D73-4C60-8D18-D0015A0B52E8}" dt="2026-01-26T03:25:18.655" v="481" actId="14100"/>
          <ac:picMkLst>
            <pc:docMk/>
            <pc:sldMk cId="621592913" sldId="289"/>
            <ac:picMk id="5" creationId="{E48BF4F7-D086-6D13-EA25-EFF16AD515EC}"/>
          </ac:picMkLst>
        </pc:picChg>
      </pc:sldChg>
      <pc:sldChg chg="addSp delSp modSp new mod">
        <pc:chgData name="Yang Zhen SGH CDAY223" userId="58c6818a-3577-4ae3-8238-bcb4cc81b368" providerId="ADAL" clId="{21240250-1D73-4C60-8D18-D0015A0B52E8}" dt="2026-01-26T08:10:42.678" v="1252" actId="1076"/>
        <pc:sldMkLst>
          <pc:docMk/>
          <pc:sldMk cId="1189222002" sldId="290"/>
        </pc:sldMkLst>
        <pc:picChg chg="add mod">
          <ac:chgData name="Yang Zhen SGH CDAY223" userId="58c6818a-3577-4ae3-8238-bcb4cc81b368" providerId="ADAL" clId="{21240250-1D73-4C60-8D18-D0015A0B52E8}" dt="2026-01-26T08:10:42.678" v="1252" actId="1076"/>
          <ac:picMkLst>
            <pc:docMk/>
            <pc:sldMk cId="1189222002" sldId="290"/>
            <ac:picMk id="5" creationId="{FDDDACC7-A473-ACE5-E519-83D1D733FA9F}"/>
          </ac:picMkLst>
        </pc:picChg>
      </pc:sldChg>
      <pc:sldChg chg="addSp delSp modSp add mod">
        <pc:chgData name="Yang Zhen SGH CDAY223" userId="58c6818a-3577-4ae3-8238-bcb4cc81b368" providerId="ADAL" clId="{21240250-1D73-4C60-8D18-D0015A0B52E8}" dt="2026-01-26T07:30:36.796" v="1070"/>
        <pc:sldMkLst>
          <pc:docMk/>
          <pc:sldMk cId="1151639171" sldId="291"/>
        </pc:sldMkLst>
        <pc:spChg chg="mod">
          <ac:chgData name="Yang Zhen SGH CDAY223" userId="58c6818a-3577-4ae3-8238-bcb4cc81b368" providerId="ADAL" clId="{21240250-1D73-4C60-8D18-D0015A0B52E8}" dt="2026-01-26T07:16:59.758" v="774" actId="1076"/>
          <ac:spMkLst>
            <pc:docMk/>
            <pc:sldMk cId="1151639171" sldId="291"/>
            <ac:spMk id="2" creationId="{97FF1EA8-CD54-B177-F5F3-9F8AF43A3C02}"/>
          </ac:spMkLst>
        </pc:spChg>
        <pc:spChg chg="mod">
          <ac:chgData name="Yang Zhen SGH CDAY223" userId="58c6818a-3577-4ae3-8238-bcb4cc81b368" providerId="ADAL" clId="{21240250-1D73-4C60-8D18-D0015A0B52E8}" dt="2026-01-26T07:17:04.596" v="775" actId="14100"/>
          <ac:spMkLst>
            <pc:docMk/>
            <pc:sldMk cId="1151639171" sldId="291"/>
            <ac:spMk id="3" creationId="{42F30167-EE3E-1538-8927-1547DAC91181}"/>
          </ac:spMkLst>
        </pc:spChg>
        <pc:spChg chg="mod">
          <ac:chgData name="Yang Zhen SGH CDAY223" userId="58c6818a-3577-4ae3-8238-bcb4cc81b368" providerId="ADAL" clId="{21240250-1D73-4C60-8D18-D0015A0B52E8}" dt="2026-01-26T07:30:36.796" v="1070"/>
          <ac:spMkLst>
            <pc:docMk/>
            <pc:sldMk cId="1151639171" sldId="291"/>
            <ac:spMk id="5" creationId="{C30CB691-82FA-E9AB-0C8A-EF5CEF190839}"/>
          </ac:spMkLst>
        </pc:spChg>
        <pc:picChg chg="add mod">
          <ac:chgData name="Yang Zhen SGH CDAY223" userId="58c6818a-3577-4ae3-8238-bcb4cc81b368" providerId="ADAL" clId="{21240250-1D73-4C60-8D18-D0015A0B52E8}" dt="2026-01-26T07:30:15.329" v="1033" actId="1076"/>
          <ac:picMkLst>
            <pc:docMk/>
            <pc:sldMk cId="1151639171" sldId="291"/>
            <ac:picMk id="8" creationId="{056F76C1-6CEF-AB5C-2192-246AFC42BBD9}"/>
          </ac:picMkLst>
        </pc:picChg>
      </pc:sldChg>
      <pc:sldChg chg="delSp modSp add mod">
        <pc:chgData name="Yang Zhen SGH CDAY223" userId="58c6818a-3577-4ae3-8238-bcb4cc81b368" providerId="ADAL" clId="{21240250-1D73-4C60-8D18-D0015A0B52E8}" dt="2026-01-26T07:34:45.576" v="1194"/>
        <pc:sldMkLst>
          <pc:docMk/>
          <pc:sldMk cId="2710563515" sldId="292"/>
        </pc:sldMkLst>
        <pc:spChg chg="mod">
          <ac:chgData name="Yang Zhen SGH CDAY223" userId="58c6818a-3577-4ae3-8238-bcb4cc81b368" providerId="ADAL" clId="{21240250-1D73-4C60-8D18-D0015A0B52E8}" dt="2026-01-26T07:32:23.821" v="1089" actId="20577"/>
          <ac:spMkLst>
            <pc:docMk/>
            <pc:sldMk cId="2710563515" sldId="292"/>
            <ac:spMk id="2" creationId="{7F47D058-1440-4C54-3A3D-B590E85BE512}"/>
          </ac:spMkLst>
        </pc:spChg>
        <pc:spChg chg="mod">
          <ac:chgData name="Yang Zhen SGH CDAY223" userId="58c6818a-3577-4ae3-8238-bcb4cc81b368" providerId="ADAL" clId="{21240250-1D73-4C60-8D18-D0015A0B52E8}" dt="2026-01-26T07:34:45.576" v="1194"/>
          <ac:spMkLst>
            <pc:docMk/>
            <pc:sldMk cId="2710563515" sldId="292"/>
            <ac:spMk id="5" creationId="{F1EC368B-E596-9AE6-775B-A8DCD4A6A9F7}"/>
          </ac:spMkLst>
        </pc:spChg>
      </pc:sldChg>
      <pc:sldChg chg="modSp add mod">
        <pc:chgData name="Yang Zhen SGH CDAY223" userId="58c6818a-3577-4ae3-8238-bcb4cc81b368" providerId="ADAL" clId="{21240250-1D73-4C60-8D18-D0015A0B52E8}" dt="2026-01-26T07:41:25.408" v="1247" actId="20577"/>
        <pc:sldMkLst>
          <pc:docMk/>
          <pc:sldMk cId="1869107188" sldId="293"/>
        </pc:sldMkLst>
        <pc:spChg chg="mod">
          <ac:chgData name="Yang Zhen SGH CDAY223" userId="58c6818a-3577-4ae3-8238-bcb4cc81b368" providerId="ADAL" clId="{21240250-1D73-4C60-8D18-D0015A0B52E8}" dt="2026-01-26T07:39:01.849" v="1222" actId="20577"/>
          <ac:spMkLst>
            <pc:docMk/>
            <pc:sldMk cId="1869107188" sldId="293"/>
            <ac:spMk id="2" creationId="{33095D78-3EE5-759F-4ABC-8613163E520B}"/>
          </ac:spMkLst>
        </pc:spChg>
        <pc:spChg chg="mod">
          <ac:chgData name="Yang Zhen SGH CDAY223" userId="58c6818a-3577-4ae3-8238-bcb4cc81b368" providerId="ADAL" clId="{21240250-1D73-4C60-8D18-D0015A0B52E8}" dt="2026-01-26T07:41:25.408" v="1247" actId="20577"/>
          <ac:spMkLst>
            <pc:docMk/>
            <pc:sldMk cId="1869107188" sldId="293"/>
            <ac:spMk id="5" creationId="{6F44F6FE-7761-C393-7306-15FC3BE5B6F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062E-E87A-8515-99C0-F6DA8B591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9A5BF-B745-D418-59F0-A308C78ED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15F3B-233F-6759-5DA4-C64217AA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870A-B602-4801-A33C-B607E2F5C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C803F-0056-FA00-EEEF-CA2A13CB3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C9D3E-38D8-A017-637F-601E22A17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7C96-BA02-4E7D-823C-6786C0C1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51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FDA35-13BD-597F-D6D4-54A27A99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00D0E-6773-109E-997B-569C91978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33D14-3325-163F-4451-7D8025B73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870A-B602-4801-A33C-B607E2F5C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E4AEF-85EC-6192-7B8A-97B4A57A1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6CC10-791A-86C1-656D-6E63AB2F8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7C96-BA02-4E7D-823C-6786C0C1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53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7AD90-442F-8876-2F5F-6462EDFCF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D66C2-EF78-055D-08A0-CDC5494C0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93EDF-69A7-DD60-FAE2-2BEA34FCA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870A-B602-4801-A33C-B607E2F5C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C4CD1-C07D-D9DC-A843-86605E2CE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84F04-2BD5-E9B3-AA47-BA7AA0ABD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7C96-BA02-4E7D-823C-6786C0C1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79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6EE1-DAAB-B179-F00B-F79F859AB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4A41B-CFBD-D8B3-534E-BDDFC7486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F1C39-6187-EE04-68ED-9640DC6AB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580DB-1448-D75C-DAAC-F2BFEFBEF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870A-B602-4801-A33C-B607E2F5C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D38C3-191D-B4E3-D165-469512B1D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3172A-9F0E-7724-F44E-D6C664149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7C96-BA02-4E7D-823C-6786C0C1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620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2B538-2ADF-7FCC-9786-0C0169E2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7CD02-EEF2-D993-103D-5C4EAEE12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1AFB7-5B85-07ED-B55A-FF44E17A2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97EFE0-26B6-5FA3-8116-7CE6D48FE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02F32-0193-51FF-C265-85BDE443E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65ACCD-1CD5-2BAB-4BC5-8809CD84F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870A-B602-4801-A33C-B607E2F5C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441AA-7915-0B20-25A2-A3C57D0E9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1DBDDB-D992-6240-9F5A-42F3ACE77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7C96-BA02-4E7D-823C-6786C0C1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904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9B93E-CB89-7696-E507-A929E2612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0F089-09AF-B281-DF99-8959401B1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870A-B602-4801-A33C-B607E2F5C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131B8-7E47-34DD-7AB1-E3D96BB6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9FBDC-4B0C-6292-FA33-DEA0863A6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7C96-BA02-4E7D-823C-6786C0C1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98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CCEAB4-C3CF-63CD-0A04-529E6A33F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870A-B602-4801-A33C-B607E2F5C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CBFDA7-2FB1-7614-D90D-0FD5A803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24A6D-D756-CB0A-68C6-7F8E90877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7C96-BA02-4E7D-823C-6786C0C1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91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A28FE-CE44-D460-ECDF-6B366094E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DB6FA-D629-2705-BE39-1CDA35285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117CC9-F175-E2E2-C86F-15EE2BC9A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3D709-7A23-E876-9D4D-6B676867D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870A-B602-4801-A33C-B607E2F5C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9E38F-8C8F-AFB4-75D1-388216A9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37B0F-4945-6205-7FE1-5A4E82B4E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7C96-BA02-4E7D-823C-6786C0C1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8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1AD5E-A7A0-D865-F899-584352BE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7267D6-9FE6-A6B7-45E3-3B6331372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3367B-53B8-3EC3-D050-B18A86480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4D156-C33E-9861-786C-DF0DCBF2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870A-B602-4801-A33C-B607E2F5C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4F6F2-54E1-3AAF-3215-F926CBA6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3B2B6-A8E0-EA3B-839B-0067CD4E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7C96-BA02-4E7D-823C-6786C0C1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99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D973B-0E6D-4590-5098-DACF87A62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A587C-E1B3-E932-BD52-3E524DDAE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061A9-4A5B-693C-736B-F417F985D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870A-B602-4801-A33C-B607E2F5C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DE36D-25E3-2AC0-5DAD-38413D84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ECEB8-EF4C-CA1B-08C9-80D21E67C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7C96-BA02-4E7D-823C-6786C0C1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0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515798-F184-9458-882A-EFD9D3CCB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AD595-94C8-32A2-5915-A903C9A43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DD357-EBC7-1B4F-FB67-4A2AAF02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870A-B602-4801-A33C-B607E2F5C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737F0-31DA-6AE7-CC8B-974D60262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F15F6-FF63-A9F1-C9BD-C2460C5D6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7C96-BA02-4E7D-823C-6786C0C1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583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6AC4AC-8653-13F6-2D86-12AE5E8F5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34F29-5A12-4A73-3F74-CF97018D3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59A22-6DF2-F597-9F84-E7566393E5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2870A-B602-4801-A33C-B607E2F5C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E3E2C-643C-3284-E8C4-8E1A91639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2C005-A176-8B04-5BE2-52E92F1CE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97C96-BA02-4E7D-823C-6786C0C139D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F98518-303D-D013-601E-9CBF716A8B6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723688" y="63500"/>
            <a:ext cx="4333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89191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z0234541/AppData/Local/Programs/Microsoft%20VS%20Code/resources/app/out/vs/code/electron-sandbox/workbench/workbench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B951D9-6BCA-94CE-311F-38C00574A6E9}"/>
              </a:ext>
            </a:extLst>
          </p:cNvPr>
          <p:cNvSpPr/>
          <p:nvPr/>
        </p:nvSpPr>
        <p:spPr>
          <a:xfrm>
            <a:off x="1334278" y="1129004"/>
            <a:ext cx="2649893" cy="400283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CC</a:t>
            </a:r>
          </a:p>
          <a:p>
            <a:pPr algn="ctr"/>
            <a:r>
              <a:rPr lang="en-US" altLang="zh-CN"/>
              <a:t>(</a:t>
            </a:r>
            <a:r>
              <a:rPr lang="en-US" altLang="zh-CN" err="1"/>
              <a:t>CruiseControl</a:t>
            </a:r>
            <a:r>
              <a:rPr lang="zh-CN" altLang="en-US"/>
              <a:t>，</a:t>
            </a:r>
            <a:r>
              <a:rPr lang="en-US" altLang="zh-CN"/>
              <a:t>HDC feature included)</a:t>
            </a:r>
            <a:endParaRPr lang="zh-CN" alt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AB57E5-8395-688F-53E0-1A6D1CFA36A0}"/>
              </a:ext>
            </a:extLst>
          </p:cNvPr>
          <p:cNvSpPr/>
          <p:nvPr/>
        </p:nvSpPr>
        <p:spPr>
          <a:xfrm>
            <a:off x="6190864" y="429499"/>
            <a:ext cx="5066522" cy="611126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/>
              <a:t>LC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5B7AD-CA8C-8315-1C51-257290488C4D}"/>
              </a:ext>
            </a:extLst>
          </p:cNvPr>
          <p:cNvSpPr txBox="1"/>
          <p:nvPr/>
        </p:nvSpPr>
        <p:spPr>
          <a:xfrm>
            <a:off x="3960845" y="3220424"/>
            <a:ext cx="2211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HDC Target Vehicle Speed</a:t>
            </a:r>
            <a:endParaRPr lang="zh-CN" altLang="en-US" sz="12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DD0840-E6B6-5358-C225-0600F2C71AF0}"/>
              </a:ext>
            </a:extLst>
          </p:cNvPr>
          <p:cNvSpPr/>
          <p:nvPr/>
        </p:nvSpPr>
        <p:spPr>
          <a:xfrm>
            <a:off x="6736702" y="2242266"/>
            <a:ext cx="1222310" cy="181946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050" b="1" err="1">
                <a:solidFill>
                  <a:srgbClr val="FF0000"/>
                </a:solidFill>
              </a:rPr>
              <a:t>lc_spd_control.c</a:t>
            </a:r>
            <a:endParaRPr lang="en-US" altLang="zh-CN" sz="1050" b="1">
              <a:solidFill>
                <a:srgbClr val="FF0000"/>
              </a:solidFill>
            </a:endParaRPr>
          </a:p>
          <a:p>
            <a:pPr algn="ctr"/>
            <a:r>
              <a:rPr lang="en-US" altLang="zh-CN" sz="1100" err="1"/>
              <a:t>LcSpdControl</a:t>
            </a:r>
            <a:endParaRPr lang="en-US" altLang="zh-CN" sz="1100"/>
          </a:p>
          <a:p>
            <a:pPr algn="ctr"/>
            <a:r>
              <a:rPr lang="en-US" altLang="zh-CN" sz="1100" err="1"/>
              <a:t>LcSpeedError</a:t>
            </a:r>
            <a:endParaRPr lang="en-US" altLang="zh-CN" sz="1100"/>
          </a:p>
          <a:p>
            <a:pPr algn="ctr"/>
            <a:endParaRPr lang="en-US" altLang="zh-CN" sz="1100"/>
          </a:p>
          <a:p>
            <a:pPr algn="ctr"/>
            <a:endParaRPr lang="zh-CN" altLang="en-US" sz="105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B05BD4-D126-E452-A2DF-E4ADBF9548B1}"/>
              </a:ext>
            </a:extLst>
          </p:cNvPr>
          <p:cNvCxnSpPr>
            <a:cxnSpLocks/>
          </p:cNvCxnSpPr>
          <p:nvPr/>
        </p:nvCxnSpPr>
        <p:spPr>
          <a:xfrm flipV="1">
            <a:off x="4758612" y="2686056"/>
            <a:ext cx="1988975" cy="33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E117DE-DF9F-B930-B46D-062957B3BE81}"/>
              </a:ext>
            </a:extLst>
          </p:cNvPr>
          <p:cNvCxnSpPr>
            <a:cxnSpLocks/>
          </p:cNvCxnSpPr>
          <p:nvPr/>
        </p:nvCxnSpPr>
        <p:spPr>
          <a:xfrm>
            <a:off x="4136571" y="3282821"/>
            <a:ext cx="264989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D5378EA-99BC-8F28-1903-0E390B2CC427}"/>
              </a:ext>
            </a:extLst>
          </p:cNvPr>
          <p:cNvSpPr txBox="1"/>
          <p:nvPr/>
        </p:nvSpPr>
        <p:spPr>
          <a:xfrm>
            <a:off x="7931798" y="2684599"/>
            <a:ext cx="1733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Speed control Deceleration request</a:t>
            </a:r>
            <a:endParaRPr lang="zh-CN" altLang="en-US"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FA47C2-F0F7-E581-EC3C-073FE9A18D7B}"/>
              </a:ext>
            </a:extLst>
          </p:cNvPr>
          <p:cNvSpPr txBox="1"/>
          <p:nvPr/>
        </p:nvSpPr>
        <p:spPr>
          <a:xfrm>
            <a:off x="6828377" y="4365568"/>
            <a:ext cx="1175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PID Control</a:t>
            </a:r>
            <a:endParaRPr lang="zh-CN" altLang="en-US" sz="12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09864A-C9B9-28BE-9559-01B8C1485D0D}"/>
              </a:ext>
            </a:extLst>
          </p:cNvPr>
          <p:cNvCxnSpPr>
            <a:cxnSpLocks/>
          </p:cNvCxnSpPr>
          <p:nvPr/>
        </p:nvCxnSpPr>
        <p:spPr>
          <a:xfrm>
            <a:off x="7959012" y="3130420"/>
            <a:ext cx="149289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82F6691-6204-B500-7FD0-16C28A5AAF4F}"/>
              </a:ext>
            </a:extLst>
          </p:cNvPr>
          <p:cNvSpPr txBox="1"/>
          <p:nvPr/>
        </p:nvSpPr>
        <p:spPr>
          <a:xfrm>
            <a:off x="4739950" y="2441511"/>
            <a:ext cx="1175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Vehicle Speed</a:t>
            </a:r>
            <a:endParaRPr lang="zh-CN" altLang="en-US" sz="12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9274833-96D1-7545-786B-B5766F2F0D17}"/>
              </a:ext>
            </a:extLst>
          </p:cNvPr>
          <p:cNvSpPr/>
          <p:nvPr/>
        </p:nvSpPr>
        <p:spPr>
          <a:xfrm>
            <a:off x="9451910" y="2580009"/>
            <a:ext cx="1222310" cy="84899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altLang="zh-CN" sz="1200"/>
              <a:t>Lc state</a:t>
            </a:r>
            <a:endParaRPr lang="zh-CN" altLang="en-US" sz="12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4C5185-B037-F486-36B9-7463EC977379}"/>
              </a:ext>
            </a:extLst>
          </p:cNvPr>
          <p:cNvSpPr txBox="1"/>
          <p:nvPr/>
        </p:nvSpPr>
        <p:spPr>
          <a:xfrm>
            <a:off x="9577875" y="2950079"/>
            <a:ext cx="1175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Arbitration</a:t>
            </a:r>
            <a:endParaRPr lang="zh-CN" altLang="en-US" sz="120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09F83FD-4418-89D2-1728-08E34EA112C6}"/>
              </a:ext>
            </a:extLst>
          </p:cNvPr>
          <p:cNvSpPr/>
          <p:nvPr/>
        </p:nvSpPr>
        <p:spPr>
          <a:xfrm>
            <a:off x="9451910" y="4173401"/>
            <a:ext cx="1222310" cy="39859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altLang="zh-CN" sz="1200"/>
              <a:t>Lc Monitoring</a:t>
            </a:r>
            <a:endParaRPr lang="zh-CN" altLang="en-US" sz="120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C8C2A17-9F80-BDE7-772A-6015B96D32B1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063065" y="3497423"/>
            <a:ext cx="0" cy="675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1031571-9C37-A588-1E3B-B48B32415E8B}"/>
              </a:ext>
            </a:extLst>
          </p:cNvPr>
          <p:cNvSpPr/>
          <p:nvPr/>
        </p:nvSpPr>
        <p:spPr>
          <a:xfrm>
            <a:off x="9218644" y="4917802"/>
            <a:ext cx="1688841" cy="124040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altLang="zh-CN" sz="1200"/>
              <a:t>Lc force to pressure</a:t>
            </a:r>
            <a:endParaRPr lang="zh-CN" altLang="en-US" sz="120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7691C07-B1D1-73CD-2333-A470C86C3B8C}"/>
              </a:ext>
            </a:extLst>
          </p:cNvPr>
          <p:cNvCxnSpPr>
            <a:cxnSpLocks/>
            <a:stCxn id="30" idx="2"/>
            <a:endCxn id="34" idx="0"/>
          </p:cNvCxnSpPr>
          <p:nvPr/>
        </p:nvCxnSpPr>
        <p:spPr>
          <a:xfrm>
            <a:off x="10063065" y="4572000"/>
            <a:ext cx="0" cy="345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70516FD-2404-8156-1F49-122A2F30BC64}"/>
              </a:ext>
            </a:extLst>
          </p:cNvPr>
          <p:cNvSpPr txBox="1"/>
          <p:nvPr/>
        </p:nvSpPr>
        <p:spPr>
          <a:xfrm>
            <a:off x="9330610" y="5446073"/>
            <a:ext cx="157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Convert deceleration request to pressure request per wheel</a:t>
            </a:r>
            <a:endParaRPr lang="zh-CN" alt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4CB07C-FCAB-EFA2-AA77-841A08A160E6}"/>
              </a:ext>
            </a:extLst>
          </p:cNvPr>
          <p:cNvSpPr txBox="1"/>
          <p:nvPr/>
        </p:nvSpPr>
        <p:spPr>
          <a:xfrm>
            <a:off x="149290" y="120041"/>
            <a:ext cx="56916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HDC feature is interacting with brake torque control via HDC target vehicle speed interface, the speed closed loop control, deceleration calculation, arbitration </a:t>
            </a:r>
            <a:r>
              <a:rPr lang="en-US" altLang="zh-CN" sz="1400" err="1"/>
              <a:t>etc</a:t>
            </a:r>
            <a:r>
              <a:rPr lang="en-US" altLang="zh-CN" sz="1400"/>
              <a:t> are allocated in GF1.1 feature, no brake torque interface involve</a:t>
            </a:r>
            <a:endParaRPr lang="zh-CN" altLang="en-US" sz="140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F1AE2ED2-C314-14A4-D4D8-9A388BA63679}"/>
              </a:ext>
            </a:extLst>
          </p:cNvPr>
          <p:cNvSpPr/>
          <p:nvPr/>
        </p:nvSpPr>
        <p:spPr>
          <a:xfrm>
            <a:off x="10063065" y="1800516"/>
            <a:ext cx="195945" cy="7509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0A64F-1967-7D6E-DE96-F56E15FCC39A}"/>
              </a:ext>
            </a:extLst>
          </p:cNvPr>
          <p:cNvSpPr txBox="1"/>
          <p:nvPr/>
        </p:nvSpPr>
        <p:spPr>
          <a:xfrm>
            <a:off x="7869983" y="1260483"/>
            <a:ext cx="4322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/>
              <a:t>GF1.1 System behavior:</a:t>
            </a:r>
          </a:p>
          <a:p>
            <a:r>
              <a:rPr lang="en-US" altLang="zh-CN" sz="1200"/>
              <a:t>determine arbitrated internal deceleration long control request</a:t>
            </a:r>
            <a:endParaRPr lang="zh-CN" altLang="en-US" sz="120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A8209C8-6596-4754-68A8-00EC3A454188}"/>
              </a:ext>
            </a:extLst>
          </p:cNvPr>
          <p:cNvSpPr/>
          <p:nvPr/>
        </p:nvSpPr>
        <p:spPr>
          <a:xfrm>
            <a:off x="7249884" y="1884784"/>
            <a:ext cx="195945" cy="3604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629830-8DAC-E9D9-221A-93BABE5F9A11}"/>
              </a:ext>
            </a:extLst>
          </p:cNvPr>
          <p:cNvSpPr txBox="1"/>
          <p:nvPr/>
        </p:nvSpPr>
        <p:spPr>
          <a:xfrm>
            <a:off x="5753099" y="1469764"/>
            <a:ext cx="2250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/>
              <a:t>SF7.2 System behavior:</a:t>
            </a:r>
          </a:p>
          <a:p>
            <a:r>
              <a:rPr lang="en-US" altLang="zh-CN" sz="1200"/>
              <a:t>determine deceleration request</a:t>
            </a:r>
            <a:endParaRPr lang="zh-CN" altLang="en-US" sz="12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E129CF-8F64-A49F-E0E7-7D68F29976D3}"/>
              </a:ext>
            </a:extLst>
          </p:cNvPr>
          <p:cNvSpPr txBox="1"/>
          <p:nvPr/>
        </p:nvSpPr>
        <p:spPr>
          <a:xfrm>
            <a:off x="3157295" y="3745541"/>
            <a:ext cx="4197910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200" b="0" err="1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Lc_Spd_Mf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200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LC_MF_SPD_CTRL_HDC_U8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SpeedReq_s16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zh-CN" sz="1200" b="0">
                <a:solidFill>
                  <a:srgbClr val="C792E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GetCcSpeedRequest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4" name="Rectangle: Rounded Corners 29">
            <a:extLst>
              <a:ext uri="{FF2B5EF4-FFF2-40B4-BE49-F238E27FC236}">
                <a16:creationId xmlns:a16="http://schemas.microsoft.com/office/drawing/2014/main" id="{EF6F2AF2-8AB3-D915-BDB8-BA7CF49DD30E}"/>
              </a:ext>
            </a:extLst>
          </p:cNvPr>
          <p:cNvSpPr/>
          <p:nvPr/>
        </p:nvSpPr>
        <p:spPr>
          <a:xfrm>
            <a:off x="6763554" y="5597517"/>
            <a:ext cx="1222310" cy="39859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altLang="zh-CN" sz="1200"/>
              <a:t>Lc Monitoring</a:t>
            </a:r>
            <a:endParaRPr lang="zh-CN" altLang="en-US" sz="1200"/>
          </a:p>
        </p:txBody>
      </p:sp>
      <p:cxnSp>
        <p:nvCxnSpPr>
          <p:cNvPr id="15" name="Straight Arrow Connector 34">
            <a:extLst>
              <a:ext uri="{FF2B5EF4-FFF2-40B4-BE49-F238E27FC236}">
                <a16:creationId xmlns:a16="http://schemas.microsoft.com/office/drawing/2014/main" id="{B0C69549-994A-F1D0-1D3D-96D842F45AE0}"/>
              </a:ext>
            </a:extLst>
          </p:cNvPr>
          <p:cNvCxnSpPr>
            <a:cxnSpLocks/>
            <a:stCxn id="34" idx="1"/>
            <a:endCxn id="14" idx="3"/>
          </p:cNvCxnSpPr>
          <p:nvPr/>
        </p:nvCxnSpPr>
        <p:spPr>
          <a:xfrm flipH="1">
            <a:off x="7985864" y="5538003"/>
            <a:ext cx="1232780" cy="258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99872757-2253-B331-A84E-154C33257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095" y="4959545"/>
            <a:ext cx="3366026" cy="578458"/>
          </a:xfrm>
          <a:prstGeom prst="rect">
            <a:avLst/>
          </a:prstGeom>
        </p:spPr>
      </p:pic>
      <p:sp>
        <p:nvSpPr>
          <p:cNvPr id="22" name="Rectangle: Rounded Corners 3">
            <a:extLst>
              <a:ext uri="{FF2B5EF4-FFF2-40B4-BE49-F238E27FC236}">
                <a16:creationId xmlns:a16="http://schemas.microsoft.com/office/drawing/2014/main" id="{8BB93079-EA3C-B058-EDF2-2729CB7942B6}"/>
              </a:ext>
            </a:extLst>
          </p:cNvPr>
          <p:cNvSpPr/>
          <p:nvPr/>
        </p:nvSpPr>
        <p:spPr>
          <a:xfrm>
            <a:off x="2282301" y="5451834"/>
            <a:ext cx="2649893" cy="1338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Brake_Arbitrator_input</a:t>
            </a:r>
            <a:endParaRPr lang="zh-CN" altLang="en-US" dirty="0"/>
          </a:p>
        </p:txBody>
      </p:sp>
      <p:cxnSp>
        <p:nvCxnSpPr>
          <p:cNvPr id="24" name="Straight Arrow Connector 34">
            <a:extLst>
              <a:ext uri="{FF2B5EF4-FFF2-40B4-BE49-F238E27FC236}">
                <a16:creationId xmlns:a16="http://schemas.microsoft.com/office/drawing/2014/main" id="{262AFD3B-F3A8-BCA3-2AFE-BDF8C6269FE7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4914384" y="5796817"/>
            <a:ext cx="1849170" cy="361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>
            <a:extLst>
              <a:ext uri="{FF2B5EF4-FFF2-40B4-BE49-F238E27FC236}">
                <a16:creationId xmlns:a16="http://schemas.microsoft.com/office/drawing/2014/main" id="{41AD086A-D836-A896-8448-75B4B86A3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417" y="4964440"/>
            <a:ext cx="3566293" cy="97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96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AAECDCC0-9251-6185-BBFD-A0B98B6031CB}"/>
              </a:ext>
            </a:extLst>
          </p:cNvPr>
          <p:cNvSpPr/>
          <p:nvPr/>
        </p:nvSpPr>
        <p:spPr>
          <a:xfrm>
            <a:off x="775064" y="440078"/>
            <a:ext cx="10145485" cy="554319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3600" b="1" err="1">
                <a:solidFill>
                  <a:srgbClr val="FF0000"/>
                </a:solidFill>
              </a:rPr>
              <a:t>lc_spd_control.c</a:t>
            </a:r>
            <a:endParaRPr lang="en-US" altLang="zh-CN" sz="3600" b="1">
              <a:solidFill>
                <a:srgbClr val="FF0000"/>
              </a:solidFill>
            </a:endParaRPr>
          </a:p>
          <a:p>
            <a:pPr algn="ctr"/>
            <a:endParaRPr lang="en-US" altLang="zh-CN" sz="1100"/>
          </a:p>
          <a:p>
            <a:pPr algn="ctr"/>
            <a:endParaRPr lang="zh-CN" altLang="en-US" sz="10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09228C-6B2D-EDFA-7A4E-71CEF9ADF480}"/>
              </a:ext>
            </a:extLst>
          </p:cNvPr>
          <p:cNvSpPr/>
          <p:nvPr/>
        </p:nvSpPr>
        <p:spPr>
          <a:xfrm>
            <a:off x="1001486" y="1780903"/>
            <a:ext cx="2899954" cy="35182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6DD227-F8AF-3BA8-550E-78C583F25DD2}"/>
              </a:ext>
            </a:extLst>
          </p:cNvPr>
          <p:cNvSpPr txBox="1"/>
          <p:nvPr/>
        </p:nvSpPr>
        <p:spPr>
          <a:xfrm>
            <a:off x="1062446" y="1887974"/>
            <a:ext cx="28389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err="1">
                <a:solidFill>
                  <a:srgbClr val="FF0000"/>
                </a:solidFill>
              </a:rPr>
              <a:t>LcSpdControl</a:t>
            </a:r>
            <a:endParaRPr lang="en-US" altLang="zh-CN" sz="1800" b="1">
              <a:solidFill>
                <a:srgbClr val="FF0000"/>
              </a:solidFill>
            </a:endParaRPr>
          </a:p>
          <a:p>
            <a:endParaRPr lang="en-US" altLang="zh-CN" sz="1800" b="1">
              <a:solidFill>
                <a:srgbClr val="FF0000"/>
              </a:solidFill>
            </a:endParaRPr>
          </a:p>
          <a:p>
            <a:r>
              <a:rPr lang="zh-CN" altLang="en-US" sz="1800"/>
              <a:t>根据请求切换</a:t>
            </a:r>
            <a:r>
              <a:rPr lang="en-US" altLang="zh-CN" sz="1800"/>
              <a:t>APA  SM </a:t>
            </a:r>
            <a:r>
              <a:rPr lang="zh-CN" altLang="en-US" sz="1800"/>
              <a:t>， </a:t>
            </a:r>
            <a:r>
              <a:rPr lang="en-US" altLang="zh-CN" sz="1800"/>
              <a:t>HDC</a:t>
            </a:r>
            <a:r>
              <a:rPr lang="zh-CN" altLang="en-US" sz="1800"/>
              <a:t>等 速度请求值</a:t>
            </a:r>
            <a:endParaRPr lang="en-US" altLang="zh-CN" sz="1800"/>
          </a:p>
          <a:p>
            <a:endParaRPr lang="en-US" altLang="zh-CN"/>
          </a:p>
          <a:p>
            <a:r>
              <a:rPr lang="en-US" altLang="zh-CN"/>
              <a:t>Lc_SpdCtrl.SpeedReq_s16</a:t>
            </a:r>
          </a:p>
          <a:p>
            <a:endParaRPr lang="en-US" altLang="zh-CN" sz="18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A3D7A6-A9D5-E04C-F442-70C5A0AB3F16}"/>
              </a:ext>
            </a:extLst>
          </p:cNvPr>
          <p:cNvSpPr/>
          <p:nvPr/>
        </p:nvSpPr>
        <p:spPr>
          <a:xfrm>
            <a:off x="4511040" y="1780903"/>
            <a:ext cx="2899954" cy="35182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DFB000-8818-28F0-E390-965751FB42F9}"/>
              </a:ext>
            </a:extLst>
          </p:cNvPr>
          <p:cNvSpPr txBox="1"/>
          <p:nvPr/>
        </p:nvSpPr>
        <p:spPr>
          <a:xfrm>
            <a:off x="4541520" y="1888416"/>
            <a:ext cx="28389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err="1">
                <a:solidFill>
                  <a:srgbClr val="FF0000"/>
                </a:solidFill>
              </a:rPr>
              <a:t>LcSpeedError</a:t>
            </a:r>
            <a:endParaRPr lang="en-US" altLang="zh-CN" sz="1800" b="1">
              <a:solidFill>
                <a:srgbClr val="FF0000"/>
              </a:solidFill>
            </a:endParaRPr>
          </a:p>
          <a:p>
            <a:endParaRPr lang="en-US" altLang="zh-CN" sz="1800" b="1">
              <a:solidFill>
                <a:srgbClr val="FF0000"/>
              </a:solidFill>
            </a:endParaRPr>
          </a:p>
          <a:p>
            <a:r>
              <a:rPr lang="zh-CN" altLang="en-US" sz="1800"/>
              <a:t>速度请求和 当前车速的差：</a:t>
            </a:r>
            <a:endParaRPr lang="en-US" altLang="zh-CN" sz="1800"/>
          </a:p>
          <a:p>
            <a:endParaRPr lang="en-US" altLang="zh-CN"/>
          </a:p>
          <a:p>
            <a:r>
              <a:rPr lang="en-US" altLang="zh-CN"/>
              <a:t>Lc_SpdCtrl.VehControlError_s16</a:t>
            </a:r>
          </a:p>
          <a:p>
            <a:endParaRPr lang="en-US" altLang="zh-CN" sz="180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44B889B-EC3B-1CB9-DF7D-776717EF6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715" y="4274176"/>
            <a:ext cx="3018604" cy="1132503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7F7C46D-15AC-EAFE-98F7-2A878E9847E6}"/>
              </a:ext>
            </a:extLst>
          </p:cNvPr>
          <p:cNvCxnSpPr/>
          <p:nvPr/>
        </p:nvCxnSpPr>
        <p:spPr>
          <a:xfrm flipV="1">
            <a:off x="3683726" y="2682240"/>
            <a:ext cx="1079863" cy="746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498B5715-7786-BCEB-B22F-1BC17ADD1493}"/>
              </a:ext>
            </a:extLst>
          </p:cNvPr>
          <p:cNvSpPr/>
          <p:nvPr/>
        </p:nvSpPr>
        <p:spPr>
          <a:xfrm>
            <a:off x="7775119" y="1780903"/>
            <a:ext cx="2899954" cy="35182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C18454-E238-6EE3-74FD-F8960584F275}"/>
              </a:ext>
            </a:extLst>
          </p:cNvPr>
          <p:cNvSpPr txBox="1"/>
          <p:nvPr/>
        </p:nvSpPr>
        <p:spPr>
          <a:xfrm>
            <a:off x="7836079" y="1887974"/>
            <a:ext cx="28389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err="1">
                <a:solidFill>
                  <a:srgbClr val="FF0000"/>
                </a:solidFill>
              </a:rPr>
              <a:t>LcSpdDecelControl</a:t>
            </a:r>
            <a:endParaRPr lang="en-US" altLang="zh-CN" sz="1800" b="1">
              <a:solidFill>
                <a:srgbClr val="FF0000"/>
              </a:solidFill>
            </a:endParaRPr>
          </a:p>
          <a:p>
            <a:endParaRPr lang="en-US" altLang="zh-CN" sz="1800" b="1">
              <a:solidFill>
                <a:srgbClr val="FF0000"/>
              </a:solidFill>
            </a:endParaRPr>
          </a:p>
          <a:p>
            <a:r>
              <a:rPr lang="en-US" altLang="zh-CN" sz="1800"/>
              <a:t>PID </a:t>
            </a:r>
            <a:r>
              <a:rPr lang="zh-CN" altLang="en-US"/>
              <a:t>控制 </a:t>
            </a:r>
            <a:r>
              <a:rPr lang="en-US" altLang="zh-CN"/>
              <a:t>Lc_SpdCtrl.ControlOutput_s16</a:t>
            </a:r>
          </a:p>
          <a:p>
            <a:endParaRPr lang="en-US" altLang="zh-CN"/>
          </a:p>
          <a:p>
            <a:endParaRPr lang="en-US" altLang="zh-CN" sz="180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9B13CC2-29B3-DF41-8631-F748F0BA9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796" y="3864195"/>
            <a:ext cx="2388600" cy="177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384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3E648-2F3C-CA3C-3EAC-2E4C96967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97FF1EA8-CD54-B177-F5F3-9F8AF43A3C02}"/>
              </a:ext>
            </a:extLst>
          </p:cNvPr>
          <p:cNvSpPr/>
          <p:nvPr/>
        </p:nvSpPr>
        <p:spPr>
          <a:xfrm>
            <a:off x="673464" y="457011"/>
            <a:ext cx="10145485" cy="554319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3600" b="1" err="1">
                <a:solidFill>
                  <a:srgbClr val="FF0000"/>
                </a:solidFill>
              </a:rPr>
              <a:t>lc_state.c</a:t>
            </a:r>
            <a:endParaRPr lang="en-US" altLang="zh-CN" sz="3600" b="1">
              <a:solidFill>
                <a:srgbClr val="FF0000"/>
              </a:solidFill>
            </a:endParaRPr>
          </a:p>
          <a:p>
            <a:pPr algn="ctr"/>
            <a:endParaRPr lang="en-US" altLang="zh-CN" sz="1100"/>
          </a:p>
          <a:p>
            <a:pPr algn="ctr"/>
            <a:endParaRPr lang="zh-CN" altLang="en-US" sz="10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F30167-EE3E-1538-8927-1547DAC91181}"/>
              </a:ext>
            </a:extLst>
          </p:cNvPr>
          <p:cNvSpPr/>
          <p:nvPr/>
        </p:nvSpPr>
        <p:spPr>
          <a:xfrm>
            <a:off x="1001486" y="1780903"/>
            <a:ext cx="7101114" cy="35182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0CB691-82FA-E9AB-0C8A-EF5CEF190839}"/>
              </a:ext>
            </a:extLst>
          </p:cNvPr>
          <p:cNvSpPr txBox="1"/>
          <p:nvPr/>
        </p:nvSpPr>
        <p:spPr>
          <a:xfrm>
            <a:off x="1001485" y="1862574"/>
            <a:ext cx="71011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err="1">
                <a:solidFill>
                  <a:srgbClr val="FF0000"/>
                </a:solidFill>
              </a:rPr>
              <a:t>LcStateProcessing</a:t>
            </a:r>
            <a:endParaRPr lang="en-US" altLang="zh-CN" sz="1800" b="1">
              <a:solidFill>
                <a:srgbClr val="FF0000"/>
              </a:solidFill>
            </a:endParaRPr>
          </a:p>
          <a:p>
            <a:endParaRPr lang="en-US" altLang="zh-CN"/>
          </a:p>
          <a:p>
            <a:r>
              <a:rPr lang="en-US" altLang="zh-CN" sz="1800"/>
              <a:t>Prio Step1</a:t>
            </a:r>
            <a:r>
              <a:rPr lang="zh-CN" altLang="en-US" sz="1800"/>
              <a:t>：</a:t>
            </a:r>
            <a:r>
              <a:rPr lang="en-US" altLang="zh-CN" b="1" err="1">
                <a:solidFill>
                  <a:srgbClr val="00B0F0"/>
                </a:solidFill>
              </a:rPr>
              <a:t>LcPrioComfort</a:t>
            </a:r>
            <a:endParaRPr lang="en-US" altLang="zh-CN" b="1">
              <a:solidFill>
                <a:srgbClr val="00B0F0"/>
              </a:solidFill>
            </a:endParaRPr>
          </a:p>
          <a:p>
            <a:endParaRPr lang="en-US" altLang="zh-CN" b="1">
              <a:solidFill>
                <a:srgbClr val="00B0F0"/>
              </a:solidFill>
            </a:endParaRPr>
          </a:p>
          <a:p>
            <a:r>
              <a:rPr lang="en-US" altLang="zh-CN"/>
              <a:t>Prio Step2:  BWJ , DYN , </a:t>
            </a:r>
            <a:r>
              <a:rPr lang="en-US" altLang="zh-CN" err="1"/>
              <a:t>Comf</a:t>
            </a:r>
            <a:r>
              <a:rPr lang="en-US" altLang="zh-CN"/>
              <a:t> </a:t>
            </a:r>
            <a:r>
              <a:rPr lang="zh-CN" altLang="en-US"/>
              <a:t>只要大于当前请求的</a:t>
            </a:r>
            <a:r>
              <a:rPr lang="en-US" altLang="zh-CN" err="1"/>
              <a:t>decel</a:t>
            </a:r>
            <a:r>
              <a:rPr lang="zh-CN" altLang="en-US"/>
              <a:t>， 更新</a:t>
            </a:r>
            <a:r>
              <a:rPr lang="en-US" altLang="zh-CN" b="1">
                <a:solidFill>
                  <a:srgbClr val="FF0000"/>
                </a:solidFill>
              </a:rPr>
              <a:t>TempDecelReq_s16 </a:t>
            </a:r>
            <a:r>
              <a:rPr lang="zh-CN" altLang="en-US"/>
              <a:t>和 </a:t>
            </a:r>
            <a:r>
              <a:rPr lang="en-US" altLang="zh-CN" b="1">
                <a:solidFill>
                  <a:srgbClr val="FF0000"/>
                </a:solidFill>
              </a:rPr>
              <a:t>TempBaseService_u8</a:t>
            </a:r>
          </a:p>
          <a:p>
            <a:r>
              <a:rPr lang="zh-CN" altLang="en-US" b="1">
                <a:solidFill>
                  <a:srgbClr val="FF0000"/>
                </a:solidFill>
              </a:rPr>
              <a:t>最终减速请求：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en-US" altLang="zh-CN" b="1">
                <a:solidFill>
                  <a:srgbClr val="FF0000"/>
                </a:solidFill>
              </a:rPr>
              <a:t>LcState.DarbDecelReq_s16 </a:t>
            </a:r>
            <a:r>
              <a:rPr lang="en-US" altLang="zh-CN"/>
              <a:t>= TempDecelReq_s16;</a:t>
            </a:r>
          </a:p>
          <a:p>
            <a:endParaRPr lang="en-US" altLang="zh-CN" b="1">
              <a:solidFill>
                <a:srgbClr val="FF0000"/>
              </a:solidFill>
            </a:endParaRPr>
          </a:p>
          <a:p>
            <a:endParaRPr lang="en-US" altLang="zh-CN"/>
          </a:p>
          <a:p>
            <a:r>
              <a:rPr lang="zh-CN" altLang="en-US"/>
              <a:t> 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 sz="18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56F76C1-6CEF-AB5C-2192-246AFC42B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83" y="4194111"/>
            <a:ext cx="5418290" cy="180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639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CACEB-F8B6-0CC9-5D8D-5B177CE96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7F47D058-1440-4C54-3A3D-B590E85BE512}"/>
              </a:ext>
            </a:extLst>
          </p:cNvPr>
          <p:cNvSpPr/>
          <p:nvPr/>
        </p:nvSpPr>
        <p:spPr>
          <a:xfrm>
            <a:off x="673464" y="457011"/>
            <a:ext cx="10145485" cy="554319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3600" b="1" err="1">
                <a:solidFill>
                  <a:srgbClr val="FF0000"/>
                </a:solidFill>
              </a:rPr>
              <a:t>lc_monitoring.c</a:t>
            </a:r>
            <a:endParaRPr lang="en-US" altLang="zh-CN" sz="3600" b="1">
              <a:solidFill>
                <a:srgbClr val="FF0000"/>
              </a:solidFill>
            </a:endParaRPr>
          </a:p>
          <a:p>
            <a:pPr algn="ctr"/>
            <a:endParaRPr lang="en-US" altLang="zh-CN" sz="1100"/>
          </a:p>
          <a:p>
            <a:pPr algn="ctr"/>
            <a:endParaRPr lang="zh-CN" altLang="en-US" sz="10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7EF652-B302-48DF-1486-8713D2C54A33}"/>
              </a:ext>
            </a:extLst>
          </p:cNvPr>
          <p:cNvSpPr/>
          <p:nvPr/>
        </p:nvSpPr>
        <p:spPr>
          <a:xfrm>
            <a:off x="1001486" y="1780903"/>
            <a:ext cx="7101114" cy="35182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EC368B-E596-9AE6-775B-A8DCD4A6A9F7}"/>
              </a:ext>
            </a:extLst>
          </p:cNvPr>
          <p:cNvSpPr txBox="1"/>
          <p:nvPr/>
        </p:nvSpPr>
        <p:spPr>
          <a:xfrm>
            <a:off x="1001486" y="1862574"/>
            <a:ext cx="710111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ASILLimiter:</a:t>
            </a:r>
          </a:p>
          <a:p>
            <a:r>
              <a:rPr lang="zh-CN" altLang="en-US" b="1">
                <a:solidFill>
                  <a:srgbClr val="FF0000"/>
                </a:solidFill>
              </a:rPr>
              <a:t>通过</a:t>
            </a:r>
            <a:r>
              <a:rPr lang="en-US" altLang="zh-CN" b="1">
                <a:solidFill>
                  <a:srgbClr val="FF0000"/>
                </a:solidFill>
              </a:rPr>
              <a:t>safety limit </a:t>
            </a:r>
            <a:r>
              <a:rPr lang="zh-CN" altLang="en-US" b="1">
                <a:solidFill>
                  <a:srgbClr val="FF0000"/>
                </a:solidFill>
              </a:rPr>
              <a:t>减速度请求</a:t>
            </a:r>
            <a:endParaRPr lang="en-US" altLang="zh-CN" b="1">
              <a:solidFill>
                <a:srgbClr val="FF0000"/>
              </a:solidFill>
            </a:endParaRPr>
          </a:p>
          <a:p>
            <a:endParaRPr lang="en-US" altLang="zh-CN"/>
          </a:p>
          <a:p>
            <a:endParaRPr lang="en-US" altLang="zh-CN" b="1">
              <a:solidFill>
                <a:srgbClr val="FF0000"/>
              </a:solidFill>
            </a:endParaRPr>
          </a:p>
          <a:p>
            <a:endParaRPr lang="en-US" altLang="zh-CN"/>
          </a:p>
          <a:p>
            <a:r>
              <a:rPr lang="zh-CN" altLang="en-US"/>
              <a:t> 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2710563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85F1E-69FA-BD49-DAC7-114BFDCA3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33095D78-3EE5-759F-4ABC-8613163E520B}"/>
              </a:ext>
            </a:extLst>
          </p:cNvPr>
          <p:cNvSpPr/>
          <p:nvPr/>
        </p:nvSpPr>
        <p:spPr>
          <a:xfrm>
            <a:off x="673464" y="457011"/>
            <a:ext cx="10145485" cy="554319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3600" b="1" err="1">
                <a:solidFill>
                  <a:srgbClr val="FF0000"/>
                </a:solidFill>
              </a:rPr>
              <a:t>lc_force_to_press.c</a:t>
            </a:r>
            <a:endParaRPr lang="en-US" altLang="zh-CN" sz="3600" b="1">
              <a:solidFill>
                <a:srgbClr val="FF0000"/>
              </a:solidFill>
            </a:endParaRPr>
          </a:p>
          <a:p>
            <a:pPr algn="ctr"/>
            <a:endParaRPr lang="en-US" altLang="zh-CN" sz="1100"/>
          </a:p>
          <a:p>
            <a:pPr algn="ctr"/>
            <a:endParaRPr lang="zh-CN" altLang="en-US" sz="10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7DF112-55D2-57B9-A84D-E42EAF821E8B}"/>
              </a:ext>
            </a:extLst>
          </p:cNvPr>
          <p:cNvSpPr/>
          <p:nvPr/>
        </p:nvSpPr>
        <p:spPr>
          <a:xfrm>
            <a:off x="1001486" y="1780903"/>
            <a:ext cx="7101114" cy="35182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44F6FE-7761-C393-7306-15FC3BE5B6F5}"/>
              </a:ext>
            </a:extLst>
          </p:cNvPr>
          <p:cNvSpPr txBox="1"/>
          <p:nvPr/>
        </p:nvSpPr>
        <p:spPr>
          <a:xfrm>
            <a:off x="1001486" y="1862574"/>
            <a:ext cx="10784114" cy="3842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err="1">
                <a:solidFill>
                  <a:srgbClr val="FF0000"/>
                </a:solidFill>
              </a:rPr>
              <a:t>DecelToPress</a:t>
            </a:r>
            <a:r>
              <a:rPr lang="en-US" altLang="zh-CN" b="1">
                <a:solidFill>
                  <a:srgbClr val="FF0000"/>
                </a:solidFill>
              </a:rPr>
              <a:t>:</a:t>
            </a:r>
          </a:p>
          <a:p>
            <a:endParaRPr lang="en-US" altLang="zh-CN"/>
          </a:p>
          <a:p>
            <a:pPr>
              <a:lnSpc>
                <a:spcPts val="1425"/>
              </a:lnSpc>
              <a:buNone/>
            </a:pP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LcFTP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LcPressReq_s16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FRONT_LEFT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altLang="zh-CN" b="0">
                <a:solidFill>
                  <a:srgbClr val="C792E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LcDecelToAxlePressure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LcMon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ASILLimDecelReq_s16</a:t>
            </a:r>
            <a:r>
              <a:rPr lang="en-US" altLang="zh-CN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LcIn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TireSizeFrontAxle_s16</a:t>
            </a:r>
            <a:r>
              <a:rPr lang="en-US" altLang="zh-CN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LcIn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BrakeTorqueFactorFrontAxle_s16</a:t>
            </a:r>
            <a:r>
              <a:rPr lang="en-US" altLang="zh-CN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LcIn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VehicleMass_s16</a:t>
            </a:r>
            <a:r>
              <a:rPr lang="en-US" altLang="zh-CN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LcIn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EqualPressureFrontAxleBias_s16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b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US" altLang="zh-CN">
              <a:solidFill>
                <a:srgbClr val="7F848E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zh-CN" b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LcFTP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LcPressReq_s16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FRONT_RIGHT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>
                <a:solidFill>
                  <a:srgbClr val="C792E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LcFTP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LcPressReq_s16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FRONT_LEFT</a:t>
            </a:r>
            <a:r>
              <a:rPr lang="en-US" altLang="zh-CN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endParaRPr lang="en-US" altLang="zh-CN"/>
          </a:p>
          <a:p>
            <a:endParaRPr lang="en-US" altLang="zh-CN" b="1">
              <a:solidFill>
                <a:srgbClr val="FF0000"/>
              </a:solidFill>
            </a:endParaRPr>
          </a:p>
          <a:p>
            <a:endParaRPr lang="en-US" altLang="zh-CN"/>
          </a:p>
          <a:p>
            <a:r>
              <a:rPr lang="zh-CN" altLang="en-US"/>
              <a:t> 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1869107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DDDACC7-A473-ACE5-E519-83D1D733F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61" y="343511"/>
            <a:ext cx="9591819" cy="636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222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AB57E5-8395-688F-53E0-1A6D1CFA36A0}"/>
              </a:ext>
            </a:extLst>
          </p:cNvPr>
          <p:cNvSpPr/>
          <p:nvPr/>
        </p:nvSpPr>
        <p:spPr>
          <a:xfrm>
            <a:off x="4076845" y="347334"/>
            <a:ext cx="7584085" cy="640065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/>
              <a:t>LC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1031571-9C37-A588-1E3B-B48B32415E8B}"/>
              </a:ext>
            </a:extLst>
          </p:cNvPr>
          <p:cNvSpPr/>
          <p:nvPr/>
        </p:nvSpPr>
        <p:spPr>
          <a:xfrm>
            <a:off x="9751653" y="2926286"/>
            <a:ext cx="1688841" cy="223182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altLang="zh-CN" sz="1200"/>
              <a:t>Lc control</a:t>
            </a:r>
            <a:endParaRPr lang="zh-CN" altLang="en-US" sz="120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F6CD69E1-A9B8-D15B-7C94-B5CC912BE0AA}"/>
              </a:ext>
            </a:extLst>
          </p:cNvPr>
          <p:cNvSpPr/>
          <p:nvPr/>
        </p:nvSpPr>
        <p:spPr>
          <a:xfrm>
            <a:off x="9892780" y="3365628"/>
            <a:ext cx="1310175" cy="66714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zh-CN" altLang="en-US" sz="105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B951D9-6BCA-94CE-311F-38C00574A6E9}"/>
              </a:ext>
            </a:extLst>
          </p:cNvPr>
          <p:cNvSpPr/>
          <p:nvPr/>
        </p:nvSpPr>
        <p:spPr>
          <a:xfrm>
            <a:off x="1334278" y="1184987"/>
            <a:ext cx="1479683" cy="227310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CC</a:t>
            </a:r>
          </a:p>
          <a:p>
            <a:pPr algn="ctr"/>
            <a:r>
              <a:rPr lang="en-US" altLang="zh-CN" sz="1200"/>
              <a:t>(</a:t>
            </a:r>
            <a:r>
              <a:rPr lang="en-US" altLang="zh-CN" sz="1200" err="1"/>
              <a:t>CruiseControl</a:t>
            </a:r>
            <a:r>
              <a:rPr lang="zh-CN" altLang="en-US" sz="1200"/>
              <a:t>，</a:t>
            </a:r>
            <a:r>
              <a:rPr lang="en-US" altLang="zh-CN" sz="1200"/>
              <a:t>HDC feature included)</a:t>
            </a:r>
            <a:endParaRPr lang="zh-CN" altLang="en-US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5B7AD-CA8C-8315-1C51-257290488C4D}"/>
              </a:ext>
            </a:extLst>
          </p:cNvPr>
          <p:cNvSpPr txBox="1"/>
          <p:nvPr/>
        </p:nvSpPr>
        <p:spPr>
          <a:xfrm>
            <a:off x="2830293" y="1829592"/>
            <a:ext cx="1396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HDC </a:t>
            </a:r>
            <a:r>
              <a:rPr lang="en-US" altLang="zh-CN" sz="1200" err="1"/>
              <a:t>tempoff</a:t>
            </a:r>
            <a:r>
              <a:rPr lang="en-US" altLang="zh-CN" sz="1200"/>
              <a:t> status(no delay)</a:t>
            </a:r>
            <a:endParaRPr lang="zh-CN" altLang="en-US" sz="12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DD0840-E6B6-5358-C225-0600F2C71AF0}"/>
              </a:ext>
            </a:extLst>
          </p:cNvPr>
          <p:cNvSpPr/>
          <p:nvPr/>
        </p:nvSpPr>
        <p:spPr>
          <a:xfrm>
            <a:off x="6637950" y="3240053"/>
            <a:ext cx="1222310" cy="66714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050"/>
              <a:t>Lc input</a:t>
            </a:r>
            <a:endParaRPr lang="zh-CN" altLang="en-US" sz="105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B05BD4-D126-E452-A2DF-E4ADBF9548B1}"/>
              </a:ext>
            </a:extLst>
          </p:cNvPr>
          <p:cNvCxnSpPr>
            <a:cxnSpLocks/>
          </p:cNvCxnSpPr>
          <p:nvPr/>
        </p:nvCxnSpPr>
        <p:spPr>
          <a:xfrm flipV="1">
            <a:off x="108856" y="3582765"/>
            <a:ext cx="6529094" cy="99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E117DE-DF9F-B930-B46D-062957B3BE8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813961" y="2321542"/>
            <a:ext cx="900400" cy="63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D5378EA-99BC-8F28-1903-0E390B2CC427}"/>
              </a:ext>
            </a:extLst>
          </p:cNvPr>
          <p:cNvSpPr txBox="1"/>
          <p:nvPr/>
        </p:nvSpPr>
        <p:spPr>
          <a:xfrm>
            <a:off x="6894155" y="2478966"/>
            <a:ext cx="2089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LcMon.BrakeTempLevel_u8</a:t>
            </a:r>
            <a:endParaRPr lang="zh-CN" altLang="en-US"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FA47C2-F0F7-E581-EC3C-073FE9A18D7B}"/>
              </a:ext>
            </a:extLst>
          </p:cNvPr>
          <p:cNvSpPr txBox="1"/>
          <p:nvPr/>
        </p:nvSpPr>
        <p:spPr>
          <a:xfrm>
            <a:off x="10024963" y="2327911"/>
            <a:ext cx="2866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LcSysState.SystemState_u8</a:t>
            </a:r>
            <a:endParaRPr lang="zh-CN" altLang="en-US" sz="12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09864A-C9B9-28BE-9559-01B8C1485D0D}"/>
              </a:ext>
            </a:extLst>
          </p:cNvPr>
          <p:cNvCxnSpPr>
            <a:cxnSpLocks/>
            <a:stCxn id="28" idx="2"/>
            <a:endCxn id="34" idx="0"/>
          </p:cNvCxnSpPr>
          <p:nvPr/>
        </p:nvCxnSpPr>
        <p:spPr>
          <a:xfrm>
            <a:off x="9481456" y="2172941"/>
            <a:ext cx="1114618" cy="7533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9274833-96D1-7545-786B-B5766F2F0D17}"/>
              </a:ext>
            </a:extLst>
          </p:cNvPr>
          <p:cNvSpPr/>
          <p:nvPr/>
        </p:nvSpPr>
        <p:spPr>
          <a:xfrm>
            <a:off x="8327571" y="947767"/>
            <a:ext cx="2307770" cy="122517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altLang="zh-CN" sz="1200"/>
              <a:t>Lc </a:t>
            </a:r>
            <a:r>
              <a:rPr lang="en-US" altLang="zh-CN" sz="1200" err="1"/>
              <a:t>vzm</a:t>
            </a:r>
            <a:r>
              <a:rPr lang="en-US" altLang="zh-CN" sz="1200"/>
              <a:t> system state</a:t>
            </a:r>
            <a:endParaRPr lang="zh-CN" altLang="en-US" sz="12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4C5185-B037-F486-36B9-7463EC977379}"/>
              </a:ext>
            </a:extLst>
          </p:cNvPr>
          <p:cNvSpPr txBox="1"/>
          <p:nvPr/>
        </p:nvSpPr>
        <p:spPr>
          <a:xfrm>
            <a:off x="8327571" y="1517929"/>
            <a:ext cx="2205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Determine system state with brake temp level</a:t>
            </a:r>
            <a:endParaRPr lang="zh-CN" altLang="en-US" sz="120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09F83FD-4418-89D2-1728-08E34EA112C6}"/>
              </a:ext>
            </a:extLst>
          </p:cNvPr>
          <p:cNvSpPr/>
          <p:nvPr/>
        </p:nvSpPr>
        <p:spPr>
          <a:xfrm>
            <a:off x="8155729" y="2976468"/>
            <a:ext cx="1222310" cy="119022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altLang="zh-CN" sz="1200"/>
              <a:t>Lc Monitoring</a:t>
            </a:r>
            <a:endParaRPr lang="zh-CN" altLang="en-US" sz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0516FD-2404-8156-1F49-122A2F30BC64}"/>
              </a:ext>
            </a:extLst>
          </p:cNvPr>
          <p:cNvSpPr txBox="1"/>
          <p:nvPr/>
        </p:nvSpPr>
        <p:spPr>
          <a:xfrm>
            <a:off x="9846903" y="3340272"/>
            <a:ext cx="1404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Ramp down I part of deceleration PID control</a:t>
            </a:r>
            <a:endParaRPr lang="zh-CN" alt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4CB07C-FCAB-EFA2-AA77-841A08A160E6}"/>
              </a:ext>
            </a:extLst>
          </p:cNvPr>
          <p:cNvSpPr txBox="1"/>
          <p:nvPr/>
        </p:nvSpPr>
        <p:spPr>
          <a:xfrm>
            <a:off x="919" y="-23696"/>
            <a:ext cx="5691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The system shall warning the driver to take over control for a certain time before </a:t>
            </a:r>
            <a:r>
              <a:rPr lang="en-US" altLang="zh-CN" sz="1400" err="1"/>
              <a:t>rampdown</a:t>
            </a:r>
            <a:r>
              <a:rPr lang="en-US" altLang="zh-CN" sz="1400"/>
              <a:t> the brake</a:t>
            </a:r>
            <a:endParaRPr lang="zh-CN" altLang="en-US" sz="14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BBFC85-2E82-8809-BFA1-26F75524C464}"/>
              </a:ext>
            </a:extLst>
          </p:cNvPr>
          <p:cNvCxnSpPr>
            <a:cxnSpLocks/>
          </p:cNvCxnSpPr>
          <p:nvPr/>
        </p:nvCxnSpPr>
        <p:spPr>
          <a:xfrm flipV="1">
            <a:off x="989045" y="1488042"/>
            <a:ext cx="0" cy="20855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41E039-96E5-CF0D-A476-9231679A5656}"/>
              </a:ext>
            </a:extLst>
          </p:cNvPr>
          <p:cNvCxnSpPr>
            <a:cxnSpLocks/>
          </p:cNvCxnSpPr>
          <p:nvPr/>
        </p:nvCxnSpPr>
        <p:spPr>
          <a:xfrm>
            <a:off x="989045" y="1488042"/>
            <a:ext cx="118498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2FD6D32-3C6A-3F4D-25F8-E70A5344E2E9}"/>
              </a:ext>
            </a:extLst>
          </p:cNvPr>
          <p:cNvSpPr txBox="1"/>
          <p:nvPr/>
        </p:nvSpPr>
        <p:spPr>
          <a:xfrm>
            <a:off x="149290" y="3755771"/>
            <a:ext cx="2223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Brake disc temperature</a:t>
            </a:r>
            <a:endParaRPr lang="zh-CN" altLang="en-US" sz="120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2448EC3-4CAE-1E5C-0E68-39BA2256105F}"/>
              </a:ext>
            </a:extLst>
          </p:cNvPr>
          <p:cNvCxnSpPr>
            <a:cxnSpLocks/>
            <a:stCxn id="11" idx="3"/>
            <a:endCxn id="30" idx="1"/>
          </p:cNvCxnSpPr>
          <p:nvPr/>
        </p:nvCxnSpPr>
        <p:spPr>
          <a:xfrm flipV="1">
            <a:off x="7860260" y="3571579"/>
            <a:ext cx="295469" cy="20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4B4B057-D3BF-4B0C-A517-A5BE38BFC155}"/>
              </a:ext>
            </a:extLst>
          </p:cNvPr>
          <p:cNvSpPr txBox="1"/>
          <p:nvPr/>
        </p:nvSpPr>
        <p:spPr>
          <a:xfrm>
            <a:off x="8198881" y="3429768"/>
            <a:ext cx="1019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Take max temp of 4 disc</a:t>
            </a:r>
            <a:endParaRPr lang="zh-CN" altLang="en-US" sz="120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B54B261-6F07-6E84-D8A0-892A4497D71A}"/>
              </a:ext>
            </a:extLst>
          </p:cNvPr>
          <p:cNvCxnSpPr>
            <a:cxnSpLocks/>
          </p:cNvCxnSpPr>
          <p:nvPr/>
        </p:nvCxnSpPr>
        <p:spPr>
          <a:xfrm flipV="1">
            <a:off x="8766884" y="2172941"/>
            <a:ext cx="0" cy="8035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A3338F6-F0F0-A5CC-F072-20FE08FE5A48}"/>
              </a:ext>
            </a:extLst>
          </p:cNvPr>
          <p:cNvSpPr txBox="1"/>
          <p:nvPr/>
        </p:nvSpPr>
        <p:spPr>
          <a:xfrm>
            <a:off x="9368712" y="4085618"/>
            <a:ext cx="2089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err="1"/>
              <a:t>LcControl.I_Gain</a:t>
            </a:r>
            <a:endParaRPr lang="zh-CN" altLang="en-US" sz="120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7DFA0E4-8B1C-DEC1-F81D-F555E77039B7}"/>
              </a:ext>
            </a:extLst>
          </p:cNvPr>
          <p:cNvCxnSpPr>
            <a:cxnSpLocks/>
            <a:stCxn id="61" idx="2"/>
            <a:endCxn id="66" idx="0"/>
          </p:cNvCxnSpPr>
          <p:nvPr/>
        </p:nvCxnSpPr>
        <p:spPr>
          <a:xfrm>
            <a:off x="10547868" y="4032770"/>
            <a:ext cx="13990" cy="382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C6FE6C1-7733-8F1F-3E2D-E54ACE976114}"/>
              </a:ext>
            </a:extLst>
          </p:cNvPr>
          <p:cNvSpPr txBox="1"/>
          <p:nvPr/>
        </p:nvSpPr>
        <p:spPr>
          <a:xfrm>
            <a:off x="7432996" y="4487393"/>
            <a:ext cx="20074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/>
              <a:t>LcControl.ControlOutput_s16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E942333-7201-4B3A-4611-D0B35ACCC788}"/>
              </a:ext>
            </a:extLst>
          </p:cNvPr>
          <p:cNvSpPr/>
          <p:nvPr/>
        </p:nvSpPr>
        <p:spPr>
          <a:xfrm>
            <a:off x="9906770" y="4415670"/>
            <a:ext cx="1310175" cy="48083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zh-CN" altLang="en-US" sz="105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8466FB-79A2-284A-2B1B-B187BD14442B}"/>
              </a:ext>
            </a:extLst>
          </p:cNvPr>
          <p:cNvSpPr txBox="1"/>
          <p:nvPr/>
        </p:nvSpPr>
        <p:spPr>
          <a:xfrm>
            <a:off x="10105820" y="4545216"/>
            <a:ext cx="1005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PID control</a:t>
            </a:r>
            <a:endParaRPr lang="zh-CN" altLang="en-US" sz="120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6201572-1D2D-F295-F3C0-AC88DE77DA02}"/>
              </a:ext>
            </a:extLst>
          </p:cNvPr>
          <p:cNvCxnSpPr>
            <a:cxnSpLocks/>
            <a:endCxn id="86" idx="0"/>
          </p:cNvCxnSpPr>
          <p:nvPr/>
        </p:nvCxnSpPr>
        <p:spPr>
          <a:xfrm flipH="1">
            <a:off x="8401825" y="4656087"/>
            <a:ext cx="1535939" cy="269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2F5589B-B065-507E-C3FB-2F6677C9CDBF}"/>
              </a:ext>
            </a:extLst>
          </p:cNvPr>
          <p:cNvSpPr txBox="1"/>
          <p:nvPr/>
        </p:nvSpPr>
        <p:spPr>
          <a:xfrm>
            <a:off x="5997734" y="5053919"/>
            <a:ext cx="20441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/>
              <a:t>LcState.DarbDecelReq_s16</a:t>
            </a:r>
            <a:endParaRPr lang="zh-CN" altLang="en-US" sz="1100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623B0F49-1CCC-9BD1-BDE7-9AA27F764D9C}"/>
              </a:ext>
            </a:extLst>
          </p:cNvPr>
          <p:cNvSpPr/>
          <p:nvPr/>
        </p:nvSpPr>
        <p:spPr>
          <a:xfrm>
            <a:off x="7790670" y="4925760"/>
            <a:ext cx="1222310" cy="84899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altLang="zh-CN" sz="1200"/>
              <a:t>Lc state</a:t>
            </a:r>
            <a:endParaRPr lang="zh-CN" altLang="en-US" sz="12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8D598DD-623D-7D62-906A-EA8FA26C4AF2}"/>
              </a:ext>
            </a:extLst>
          </p:cNvPr>
          <p:cNvSpPr txBox="1"/>
          <p:nvPr/>
        </p:nvSpPr>
        <p:spPr>
          <a:xfrm>
            <a:off x="7860260" y="5185877"/>
            <a:ext cx="1175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Arbitration on deceleration request</a:t>
            </a:r>
            <a:endParaRPr lang="zh-CN" altLang="en-US" sz="1200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21AF2CB-61A7-BEC4-59BC-D3033889E34F}"/>
              </a:ext>
            </a:extLst>
          </p:cNvPr>
          <p:cNvCxnSpPr>
            <a:cxnSpLocks/>
          </p:cNvCxnSpPr>
          <p:nvPr/>
        </p:nvCxnSpPr>
        <p:spPr>
          <a:xfrm flipH="1">
            <a:off x="5949529" y="5350255"/>
            <a:ext cx="18109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6030B3A6-F217-4C7B-F94C-39506402AACC}"/>
              </a:ext>
            </a:extLst>
          </p:cNvPr>
          <p:cNvSpPr/>
          <p:nvPr/>
        </p:nvSpPr>
        <p:spPr>
          <a:xfrm>
            <a:off x="4978464" y="5107400"/>
            <a:ext cx="968732" cy="39859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altLang="zh-CN" sz="1200"/>
              <a:t>Lc Monitoring</a:t>
            </a:r>
            <a:endParaRPr lang="zh-CN" altLang="en-US" sz="1200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1F643F75-A0B5-5DC7-6C34-CA7C22898661}"/>
              </a:ext>
            </a:extLst>
          </p:cNvPr>
          <p:cNvSpPr/>
          <p:nvPr/>
        </p:nvSpPr>
        <p:spPr>
          <a:xfrm>
            <a:off x="5560264" y="6139978"/>
            <a:ext cx="1688841" cy="4574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altLang="zh-CN" sz="1200"/>
              <a:t>Lc force to pressure</a:t>
            </a:r>
            <a:endParaRPr lang="zh-CN" altLang="en-US" sz="120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95D669A-C9DC-1F61-9DCA-4D7FA7AD5AD0}"/>
              </a:ext>
            </a:extLst>
          </p:cNvPr>
          <p:cNvCxnSpPr>
            <a:cxnSpLocks/>
            <a:stCxn id="95" idx="2"/>
            <a:endCxn id="96" idx="0"/>
          </p:cNvCxnSpPr>
          <p:nvPr/>
        </p:nvCxnSpPr>
        <p:spPr>
          <a:xfrm>
            <a:off x="5462830" y="5505999"/>
            <a:ext cx="941855" cy="6339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49117A97-A807-7D84-891F-3187647C2250}"/>
              </a:ext>
            </a:extLst>
          </p:cNvPr>
          <p:cNvSpPr txBox="1"/>
          <p:nvPr/>
        </p:nvSpPr>
        <p:spPr>
          <a:xfrm>
            <a:off x="4603586" y="7107860"/>
            <a:ext cx="157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Convert deceleration request to pressure request per wheel</a:t>
            </a:r>
            <a:endParaRPr lang="zh-CN" altLang="en-US" sz="12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4ED9ECA-F798-C4EA-EC57-07214CECB145}"/>
              </a:ext>
            </a:extLst>
          </p:cNvPr>
          <p:cNvSpPr txBox="1"/>
          <p:nvPr/>
        </p:nvSpPr>
        <p:spPr>
          <a:xfrm>
            <a:off x="4076845" y="5752784"/>
            <a:ext cx="2044181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/>
              <a:t>LcMon.ASILLimDecelReq_s16</a:t>
            </a:r>
            <a:endParaRPr lang="zh-CN" altLang="en-US" sz="110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9D51971-32B1-9766-5A16-2F5ECF2CA5D9}"/>
              </a:ext>
            </a:extLst>
          </p:cNvPr>
          <p:cNvSpPr txBox="1"/>
          <p:nvPr/>
        </p:nvSpPr>
        <p:spPr>
          <a:xfrm>
            <a:off x="7334342" y="6098565"/>
            <a:ext cx="17547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/>
              <a:t>LcFTP.LcPressReq_s16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0A6986D6-AD1E-EA52-D0E8-EA994B899D4E}"/>
              </a:ext>
            </a:extLst>
          </p:cNvPr>
          <p:cNvCxnSpPr>
            <a:cxnSpLocks/>
            <a:stCxn id="96" idx="3"/>
            <a:endCxn id="120" idx="1"/>
          </p:cNvCxnSpPr>
          <p:nvPr/>
        </p:nvCxnSpPr>
        <p:spPr>
          <a:xfrm flipV="1">
            <a:off x="7249105" y="6353463"/>
            <a:ext cx="1753378" cy="152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AFD4F10C-CADB-68BB-75E8-0B6478BD570F}"/>
              </a:ext>
            </a:extLst>
          </p:cNvPr>
          <p:cNvSpPr txBox="1"/>
          <p:nvPr/>
        </p:nvSpPr>
        <p:spPr>
          <a:xfrm>
            <a:off x="10105820" y="6098565"/>
            <a:ext cx="23278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/>
              <a:t>LcOut.LcPressReq_s16 per wheel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3C0EA0FB-6C04-0AD2-6A09-B3AC4C4AE638}"/>
              </a:ext>
            </a:extLst>
          </p:cNvPr>
          <p:cNvSpPr/>
          <p:nvPr/>
        </p:nvSpPr>
        <p:spPr>
          <a:xfrm>
            <a:off x="9002483" y="6124740"/>
            <a:ext cx="1016254" cy="4574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altLang="zh-CN" sz="1200"/>
              <a:t>Lc output</a:t>
            </a:r>
            <a:endParaRPr lang="zh-CN" altLang="en-US" sz="1200"/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E7577986-F922-458E-6105-D4513014DE88}"/>
              </a:ext>
            </a:extLst>
          </p:cNvPr>
          <p:cNvCxnSpPr>
            <a:cxnSpLocks/>
            <a:stCxn id="120" idx="3"/>
          </p:cNvCxnSpPr>
          <p:nvPr/>
        </p:nvCxnSpPr>
        <p:spPr>
          <a:xfrm>
            <a:off x="10018737" y="6353463"/>
            <a:ext cx="1953601" cy="152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81F1C3E-69A1-E371-EE09-3421633C36C6}"/>
              </a:ext>
            </a:extLst>
          </p:cNvPr>
          <p:cNvSpPr txBox="1"/>
          <p:nvPr/>
        </p:nvSpPr>
        <p:spPr>
          <a:xfrm>
            <a:off x="11392291" y="3797357"/>
            <a:ext cx="22495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rgbClr val="FF0000"/>
                </a:solidFill>
              </a:rPr>
              <a:t>The brake torque delay effect is achieved with </a:t>
            </a:r>
            <a:r>
              <a:rPr lang="en-US" altLang="zh-CN" sz="1400" err="1">
                <a:solidFill>
                  <a:srgbClr val="FF0000"/>
                </a:solidFill>
              </a:rPr>
              <a:t>rampdown</a:t>
            </a:r>
            <a:r>
              <a:rPr lang="en-US" altLang="zh-CN" sz="1400">
                <a:solidFill>
                  <a:srgbClr val="FF0000"/>
                </a:solidFill>
              </a:rPr>
              <a:t> I gain</a:t>
            </a:r>
            <a:endParaRPr lang="zh-CN" alt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95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DECD71-A736-8D67-DA4A-76C421319A6B}"/>
              </a:ext>
            </a:extLst>
          </p:cNvPr>
          <p:cNvSpPr/>
          <p:nvPr/>
        </p:nvSpPr>
        <p:spPr>
          <a:xfrm>
            <a:off x="270588" y="242595"/>
            <a:ext cx="5626359" cy="3424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/>
              <a:t>CC</a:t>
            </a:r>
          </a:p>
          <a:p>
            <a:pPr algn="ctr"/>
            <a:r>
              <a:rPr lang="en-US" altLang="zh-CN" sz="1200"/>
              <a:t>(</a:t>
            </a:r>
            <a:r>
              <a:rPr lang="en-US" altLang="zh-CN" sz="1200" err="1"/>
              <a:t>CruiseControl</a:t>
            </a:r>
            <a:r>
              <a:rPr lang="zh-CN" altLang="en-US" sz="1200"/>
              <a:t>，</a:t>
            </a:r>
            <a:r>
              <a:rPr lang="en-US" altLang="zh-CN" sz="1200"/>
              <a:t>HDC feature included)</a:t>
            </a:r>
            <a:endParaRPr lang="zh-CN" altLang="en-US" sz="12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F0F445-FE48-C7B3-6BD0-46182FBC6017}"/>
              </a:ext>
            </a:extLst>
          </p:cNvPr>
          <p:cNvSpPr/>
          <p:nvPr/>
        </p:nvSpPr>
        <p:spPr>
          <a:xfrm>
            <a:off x="432189" y="976827"/>
            <a:ext cx="5253134" cy="256880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/>
              <a:t>Cc </a:t>
            </a:r>
            <a:r>
              <a:rPr lang="en-US" altLang="zh-CN" sz="1200" err="1"/>
              <a:t>state.c</a:t>
            </a:r>
            <a:endParaRPr lang="zh-CN" alt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D8F00D-F3AE-1472-5F73-32D9A291A6AB}"/>
              </a:ext>
            </a:extLst>
          </p:cNvPr>
          <p:cNvSpPr/>
          <p:nvPr/>
        </p:nvSpPr>
        <p:spPr>
          <a:xfrm>
            <a:off x="1869103" y="1576873"/>
            <a:ext cx="1086209" cy="4620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/>
              <a:t>HDC Active</a:t>
            </a:r>
            <a:endParaRPr lang="zh-CN" altLang="en-US" sz="10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6D3213-00F9-3EC3-CF02-AF388AB05B5D}"/>
              </a:ext>
            </a:extLst>
          </p:cNvPr>
          <p:cNvSpPr/>
          <p:nvPr/>
        </p:nvSpPr>
        <p:spPr>
          <a:xfrm>
            <a:off x="957813" y="2891045"/>
            <a:ext cx="1086209" cy="4620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/>
              <a:t>Passive</a:t>
            </a:r>
            <a:endParaRPr lang="zh-CN" altLang="en-US" sz="11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DDF16C-890B-57D5-5405-6041883F4DD6}"/>
              </a:ext>
            </a:extLst>
          </p:cNvPr>
          <p:cNvSpPr/>
          <p:nvPr/>
        </p:nvSpPr>
        <p:spPr>
          <a:xfrm>
            <a:off x="3733078" y="2876328"/>
            <a:ext cx="1086209" cy="4620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Reset</a:t>
            </a:r>
            <a:endParaRPr lang="zh-CN" altLang="en-US" sz="120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1C4443-6035-94AD-92D2-085772FA6188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2049624" y="2038901"/>
            <a:ext cx="362584" cy="1188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E93266-65AE-DA63-0309-F3F3B0BBF485}"/>
              </a:ext>
            </a:extLst>
          </p:cNvPr>
          <p:cNvCxnSpPr>
            <a:stCxn id="7" idx="0"/>
            <a:endCxn id="6" idx="1"/>
          </p:cNvCxnSpPr>
          <p:nvPr/>
        </p:nvCxnSpPr>
        <p:spPr>
          <a:xfrm flipV="1">
            <a:off x="1500918" y="1807887"/>
            <a:ext cx="368185" cy="1083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DCBEAD8-960D-F829-3214-58BC4C8E1716}"/>
              </a:ext>
            </a:extLst>
          </p:cNvPr>
          <p:cNvSpPr txBox="1"/>
          <p:nvPr/>
        </p:nvSpPr>
        <p:spPr>
          <a:xfrm>
            <a:off x="270588" y="2614702"/>
            <a:ext cx="16042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err="1"/>
              <a:t>IsCcActiveStateRequested</a:t>
            </a:r>
            <a:endParaRPr lang="zh-CN" altLang="en-US" sz="1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F3A89A-721A-9062-22C8-222127B2D1A2}"/>
              </a:ext>
            </a:extLst>
          </p:cNvPr>
          <p:cNvSpPr txBox="1"/>
          <p:nvPr/>
        </p:nvSpPr>
        <p:spPr>
          <a:xfrm>
            <a:off x="1662984" y="2323640"/>
            <a:ext cx="1665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err="1"/>
              <a:t>IsCcPassiveStateRequested</a:t>
            </a:r>
            <a:endParaRPr lang="zh-CN" altLang="en-US" sz="100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F1FF4B-5A29-3F91-B634-EB06A990A4D9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>
            <a:off x="2955312" y="1807887"/>
            <a:ext cx="1320871" cy="1068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5DA488E-E18F-6523-72A4-D557EAD55FA2}"/>
              </a:ext>
            </a:extLst>
          </p:cNvPr>
          <p:cNvSpPr txBox="1"/>
          <p:nvPr/>
        </p:nvSpPr>
        <p:spPr>
          <a:xfrm>
            <a:off x="2951453" y="1879344"/>
            <a:ext cx="15688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err="1"/>
              <a:t>IsCcResetStateRequested</a:t>
            </a:r>
            <a:endParaRPr lang="zh-CN" altLang="en-US" sz="100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B49BB06-FEB3-C62E-06F8-5462E31BC636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>
            <a:off x="2044022" y="3107342"/>
            <a:ext cx="1689056" cy="14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C2D2A3D-70B9-F6DE-691C-7E7D099DCF30}"/>
              </a:ext>
            </a:extLst>
          </p:cNvPr>
          <p:cNvSpPr txBox="1"/>
          <p:nvPr/>
        </p:nvSpPr>
        <p:spPr>
          <a:xfrm>
            <a:off x="2033943" y="3212231"/>
            <a:ext cx="1665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err="1"/>
              <a:t>IsCcPassiveStateRequested</a:t>
            </a:r>
            <a:endParaRPr lang="zh-CN" altLang="en-US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219FFD-D755-FF3C-966F-2A04EDD3BD6B}"/>
              </a:ext>
            </a:extLst>
          </p:cNvPr>
          <p:cNvSpPr txBox="1"/>
          <p:nvPr/>
        </p:nvSpPr>
        <p:spPr>
          <a:xfrm>
            <a:off x="3606744" y="1304976"/>
            <a:ext cx="1967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err="1">
                <a:solidFill>
                  <a:srgbClr val="FF0000"/>
                </a:solidFill>
              </a:rPr>
              <a:t>CcStat.u.Flg.BrakeDiscTempHigh</a:t>
            </a:r>
            <a:endParaRPr lang="zh-CN" altLang="en-US" sz="100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98A3548-1DF2-D9FA-D37C-7909B9C88EF6}"/>
              </a:ext>
            </a:extLst>
          </p:cNvPr>
          <p:cNvCxnSpPr>
            <a:endCxn id="20" idx="0"/>
          </p:cNvCxnSpPr>
          <p:nvPr/>
        </p:nvCxnSpPr>
        <p:spPr>
          <a:xfrm flipH="1">
            <a:off x="3735864" y="1558158"/>
            <a:ext cx="876439" cy="321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2FC729E4-4BC1-4C20-9C01-83E15A5055CD}"/>
              </a:ext>
            </a:extLst>
          </p:cNvPr>
          <p:cNvSpPr/>
          <p:nvPr/>
        </p:nvSpPr>
        <p:spPr>
          <a:xfrm>
            <a:off x="5685324" y="1576873"/>
            <a:ext cx="1436914" cy="1010719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err="1"/>
              <a:t>GetCcState</a:t>
            </a:r>
            <a:endParaRPr lang="zh-CN" altLang="en-US" sz="12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807AEA-0B39-1F34-4B86-083AA14F60A4}"/>
              </a:ext>
            </a:extLst>
          </p:cNvPr>
          <p:cNvSpPr txBox="1"/>
          <p:nvPr/>
        </p:nvSpPr>
        <p:spPr>
          <a:xfrm>
            <a:off x="5786863" y="2062030"/>
            <a:ext cx="1881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/>
              <a:t>CcOut.State_u8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D5BF1AD-98FC-9716-31D5-29C532AF8428}"/>
              </a:ext>
            </a:extLst>
          </p:cNvPr>
          <p:cNvSpPr/>
          <p:nvPr/>
        </p:nvSpPr>
        <p:spPr>
          <a:xfrm>
            <a:off x="7126322" y="242595"/>
            <a:ext cx="4637575" cy="634465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2000"/>
              <a:t>lc</a:t>
            </a:r>
            <a:endParaRPr lang="zh-CN" altLang="en-US" sz="120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15F40F8-2672-F8C2-A3DD-3D949506BFFE}"/>
              </a:ext>
            </a:extLst>
          </p:cNvPr>
          <p:cNvCxnSpPr>
            <a:cxnSpLocks/>
          </p:cNvCxnSpPr>
          <p:nvPr/>
        </p:nvCxnSpPr>
        <p:spPr>
          <a:xfrm>
            <a:off x="6895322" y="2202024"/>
            <a:ext cx="154888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8B06361-E99D-72AC-FAFE-78A5E7C2EA42}"/>
              </a:ext>
            </a:extLst>
          </p:cNvPr>
          <p:cNvSpPr txBox="1"/>
          <p:nvPr/>
        </p:nvSpPr>
        <p:spPr>
          <a:xfrm>
            <a:off x="7153858" y="1954763"/>
            <a:ext cx="1881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/>
              <a:t>LcIn.HDC_State_u8</a:t>
            </a:r>
            <a:endParaRPr lang="zh-CN" altLang="en-US" sz="110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EF2EE8E-1DCA-B743-8A4F-FDED3900853F}"/>
              </a:ext>
            </a:extLst>
          </p:cNvPr>
          <p:cNvSpPr/>
          <p:nvPr/>
        </p:nvSpPr>
        <p:spPr>
          <a:xfrm>
            <a:off x="8447184" y="1859264"/>
            <a:ext cx="588132" cy="66714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050"/>
              <a:t>Lc input</a:t>
            </a:r>
            <a:endParaRPr lang="zh-CN" altLang="en-US" sz="105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9FF323D-F57C-A9D4-02A6-87C13CDEAB24}"/>
              </a:ext>
            </a:extLst>
          </p:cNvPr>
          <p:cNvCxnSpPr>
            <a:cxnSpLocks/>
            <a:stCxn id="39" idx="3"/>
            <a:endCxn id="45" idx="1"/>
          </p:cNvCxnSpPr>
          <p:nvPr/>
        </p:nvCxnSpPr>
        <p:spPr>
          <a:xfrm>
            <a:off x="9035316" y="2192835"/>
            <a:ext cx="109133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4B47072-6B97-F4FE-056A-875AD7E0F094}"/>
              </a:ext>
            </a:extLst>
          </p:cNvPr>
          <p:cNvSpPr txBox="1"/>
          <p:nvPr/>
        </p:nvSpPr>
        <p:spPr>
          <a:xfrm>
            <a:off x="9034560" y="1895245"/>
            <a:ext cx="14369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/>
              <a:t>Lc_Spd.State_u8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43B6F24-AB33-AACA-C7FF-FBE3A76C8FCC}"/>
              </a:ext>
            </a:extLst>
          </p:cNvPr>
          <p:cNvSpPr/>
          <p:nvPr/>
        </p:nvSpPr>
        <p:spPr>
          <a:xfrm>
            <a:off x="10126651" y="1859264"/>
            <a:ext cx="1266028" cy="66714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050"/>
              <a:t>Lc speed control</a:t>
            </a:r>
            <a:endParaRPr lang="zh-CN" altLang="en-US" sz="105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A531A8A-42C5-E95B-BB22-0FF9F428B791}"/>
              </a:ext>
            </a:extLst>
          </p:cNvPr>
          <p:cNvCxnSpPr>
            <a:cxnSpLocks/>
            <a:stCxn id="45" idx="2"/>
            <a:endCxn id="55" idx="0"/>
          </p:cNvCxnSpPr>
          <p:nvPr/>
        </p:nvCxnSpPr>
        <p:spPr>
          <a:xfrm>
            <a:off x="10759665" y="2526406"/>
            <a:ext cx="0" cy="6509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F4610A-1303-634E-02DB-C4E4EBD7F63B}"/>
              </a:ext>
            </a:extLst>
          </p:cNvPr>
          <p:cNvSpPr txBox="1"/>
          <p:nvPr/>
        </p:nvSpPr>
        <p:spPr>
          <a:xfrm>
            <a:off x="8787360" y="2632924"/>
            <a:ext cx="24413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/>
              <a:t>Lc_SpdCtrl.ControlOutput_s16</a:t>
            </a:r>
            <a:endParaRPr lang="zh-CN" altLang="en-US" sz="110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3644D84-2A35-206F-7439-A8848720C8D6}"/>
              </a:ext>
            </a:extLst>
          </p:cNvPr>
          <p:cNvSpPr/>
          <p:nvPr/>
        </p:nvSpPr>
        <p:spPr>
          <a:xfrm>
            <a:off x="10148510" y="3177337"/>
            <a:ext cx="1222310" cy="84899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altLang="zh-CN" sz="1200"/>
              <a:t>Lc state</a:t>
            </a:r>
            <a:endParaRPr lang="zh-CN" altLang="en-US" sz="120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A09E95B-5AAD-3284-AE93-0DB27BA98F84}"/>
              </a:ext>
            </a:extLst>
          </p:cNvPr>
          <p:cNvSpPr/>
          <p:nvPr/>
        </p:nvSpPr>
        <p:spPr>
          <a:xfrm>
            <a:off x="10148510" y="4309131"/>
            <a:ext cx="1222310" cy="39859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altLang="zh-CN" sz="1200"/>
              <a:t>Lc Monitoring</a:t>
            </a:r>
            <a:endParaRPr lang="zh-CN" altLang="en-US" sz="120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1316AA3-08F1-E621-BA2F-CA452BB339C5}"/>
              </a:ext>
            </a:extLst>
          </p:cNvPr>
          <p:cNvCxnSpPr>
            <a:cxnSpLocks/>
            <a:stCxn id="55" idx="2"/>
            <a:endCxn id="60" idx="0"/>
          </p:cNvCxnSpPr>
          <p:nvPr/>
        </p:nvCxnSpPr>
        <p:spPr>
          <a:xfrm>
            <a:off x="10759665" y="4026328"/>
            <a:ext cx="0" cy="2828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12AD763-85C2-5509-AB2F-C49128E31D6D}"/>
              </a:ext>
            </a:extLst>
          </p:cNvPr>
          <p:cNvSpPr txBox="1"/>
          <p:nvPr/>
        </p:nvSpPr>
        <p:spPr>
          <a:xfrm>
            <a:off x="8782706" y="4025664"/>
            <a:ext cx="21605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/>
              <a:t>LcState.DarbDecelReq_s16</a:t>
            </a:r>
            <a:endParaRPr lang="zh-CN" altLang="en-US" sz="11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2240DB-913E-5DE7-3AB2-A5A3548810F8}"/>
              </a:ext>
            </a:extLst>
          </p:cNvPr>
          <p:cNvSpPr txBox="1"/>
          <p:nvPr/>
        </p:nvSpPr>
        <p:spPr>
          <a:xfrm>
            <a:off x="8757514" y="4733692"/>
            <a:ext cx="23154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/>
              <a:t>LcMon.ASILLimDecelReq_s16</a:t>
            </a:r>
            <a:endParaRPr lang="zh-CN" altLang="en-US" sz="1100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55FF803-ECA0-6E81-1D63-F54E95FAE222}"/>
              </a:ext>
            </a:extLst>
          </p:cNvPr>
          <p:cNvSpPr/>
          <p:nvPr/>
        </p:nvSpPr>
        <p:spPr>
          <a:xfrm>
            <a:off x="9915244" y="5093982"/>
            <a:ext cx="1688841" cy="4574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altLang="zh-CN" sz="1200"/>
              <a:t>Lc force to pressure</a:t>
            </a:r>
            <a:endParaRPr lang="zh-CN" altLang="en-US" sz="120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3D228A7-035E-1CE1-4491-409ACE41272C}"/>
              </a:ext>
            </a:extLst>
          </p:cNvPr>
          <p:cNvCxnSpPr>
            <a:cxnSpLocks/>
            <a:stCxn id="60" idx="2"/>
            <a:endCxn id="66" idx="0"/>
          </p:cNvCxnSpPr>
          <p:nvPr/>
        </p:nvCxnSpPr>
        <p:spPr>
          <a:xfrm>
            <a:off x="10759665" y="4707730"/>
            <a:ext cx="0" cy="3862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242EA78C-762E-2608-560F-3E2C41BD16AD}"/>
              </a:ext>
            </a:extLst>
          </p:cNvPr>
          <p:cNvSpPr/>
          <p:nvPr/>
        </p:nvSpPr>
        <p:spPr>
          <a:xfrm>
            <a:off x="10251537" y="5775384"/>
            <a:ext cx="1016254" cy="4574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altLang="zh-CN" sz="1200"/>
              <a:t>Lc output</a:t>
            </a:r>
            <a:endParaRPr lang="zh-CN" altLang="en-US" sz="120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526B059-BB94-F553-AF46-25CEB9AB218E}"/>
              </a:ext>
            </a:extLst>
          </p:cNvPr>
          <p:cNvCxnSpPr>
            <a:cxnSpLocks/>
            <a:stCxn id="66" idx="2"/>
            <a:endCxn id="71" idx="0"/>
          </p:cNvCxnSpPr>
          <p:nvPr/>
        </p:nvCxnSpPr>
        <p:spPr>
          <a:xfrm flipH="1">
            <a:off x="10759664" y="5551428"/>
            <a:ext cx="1" cy="2239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F616B86C-3505-001E-61CD-7651E79F0123}"/>
              </a:ext>
            </a:extLst>
          </p:cNvPr>
          <p:cNvSpPr txBox="1"/>
          <p:nvPr/>
        </p:nvSpPr>
        <p:spPr>
          <a:xfrm>
            <a:off x="8916481" y="5566095"/>
            <a:ext cx="17547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/>
              <a:t>LcFTP.LcPressReq_s16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B678F75-0BF3-A142-C098-AB2697BB01D1}"/>
              </a:ext>
            </a:extLst>
          </p:cNvPr>
          <p:cNvCxnSpPr>
            <a:cxnSpLocks/>
            <a:stCxn id="71" idx="1"/>
          </p:cNvCxnSpPr>
          <p:nvPr/>
        </p:nvCxnSpPr>
        <p:spPr>
          <a:xfrm flipH="1">
            <a:off x="6210947" y="6004107"/>
            <a:ext cx="404059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4A33229-197C-FFB2-AE9F-0456344B38A8}"/>
              </a:ext>
            </a:extLst>
          </p:cNvPr>
          <p:cNvSpPr txBox="1"/>
          <p:nvPr/>
        </p:nvSpPr>
        <p:spPr>
          <a:xfrm>
            <a:off x="4819287" y="5694074"/>
            <a:ext cx="23278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/>
              <a:t>LcOut.LcPressReq_s16 per wheel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21E1BB-81C1-F744-4C2A-2C53C8ED693B}"/>
              </a:ext>
            </a:extLst>
          </p:cNvPr>
          <p:cNvSpPr txBox="1"/>
          <p:nvPr/>
        </p:nvSpPr>
        <p:spPr>
          <a:xfrm>
            <a:off x="601437" y="1083243"/>
            <a:ext cx="1954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>
                <a:solidFill>
                  <a:srgbClr val="FF0000"/>
                </a:solidFill>
              </a:rPr>
              <a:t>HDC state internally used</a:t>
            </a:r>
            <a:endParaRPr lang="zh-CN" altLang="en-US" sz="1200" b="1">
              <a:solidFill>
                <a:srgbClr val="FF000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7988B82-F05C-E383-BB7C-D4AE54267938}"/>
              </a:ext>
            </a:extLst>
          </p:cNvPr>
          <p:cNvSpPr txBox="1"/>
          <p:nvPr/>
        </p:nvSpPr>
        <p:spPr>
          <a:xfrm>
            <a:off x="4588832" y="486275"/>
            <a:ext cx="17741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rgbClr val="FF0000"/>
                </a:solidFill>
              </a:rPr>
              <a:t>Brake disc high temperature is considered in resetting HDC status</a:t>
            </a:r>
            <a:endParaRPr lang="zh-CN" altLang="en-US" sz="1200" b="1">
              <a:solidFill>
                <a:srgbClr val="FF0000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F2195E7-62A1-D049-AFD8-30F1CAA46B3C}"/>
              </a:ext>
            </a:extLst>
          </p:cNvPr>
          <p:cNvSpPr txBox="1"/>
          <p:nvPr/>
        </p:nvSpPr>
        <p:spPr>
          <a:xfrm>
            <a:off x="511644" y="3918409"/>
            <a:ext cx="57940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rgbClr val="FF0000"/>
                </a:solidFill>
              </a:rPr>
              <a:t>Current design is: in case of Brake disc high temperature already high, HDC can still be active then transit to reset status.</a:t>
            </a:r>
          </a:p>
          <a:p>
            <a:endParaRPr lang="en-US" altLang="zh-CN" sz="1200" b="1">
              <a:solidFill>
                <a:srgbClr val="FF0000"/>
              </a:solidFill>
            </a:endParaRPr>
          </a:p>
          <a:p>
            <a:r>
              <a:rPr lang="en-US" altLang="zh-CN" sz="1200" b="1">
                <a:solidFill>
                  <a:srgbClr val="FF0000"/>
                </a:solidFill>
              </a:rPr>
              <a:t>Shall we consider brake disc temperature in the HDC activation condition that, in case of brake disc temperature already overheat, HDC shall not be active.</a:t>
            </a:r>
            <a:endParaRPr lang="zh-CN" altLang="en-US" sz="1200" b="1">
              <a:solidFill>
                <a:srgbClr val="FF000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F21DD7E-3B2E-66EF-0360-E898159A3E77}"/>
              </a:ext>
            </a:extLst>
          </p:cNvPr>
          <p:cNvSpPr txBox="1"/>
          <p:nvPr/>
        </p:nvSpPr>
        <p:spPr>
          <a:xfrm>
            <a:off x="9886234" y="700397"/>
            <a:ext cx="2305766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>
                <a:solidFill>
                  <a:srgbClr val="FF0000"/>
                </a:solidFill>
              </a:rPr>
              <a:t>Normal deactivation would set output PID deceleration request to 0</a:t>
            </a:r>
            <a:endParaRPr lang="zh-CN" altLang="en-US" sz="1050">
              <a:solidFill>
                <a:srgbClr val="FF0000"/>
              </a:solidFill>
            </a:endParaRPr>
          </a:p>
          <a:p>
            <a:endParaRPr lang="en-US" altLang="zh-CN" sz="1050">
              <a:solidFill>
                <a:srgbClr val="FF0000"/>
              </a:solidFill>
            </a:endParaRPr>
          </a:p>
          <a:p>
            <a:r>
              <a:rPr lang="en-US" altLang="zh-CN" sz="1050">
                <a:solidFill>
                  <a:srgbClr val="FF0000"/>
                </a:solidFill>
              </a:rPr>
              <a:t>Brake disc high temperature would reset HDC state and </a:t>
            </a:r>
            <a:r>
              <a:rPr lang="en-US" altLang="zh-CN" sz="1050" err="1">
                <a:solidFill>
                  <a:srgbClr val="FF0000"/>
                </a:solidFill>
              </a:rPr>
              <a:t>rampdown</a:t>
            </a:r>
            <a:r>
              <a:rPr lang="en-US" altLang="zh-CN" sz="1050">
                <a:solidFill>
                  <a:srgbClr val="FF0000"/>
                </a:solidFill>
              </a:rPr>
              <a:t> PID deceleration request until it equal to 0</a:t>
            </a:r>
            <a:endParaRPr lang="zh-CN" altLang="en-US" sz="1050">
              <a:solidFill>
                <a:srgbClr val="FF00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738052A-F866-7E65-357F-7C77FE6967F2}"/>
              </a:ext>
            </a:extLst>
          </p:cNvPr>
          <p:cNvSpPr txBox="1"/>
          <p:nvPr/>
        </p:nvSpPr>
        <p:spPr>
          <a:xfrm>
            <a:off x="4340033" y="2506564"/>
            <a:ext cx="3754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>
                <a:solidFill>
                  <a:srgbClr val="FF0000"/>
                </a:solidFill>
              </a:rPr>
              <a:t>CcOut.MsgReqByHillDwnCtrl_u8 = HDC_TEMPERATURE_OFF_REQUIRED</a:t>
            </a:r>
          </a:p>
          <a:p>
            <a:r>
              <a:rPr lang="en-US" altLang="zh-CN" sz="900">
                <a:solidFill>
                  <a:srgbClr val="FF0000"/>
                </a:solidFill>
              </a:rPr>
              <a:t>Externally used</a:t>
            </a:r>
            <a:endParaRPr lang="zh-CN" altLang="en-US" sz="90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7C624B-36C9-99D3-5D96-3D4DF44319A9}"/>
              </a:ext>
            </a:extLst>
          </p:cNvPr>
          <p:cNvSpPr txBox="1"/>
          <p:nvPr/>
        </p:nvSpPr>
        <p:spPr>
          <a:xfrm>
            <a:off x="6362995" y="2832058"/>
            <a:ext cx="232784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4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LcIn</a:t>
            </a:r>
            <a:r>
              <a:rPr lang="en-US" altLang="zh-CN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4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HDC_State_u8</a:t>
            </a:r>
            <a:r>
              <a:rPr lang="en-US" altLang="zh-CN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                      </a:t>
            </a:r>
            <a:r>
              <a:rPr lang="en-US" altLang="zh-CN" sz="1400" b="0">
                <a:solidFill>
                  <a:srgbClr val="C792E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GetCcState</a:t>
            </a:r>
            <a:r>
              <a:rPr lang="en-US" altLang="zh-CN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293750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448A21-D9A5-8A1E-DF95-5B38F8D61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01" y="321172"/>
            <a:ext cx="11494597" cy="6215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7909C3-D54D-BFB5-E378-DDB8A5825C4D}"/>
              </a:ext>
            </a:extLst>
          </p:cNvPr>
          <p:cNvSpPr txBox="1"/>
          <p:nvPr/>
        </p:nvSpPr>
        <p:spPr>
          <a:xfrm>
            <a:off x="4878928" y="978536"/>
            <a:ext cx="5365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FF0000"/>
                </a:solidFill>
              </a:rPr>
              <a:t>Normal deactivation would set output PID deceleration request to 0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5FC60-4536-3589-C2CD-A33872F42015}"/>
              </a:ext>
            </a:extLst>
          </p:cNvPr>
          <p:cNvSpPr txBox="1"/>
          <p:nvPr/>
        </p:nvSpPr>
        <p:spPr>
          <a:xfrm>
            <a:off x="5304667" y="2817911"/>
            <a:ext cx="6538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rgbClr val="FF0000"/>
                </a:solidFill>
              </a:rPr>
              <a:t>Brake disc high temperature would reset HDC state and </a:t>
            </a:r>
            <a:r>
              <a:rPr lang="en-US" altLang="zh-CN" sz="1400" err="1">
                <a:solidFill>
                  <a:srgbClr val="FF0000"/>
                </a:solidFill>
              </a:rPr>
              <a:t>rampdown</a:t>
            </a:r>
            <a:r>
              <a:rPr lang="en-US" altLang="zh-CN" sz="1400">
                <a:solidFill>
                  <a:srgbClr val="FF0000"/>
                </a:solidFill>
              </a:rPr>
              <a:t> PID deceleration request until it equal to 0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E0F8D-FF68-447E-7E9D-4DAF3EE04B9B}"/>
              </a:ext>
            </a:extLst>
          </p:cNvPr>
          <p:cNvSpPr txBox="1"/>
          <p:nvPr/>
        </p:nvSpPr>
        <p:spPr>
          <a:xfrm>
            <a:off x="4129368" y="5571686"/>
            <a:ext cx="4916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FF0000"/>
                </a:solidFill>
              </a:rPr>
              <a:t>HDC active PID deceleration request would be normal output</a:t>
            </a:r>
            <a:endParaRPr lang="zh-CN" alt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982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B47469D-DE3C-FB30-C5EC-0EF0EB2041CD}"/>
              </a:ext>
            </a:extLst>
          </p:cNvPr>
          <p:cNvSpPr txBox="1"/>
          <p:nvPr/>
        </p:nvSpPr>
        <p:spPr>
          <a:xfrm>
            <a:off x="192024" y="208937"/>
            <a:ext cx="11265408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400" b="1" i="0">
                <a:effectLst/>
                <a:latin typeface="Segoe WPC"/>
              </a:rPr>
              <a:t>1. </a:t>
            </a:r>
            <a:r>
              <a:rPr lang="zh-CN" altLang="en-US" sz="1400" b="1" i="0">
                <a:effectLst/>
                <a:latin typeface="Segoe WPC"/>
              </a:rPr>
              <a:t>核心模块与流程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b="1" i="0">
                <a:effectLst/>
                <a:latin typeface="Segoe WPC"/>
              </a:rPr>
              <a:t>输入采集（</a:t>
            </a:r>
            <a:r>
              <a:rPr lang="en-US" altLang="zh-CN" sz="1200" b="1" i="0" err="1">
                <a:effectLst/>
                <a:latin typeface="Segoe WPC"/>
              </a:rPr>
              <a:t>cc_input.c</a:t>
            </a:r>
            <a:r>
              <a:rPr lang="en-US" altLang="zh-CN" sz="1200" b="1" i="0">
                <a:effectLst/>
                <a:latin typeface="Segoe WPC"/>
              </a:rPr>
              <a:t>/h</a:t>
            </a:r>
            <a:r>
              <a:rPr lang="zh-CN" altLang="en-US" sz="1200" b="1" i="0">
                <a:effectLst/>
                <a:latin typeface="Segoe WPC"/>
              </a:rPr>
              <a:t>）</a:t>
            </a:r>
            <a:endParaRPr lang="en-US" altLang="zh-CN" sz="1100" b="1">
              <a:latin typeface="Segoe WPC"/>
            </a:endParaRPr>
          </a:p>
          <a:p>
            <a:pPr lvl="1"/>
            <a:r>
              <a:rPr lang="zh-CN" altLang="en-US" sz="1100" i="0">
                <a:effectLst/>
                <a:latin typeface="Segoe WPC"/>
              </a:rPr>
              <a:t>采集车速、坡度、制动、油门、档位、</a:t>
            </a:r>
            <a:r>
              <a:rPr lang="en-US" altLang="zh-CN" sz="1100" i="0">
                <a:effectLst/>
                <a:latin typeface="Segoe WPC"/>
              </a:rPr>
              <a:t>ABS</a:t>
            </a:r>
            <a:r>
              <a:rPr lang="zh-CN" altLang="en-US" sz="1100" i="0">
                <a:effectLst/>
                <a:latin typeface="Segoe WPC"/>
              </a:rPr>
              <a:t>等信号，为</a:t>
            </a:r>
            <a:r>
              <a:rPr lang="en-US" altLang="zh-CN" sz="1100" i="0">
                <a:effectLst/>
                <a:latin typeface="Segoe WPC"/>
              </a:rPr>
              <a:t>HDC</a:t>
            </a:r>
            <a:r>
              <a:rPr lang="zh-CN" altLang="en-US" sz="1100" i="0">
                <a:effectLst/>
                <a:latin typeface="Segoe WPC"/>
              </a:rPr>
              <a:t>判据和控制提供基础数据。</a:t>
            </a:r>
            <a:endParaRPr lang="en-US" altLang="zh-CN" sz="1100" i="0">
              <a:effectLst/>
              <a:latin typeface="Segoe WPC"/>
            </a:endParaRPr>
          </a:p>
          <a:p>
            <a:pPr lvl="1"/>
            <a:endParaRPr lang="zh-CN" altLang="en-US" sz="1100" i="0"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1" i="0">
                <a:effectLst/>
                <a:latin typeface="Segoe WPC"/>
              </a:rPr>
              <a:t>状态机管理（</a:t>
            </a:r>
            <a:r>
              <a:rPr lang="en-US" altLang="zh-CN" sz="1200" b="1" i="0" err="1">
                <a:effectLst/>
                <a:latin typeface="Segoe WPC"/>
              </a:rPr>
              <a:t>cc_state.c</a:t>
            </a:r>
            <a:r>
              <a:rPr lang="en-US" altLang="zh-CN" sz="1200" b="1" i="0">
                <a:effectLst/>
                <a:latin typeface="Segoe WPC"/>
              </a:rPr>
              <a:t>/h</a:t>
            </a:r>
            <a:r>
              <a:rPr lang="zh-CN" altLang="en-US" sz="1200" b="1" i="0">
                <a:effectLst/>
                <a:latin typeface="Segoe WPC"/>
              </a:rPr>
              <a:t>）</a:t>
            </a:r>
            <a:endParaRPr lang="en-US" altLang="zh-CN" sz="1100" b="1">
              <a:latin typeface="Segoe WPC"/>
            </a:endParaRPr>
          </a:p>
          <a:p>
            <a:pPr lvl="1"/>
            <a:r>
              <a:rPr lang="zh-CN" altLang="en-US" sz="1100" i="0">
                <a:effectLst/>
                <a:latin typeface="Segoe WPC"/>
              </a:rPr>
              <a:t>通过状态机（如 </a:t>
            </a:r>
            <a:r>
              <a:rPr lang="en-US" altLang="zh-CN" sz="1100" i="0">
                <a:effectLst/>
                <a:latin typeface="Segoe WP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CC_STATE_PASSIVE_STATE_U8</a:t>
            </a:r>
            <a:r>
              <a:rPr lang="zh-CN" altLang="en-US" sz="1100" i="0">
                <a:effectLst/>
                <a:latin typeface="Segoe WPC"/>
              </a:rPr>
              <a:t>、</a:t>
            </a:r>
            <a:r>
              <a:rPr lang="en-US" altLang="zh-CN" sz="1100" i="0">
                <a:effectLst/>
                <a:latin typeface="Segoe WP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CC_STATE_HDC_ACTIVE_STATE_U8</a:t>
            </a:r>
            <a:r>
              <a:rPr lang="zh-CN" altLang="en-US" sz="1100" i="0">
                <a:effectLst/>
                <a:latin typeface="Segoe WPC"/>
              </a:rPr>
              <a:t>），管理</a:t>
            </a:r>
            <a:r>
              <a:rPr lang="en-US" altLang="zh-CN" sz="1100" i="0">
                <a:effectLst/>
                <a:latin typeface="Segoe WPC"/>
              </a:rPr>
              <a:t>HDC</a:t>
            </a:r>
            <a:r>
              <a:rPr lang="zh-CN" altLang="en-US" sz="1100" i="0">
                <a:effectLst/>
                <a:latin typeface="Segoe WPC"/>
              </a:rPr>
              <a:t>的激活、保持、退出等状态。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100" i="0" u="none" strike="noStrike" err="1">
                <a:solidFill>
                  <a:srgbClr val="0563C1"/>
                </a:solidFill>
                <a:effectLst/>
                <a:latin typeface="Segoe WP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IsCcActiveStateRequested</a:t>
            </a:r>
            <a:r>
              <a:rPr lang="en-US" altLang="zh-CN" sz="1100" i="0" u="none" strike="noStrike">
                <a:effectLst/>
                <a:latin typeface="Segoe WP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r>
              <a:rPr lang="zh-CN" altLang="en-US" sz="1100" i="0">
                <a:effectLst/>
                <a:latin typeface="Segoe WPC"/>
              </a:rPr>
              <a:t>：判断是否满足激活条件（如坡度、车速、驾驶员无干预等）。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100" i="0" u="none" strike="noStrike" err="1">
                <a:solidFill>
                  <a:srgbClr val="0563C1"/>
                </a:solidFill>
                <a:effectLst/>
                <a:latin typeface="Segoe WP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IsCcPassiveStateRequested</a:t>
            </a:r>
            <a:r>
              <a:rPr lang="en-US" altLang="zh-CN" sz="1100" i="0" u="none" strike="noStrike">
                <a:effectLst/>
                <a:latin typeface="Segoe WP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r>
              <a:rPr lang="zh-CN" altLang="en-US" sz="1100" i="0">
                <a:effectLst/>
                <a:latin typeface="Segoe WPC"/>
              </a:rPr>
              <a:t>：判断是否满足退出条件（如平路、驾驶员踩油门</a:t>
            </a:r>
            <a:r>
              <a:rPr lang="en-US" altLang="zh-CN" sz="1100" i="0">
                <a:effectLst/>
                <a:latin typeface="Segoe WPC"/>
              </a:rPr>
              <a:t>/</a:t>
            </a:r>
            <a:r>
              <a:rPr lang="zh-CN" altLang="en-US" sz="1100" i="0">
                <a:effectLst/>
                <a:latin typeface="Segoe WPC"/>
              </a:rPr>
              <a:t>刹车、</a:t>
            </a:r>
            <a:r>
              <a:rPr lang="en-US" altLang="zh-CN" sz="1100" i="0">
                <a:effectLst/>
                <a:latin typeface="Segoe WPC"/>
              </a:rPr>
              <a:t>EPB</a:t>
            </a:r>
            <a:r>
              <a:rPr lang="zh-CN" altLang="en-US" sz="1100" i="0">
                <a:effectLst/>
                <a:latin typeface="Segoe WPC"/>
              </a:rPr>
              <a:t>拉起等）。</a:t>
            </a:r>
            <a:endParaRPr lang="en-US" altLang="zh-CN" sz="1100" i="0">
              <a:effectLst/>
              <a:latin typeface="Segoe WPC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100" b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IsCcResetStateRequested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() 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条件时切换到重置状态，重置后可再次激活</a:t>
            </a:r>
            <a:endParaRPr lang="zh-CN" altLang="en-US" sz="1100" i="0"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1" i="0">
                <a:effectLst/>
                <a:latin typeface="Segoe WPC"/>
              </a:rPr>
              <a:t>坡度估算（</a:t>
            </a:r>
            <a:r>
              <a:rPr lang="en-US" altLang="zh-CN" sz="1200" b="1" i="0" err="1">
                <a:effectLst/>
                <a:latin typeface="Segoe WPC"/>
              </a:rPr>
              <a:t>cc_hill.c</a:t>
            </a:r>
            <a:r>
              <a:rPr lang="en-US" altLang="zh-CN" sz="1200" b="1" i="0">
                <a:effectLst/>
                <a:latin typeface="Segoe WPC"/>
              </a:rPr>
              <a:t>/h</a:t>
            </a:r>
            <a:r>
              <a:rPr lang="zh-CN" altLang="en-US" sz="1200" b="1" i="0">
                <a:effectLst/>
                <a:latin typeface="Segoe WPC"/>
              </a:rPr>
              <a:t>）</a:t>
            </a:r>
            <a:endParaRPr lang="en-US" altLang="zh-CN" sz="1100" b="1">
              <a:latin typeface="Segoe WPC"/>
            </a:endParaRPr>
          </a:p>
          <a:p>
            <a:pPr lvl="1"/>
            <a:r>
              <a:rPr lang="zh-CN" altLang="en-US" sz="1100" i="0">
                <a:effectLst/>
                <a:latin typeface="Segoe WPC"/>
              </a:rPr>
              <a:t>通过车辆加速度、发动机扭矩、轮速等信号，估算当前坡度，为</a:t>
            </a:r>
            <a:r>
              <a:rPr lang="en-US" altLang="zh-CN" sz="1100" i="0">
                <a:effectLst/>
                <a:latin typeface="Segoe WPC"/>
              </a:rPr>
              <a:t>HDC</a:t>
            </a:r>
            <a:r>
              <a:rPr lang="zh-CN" altLang="en-US" sz="1100" i="0">
                <a:effectLst/>
                <a:latin typeface="Segoe WPC"/>
              </a:rPr>
              <a:t>激活和控制逻辑提供依据。</a:t>
            </a:r>
            <a:endParaRPr lang="en-US" altLang="zh-CN" sz="1100" i="0">
              <a:effectLst/>
              <a:latin typeface="Segoe WPC"/>
            </a:endParaRPr>
          </a:p>
          <a:p>
            <a:pPr lvl="1"/>
            <a:endParaRPr lang="zh-CN" altLang="en-US" sz="1100" i="0"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1" i="0">
                <a:effectLst/>
                <a:latin typeface="Segoe WPC"/>
              </a:rPr>
              <a:t>目标速度与控制（</a:t>
            </a:r>
            <a:r>
              <a:rPr lang="en-US" altLang="zh-CN" sz="1200" b="1" i="0" err="1">
                <a:effectLst/>
                <a:latin typeface="Segoe WPC"/>
              </a:rPr>
              <a:t>cc_speed.c</a:t>
            </a:r>
            <a:r>
              <a:rPr lang="en-US" altLang="zh-CN" sz="1200" b="1" i="0">
                <a:effectLst/>
                <a:latin typeface="Segoe WPC"/>
              </a:rPr>
              <a:t>/h</a:t>
            </a:r>
            <a:r>
              <a:rPr lang="zh-CN" altLang="en-US" sz="1200" b="1" i="0">
                <a:effectLst/>
                <a:latin typeface="Segoe WPC"/>
              </a:rPr>
              <a:t>）</a:t>
            </a:r>
            <a:endParaRPr lang="en-US" altLang="zh-CN" sz="1100" b="1">
              <a:latin typeface="Segoe WPC"/>
            </a:endParaRPr>
          </a:p>
          <a:p>
            <a:pPr lvl="1"/>
            <a:r>
              <a:rPr lang="zh-CN" altLang="en-US" sz="1100" i="0">
                <a:effectLst/>
                <a:latin typeface="Segoe WPC"/>
              </a:rPr>
              <a:t>计算</a:t>
            </a:r>
            <a:r>
              <a:rPr lang="en-US" altLang="zh-CN" sz="1100" i="0">
                <a:effectLst/>
                <a:latin typeface="Segoe WPC"/>
              </a:rPr>
              <a:t>HDC</a:t>
            </a:r>
            <a:r>
              <a:rPr lang="zh-CN" altLang="en-US" sz="1100" i="0">
                <a:effectLst/>
                <a:latin typeface="Segoe WPC"/>
              </a:rPr>
              <a:t>目标速度，通常为低速（如</a:t>
            </a:r>
            <a:r>
              <a:rPr lang="en-US" altLang="zh-CN" sz="1100" i="0">
                <a:effectLst/>
                <a:latin typeface="Segoe WPC"/>
              </a:rPr>
              <a:t>2~8km/h</a:t>
            </a:r>
            <a:r>
              <a:rPr lang="zh-CN" altLang="en-US" sz="1100" i="0">
                <a:effectLst/>
                <a:latin typeface="Segoe WPC"/>
              </a:rPr>
              <a:t>），并根据实际车速与目标速度的偏差，决定制动力输出。</a:t>
            </a:r>
            <a:endParaRPr lang="en-US" altLang="zh-CN" sz="1100" i="0">
              <a:effectLst/>
              <a:latin typeface="Segoe WPC"/>
            </a:endParaRPr>
          </a:p>
          <a:p>
            <a:pPr lvl="1"/>
            <a:endParaRPr lang="zh-CN" altLang="en-US" sz="1100" i="0"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1" i="0">
                <a:effectLst/>
                <a:latin typeface="Segoe WPC"/>
              </a:rPr>
              <a:t>制动分配与轮间偏置（</a:t>
            </a:r>
            <a:r>
              <a:rPr lang="en-US" altLang="zh-CN" sz="1200" b="1" i="0" err="1">
                <a:effectLst/>
                <a:latin typeface="Segoe WPC"/>
              </a:rPr>
              <a:t>cc_bias.c</a:t>
            </a:r>
            <a:r>
              <a:rPr lang="en-US" altLang="zh-CN" sz="1200" b="1" i="0">
                <a:effectLst/>
                <a:latin typeface="Segoe WPC"/>
              </a:rPr>
              <a:t>/h</a:t>
            </a:r>
            <a:r>
              <a:rPr lang="zh-CN" altLang="en-US" sz="1200" b="1" i="0">
                <a:effectLst/>
                <a:latin typeface="Segoe WPC"/>
              </a:rPr>
              <a:t>）</a:t>
            </a:r>
            <a:endParaRPr lang="en-US" altLang="zh-CN" sz="1100" b="1">
              <a:latin typeface="Segoe WPC"/>
            </a:endParaRPr>
          </a:p>
          <a:p>
            <a:pPr lvl="1"/>
            <a:r>
              <a:rPr lang="zh-CN" altLang="en-US" sz="1100" i="0">
                <a:effectLst/>
                <a:latin typeface="Segoe WPC"/>
              </a:rPr>
              <a:t>计算每个车轮的制动力分配，考虑坡度、</a:t>
            </a:r>
            <a:r>
              <a:rPr lang="en-US" altLang="zh-CN" sz="1100" i="0">
                <a:effectLst/>
                <a:latin typeface="Segoe WPC"/>
              </a:rPr>
              <a:t>ABS</a:t>
            </a:r>
            <a:r>
              <a:rPr lang="zh-CN" altLang="en-US" sz="1100" i="0">
                <a:effectLst/>
                <a:latin typeface="Segoe WPC"/>
              </a:rPr>
              <a:t>状态、轮胎抓地力等，提升下坡稳定性。</a:t>
            </a:r>
            <a:endParaRPr lang="en-US" altLang="zh-CN" sz="1100" i="0">
              <a:effectLst/>
              <a:latin typeface="Segoe WPC"/>
            </a:endParaRPr>
          </a:p>
          <a:p>
            <a:pPr lvl="1"/>
            <a:endParaRPr lang="zh-CN" altLang="en-US" sz="1100" i="0"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1" i="0">
                <a:effectLst/>
                <a:latin typeface="Segoe WPC"/>
              </a:rPr>
              <a:t>输出与执行（</a:t>
            </a:r>
            <a:r>
              <a:rPr lang="en-US" altLang="zh-CN" sz="1200" b="1" i="0" err="1">
                <a:effectLst/>
                <a:latin typeface="Segoe WPC"/>
              </a:rPr>
              <a:t>cc_output.c</a:t>
            </a:r>
            <a:r>
              <a:rPr lang="en-US" altLang="zh-CN" sz="1200" b="1" i="0">
                <a:effectLst/>
                <a:latin typeface="Segoe WPC"/>
              </a:rPr>
              <a:t>/h</a:t>
            </a:r>
            <a:r>
              <a:rPr lang="zh-CN" altLang="en-US" sz="1200" b="1" i="0">
                <a:effectLst/>
                <a:latin typeface="Segoe WPC"/>
              </a:rPr>
              <a:t>）</a:t>
            </a:r>
            <a:endParaRPr lang="en-US" altLang="zh-CN" sz="1100" b="1">
              <a:latin typeface="Segoe WPC"/>
            </a:endParaRPr>
          </a:p>
          <a:p>
            <a:pPr lvl="1"/>
            <a:r>
              <a:rPr lang="zh-CN" altLang="en-US" sz="1100" i="0">
                <a:effectLst/>
                <a:latin typeface="Segoe WPC"/>
              </a:rPr>
              <a:t>输出制动请求、灯光提示等信号，驱动底层执行器（如液压制动、仪表灯等）。</a:t>
            </a:r>
            <a:endParaRPr lang="en-US" altLang="zh-CN" sz="1100" i="0">
              <a:effectLst/>
              <a:latin typeface="Segoe WPC"/>
            </a:endParaRPr>
          </a:p>
          <a:p>
            <a:pPr lvl="1"/>
            <a:endParaRPr lang="zh-CN" altLang="en-US" sz="1100" i="0"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1" i="0">
                <a:effectLst/>
                <a:latin typeface="Segoe WPC"/>
              </a:rPr>
              <a:t>安全与互锁（</a:t>
            </a:r>
            <a:r>
              <a:rPr lang="en-US" altLang="zh-CN" sz="1200" b="1" i="0" err="1">
                <a:effectLst/>
                <a:latin typeface="Segoe WPC"/>
              </a:rPr>
              <a:t>cc_safety.c</a:t>
            </a:r>
            <a:r>
              <a:rPr lang="en-US" altLang="zh-CN" sz="1200" b="1" i="0">
                <a:effectLst/>
                <a:latin typeface="Segoe WPC"/>
              </a:rPr>
              <a:t>/h</a:t>
            </a:r>
            <a:r>
              <a:rPr lang="zh-CN" altLang="en-US" sz="1200" b="1" i="0">
                <a:effectLst/>
                <a:latin typeface="Segoe WPC"/>
              </a:rPr>
              <a:t>）</a:t>
            </a:r>
            <a:endParaRPr lang="en-US" altLang="zh-CN" sz="1100" b="1">
              <a:latin typeface="Segoe WPC"/>
            </a:endParaRPr>
          </a:p>
          <a:p>
            <a:pPr lvl="1"/>
            <a:r>
              <a:rPr lang="zh-CN" altLang="en-US" sz="1100" i="0">
                <a:effectLst/>
                <a:latin typeface="Segoe WPC"/>
              </a:rPr>
              <a:t>检查</a:t>
            </a:r>
            <a:r>
              <a:rPr lang="en-US" altLang="zh-CN" sz="1100" i="0">
                <a:effectLst/>
                <a:latin typeface="Segoe WPC"/>
              </a:rPr>
              <a:t>HDC</a:t>
            </a:r>
            <a:r>
              <a:rPr lang="zh-CN" altLang="en-US" sz="1100" i="0">
                <a:effectLst/>
                <a:latin typeface="Segoe WPC"/>
              </a:rPr>
              <a:t>输出是否安全，防止误动作或与其他功能冲突。</a:t>
            </a:r>
          </a:p>
          <a:p>
            <a:endParaRPr lang="en-US" altLang="zh-CN" sz="1100"/>
          </a:p>
          <a:p>
            <a:br>
              <a:rPr lang="zh-CN" altLang="en-US" sz="1100"/>
            </a:br>
            <a:endParaRPr lang="zh-CN" altLang="en-US" sz="1100"/>
          </a:p>
        </p:txBody>
      </p:sp>
    </p:spTree>
    <p:extLst>
      <p:ext uri="{BB962C8B-B14F-4D97-AF65-F5344CB8AC3E}">
        <p14:creationId xmlns:p14="http://schemas.microsoft.com/office/powerpoint/2010/main" val="841231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850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296141E-B551-E98C-23F9-EA1C3D0B80E0}"/>
              </a:ext>
            </a:extLst>
          </p:cNvPr>
          <p:cNvSpPr txBox="1"/>
          <p:nvPr/>
        </p:nvSpPr>
        <p:spPr>
          <a:xfrm>
            <a:off x="198539" y="474345"/>
            <a:ext cx="11794921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1600" b="1"/>
              <a:t>主要功能</a:t>
            </a:r>
            <a:endParaRPr lang="en-US" altLang="zh-CN" sz="1600" b="1"/>
          </a:p>
          <a:p>
            <a:endParaRPr lang="zh-CN" altLang="en-US" sz="1200" b="1"/>
          </a:p>
          <a:p>
            <a:r>
              <a:rPr lang="en-US" altLang="zh-CN" sz="1200" b="1"/>
              <a:t>1.1 </a:t>
            </a:r>
            <a:r>
              <a:rPr lang="zh-CN" altLang="en-US" sz="1200" b="1"/>
              <a:t>车辆状态与标志计算</a:t>
            </a:r>
            <a:endParaRPr lang="en-US" altLang="zh-CN" sz="1200" b="1"/>
          </a:p>
          <a:p>
            <a:endParaRPr lang="zh-CN" altLang="en-US" sz="1400"/>
          </a:p>
          <a:p>
            <a:r>
              <a:rPr lang="zh-CN" altLang="en-US" sz="1200"/>
              <a:t>挂挡状态：根据变速器类型和当前档位，判断车辆是否处于“挂挡”状态（</a:t>
            </a:r>
            <a:r>
              <a:rPr lang="en-US" altLang="zh-CN" sz="1200"/>
              <a:t>CcStat.u.Flg.InGear_b1</a:t>
            </a:r>
            <a:r>
              <a:rPr lang="zh-CN" altLang="en-US" sz="1200"/>
              <a:t>）。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Flg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InGear_b1</a:t>
            </a:r>
            <a:endParaRPr lang="zh-CN" altLang="en-US" sz="1200"/>
          </a:p>
          <a:p>
            <a:r>
              <a:rPr lang="zh-CN" altLang="en-US" sz="1200"/>
              <a:t>车辆加速度延时计时器：用于坡度变化或加速变化时的延迟处理，防止误触发。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VehAccDlyTmr_s16</a:t>
            </a:r>
            <a:endParaRPr lang="zh-CN" altLang="en-US" sz="1200"/>
          </a:p>
          <a:p>
            <a:r>
              <a:rPr lang="zh-CN" altLang="en-US" sz="1200"/>
              <a:t>平路检测延时计时器：用于检测车辆是否处于平路，影响</a:t>
            </a:r>
            <a:r>
              <a:rPr lang="en-US" altLang="zh-CN" sz="1200"/>
              <a:t>HDC</a:t>
            </a:r>
            <a:r>
              <a:rPr lang="zh-CN" altLang="en-US" sz="1200"/>
              <a:t>退出条件。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FlatDetDlyTmr_s16</a:t>
            </a:r>
            <a:endParaRPr lang="zh-CN" altLang="en-US" sz="1200"/>
          </a:p>
          <a:p>
            <a:r>
              <a:rPr lang="zh-CN" altLang="en-US" sz="1200"/>
              <a:t>静止计时器：判断车辆是否长时间静止，用于状态切换。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VCcStat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VehStillTmr_s16</a:t>
            </a:r>
          </a:p>
          <a:p>
            <a:endParaRPr lang="en-US" altLang="zh-CN" sz="1200">
              <a:solidFill>
                <a:srgbClr val="DB7079"/>
              </a:solidFill>
              <a:latin typeface="Consolas" panose="020B0609020204030204" pitchFamily="49" charset="0"/>
            </a:endParaRPr>
          </a:p>
          <a:p>
            <a:endParaRPr lang="en-US" altLang="zh-CN" sz="1200" b="0">
              <a:solidFill>
                <a:srgbClr val="DB707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200" b="1">
                <a:effectLst/>
                <a:latin typeface="Consolas" panose="020B0609020204030204" pitchFamily="49" charset="0"/>
              </a:rPr>
              <a:t>1.2 </a:t>
            </a:r>
            <a:r>
              <a:rPr lang="zh-CN" altLang="en-US" sz="1200" b="1">
                <a:effectLst/>
                <a:latin typeface="Consolas" panose="020B0609020204030204" pitchFamily="49" charset="0"/>
              </a:rPr>
              <a:t>各类计时器与标志管理</a:t>
            </a:r>
          </a:p>
          <a:p>
            <a:r>
              <a:rPr lang="en-US" altLang="zh-CN" sz="1100" b="0" err="1">
                <a:effectLst/>
                <a:latin typeface="Consolas" panose="020B0609020204030204" pitchFamily="49" charset="0"/>
              </a:rPr>
              <a:t>Postrun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计时器：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HDC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激活后用于简化再次激活的判据。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PrunTmr_s16</a:t>
            </a:r>
            <a:endParaRPr lang="zh-CN" altLang="en-US" sz="1100" b="0">
              <a:effectLst/>
              <a:latin typeface="Consolas" panose="020B0609020204030204" pitchFamily="49" charset="0"/>
            </a:endParaRPr>
          </a:p>
          <a:p>
            <a:r>
              <a:rPr lang="zh-CN" altLang="en-US" sz="1100" b="0">
                <a:effectLst/>
                <a:latin typeface="Consolas" panose="020B0609020204030204" pitchFamily="49" charset="0"/>
              </a:rPr>
              <a:t>制动，超时后设置覆盖标志（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BrkOvrd_b1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）。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BrkOvrdTmr_s16,</a:t>
            </a:r>
            <a:r>
              <a:rPr lang="en-US" altLang="zh-CN" sz="1100">
                <a:solidFill>
                  <a:srgbClr val="ABB2B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Flg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BrkOvrd_b1</a:t>
            </a:r>
            <a:endParaRPr lang="zh-CN" altLang="en-US" sz="1100" b="0">
              <a:effectLst/>
              <a:latin typeface="Consolas" panose="020B0609020204030204" pitchFamily="49" charset="0"/>
            </a:endParaRPr>
          </a:p>
          <a:p>
            <a:r>
              <a:rPr lang="en-US" altLang="zh-CN" sz="1100" b="0">
                <a:effectLst/>
                <a:latin typeface="Consolas" panose="020B0609020204030204" pitchFamily="49" charset="0"/>
              </a:rPr>
              <a:t>HDC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使</a:t>
            </a:r>
            <a:r>
              <a:rPr lang="zh-CN" altLang="en-US" sz="1100">
                <a:latin typeface="Consolas" panose="020B0609020204030204" pitchFamily="49" charset="0"/>
              </a:rPr>
              <a:t>覆盖计时器：驾驶员主动制动时计时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能标志：根据开关、故障、抑制等条件，决定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HDC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是否允许激活。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Flg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Enabled_b1 </a:t>
            </a:r>
            <a:r>
              <a:rPr lang="zh-CN" altLang="en-US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（取决于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HDC enable</a:t>
            </a:r>
            <a:r>
              <a:rPr lang="zh-CN" altLang="en-US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条件 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+ HMI </a:t>
            </a:r>
            <a:r>
              <a:rPr lang="zh-CN" altLang="en-US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开关激活）</a:t>
            </a:r>
            <a:r>
              <a:rPr lang="en-US" altLang="zh-CN" sz="1100">
                <a:solidFill>
                  <a:srgbClr val="ABB2BF"/>
                </a:solidFill>
                <a:latin typeface="Consolas" panose="020B0609020204030204" pitchFamily="49" charset="0"/>
              </a:rPr>
              <a:t> </a:t>
            </a:r>
            <a:endParaRPr lang="zh-CN" altLang="en-US" sz="1100" b="0">
              <a:effectLst/>
              <a:latin typeface="Consolas" panose="020B0609020204030204" pitchFamily="49" charset="0"/>
            </a:endParaRPr>
          </a:p>
          <a:p>
            <a:r>
              <a:rPr lang="zh-CN" altLang="en-US" sz="1100" b="0">
                <a:effectLst/>
                <a:latin typeface="Consolas" panose="020B0609020204030204" pitchFamily="49" charset="0"/>
              </a:rPr>
              <a:t>制动盘温度高标志：用于高温保护。 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Flg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BrakeDiscTempHigh_b1</a:t>
            </a:r>
            <a:r>
              <a:rPr lang="en-US" altLang="zh-CN" sz="1100">
                <a:solidFill>
                  <a:srgbClr val="DB7079"/>
                </a:solidFill>
                <a:latin typeface="Consolas" panose="020B0609020204030204" pitchFamily="49" charset="0"/>
              </a:rPr>
              <a:t> </a:t>
            </a:r>
          </a:p>
          <a:p>
            <a:endParaRPr lang="en-US" altLang="zh-CN" sz="1100" b="0">
              <a:solidFill>
                <a:srgbClr val="DB7079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sz="1100">
              <a:solidFill>
                <a:srgbClr val="DB7079"/>
              </a:solidFill>
              <a:latin typeface="Consolas" panose="020B0609020204030204" pitchFamily="49" charset="0"/>
            </a:endParaRPr>
          </a:p>
          <a:p>
            <a:endParaRPr lang="en-US" altLang="zh-CN" sz="1100" b="0">
              <a:solidFill>
                <a:srgbClr val="DB707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1">
                <a:effectLst/>
                <a:latin typeface="Consolas" panose="020B0609020204030204" pitchFamily="49" charset="0"/>
              </a:rPr>
              <a:t>2. </a:t>
            </a:r>
            <a:r>
              <a:rPr lang="zh-CN" altLang="en-US" sz="1400" b="1">
                <a:effectLst/>
                <a:latin typeface="Consolas" panose="020B0609020204030204" pitchFamily="49" charset="0"/>
              </a:rPr>
              <a:t>状态机核心逻辑</a:t>
            </a:r>
          </a:p>
          <a:p>
            <a:r>
              <a:rPr lang="en-US" altLang="zh-CN" sz="1200" b="1">
                <a:effectLst/>
                <a:latin typeface="Consolas" panose="020B0609020204030204" pitchFamily="49" charset="0"/>
              </a:rPr>
              <a:t>2.1 </a:t>
            </a:r>
            <a:r>
              <a:rPr lang="zh-CN" altLang="en-US" sz="1200" b="1">
                <a:effectLst/>
                <a:latin typeface="Consolas" panose="020B0609020204030204" pitchFamily="49" charset="0"/>
              </a:rPr>
              <a:t>状态变量</a:t>
            </a:r>
          </a:p>
          <a:p>
            <a:r>
              <a:rPr lang="en-US" altLang="zh-CN" sz="1100" b="0">
                <a:effectLst/>
                <a:latin typeface="Consolas" panose="020B0609020204030204" pitchFamily="49" charset="0"/>
              </a:rPr>
              <a:t>CcStat.State_u8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：当前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HDC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状态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b="0">
                <a:effectLst/>
                <a:latin typeface="Consolas" panose="020B0609020204030204" pitchFamily="49" charset="0"/>
              </a:rPr>
              <a:t>CC_STATE_PASSIVE_STATE_U8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：被动（未激活）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b="0">
                <a:effectLst/>
                <a:latin typeface="Consolas" panose="020B0609020204030204" pitchFamily="49" charset="0"/>
              </a:rPr>
              <a:t>CC_STATE_HDC_ACTIVE_STATE_U8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：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HDC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激活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b="0">
                <a:effectLst/>
                <a:latin typeface="Consolas" panose="020B0609020204030204" pitchFamily="49" charset="0"/>
              </a:rPr>
              <a:t>CC_STATE_RESET_STATE_U8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：重置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退出中</a:t>
            </a:r>
            <a:endParaRPr lang="en-US" altLang="zh-CN" sz="1100" b="0">
              <a:effectLst/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b="0">
              <a:effectLst/>
              <a:latin typeface="Consolas" panose="020B0609020204030204" pitchFamily="49" charset="0"/>
            </a:endParaRPr>
          </a:p>
          <a:p>
            <a:r>
              <a:rPr lang="en-US" altLang="zh-CN" sz="1100" b="1">
                <a:effectLst/>
                <a:latin typeface="Consolas" panose="020B0609020204030204" pitchFamily="49" charset="0"/>
              </a:rPr>
              <a:t>2.2 </a:t>
            </a:r>
            <a:r>
              <a:rPr lang="zh-CN" altLang="en-US" sz="1100" b="1">
                <a:effectLst/>
                <a:latin typeface="Consolas" panose="020B0609020204030204" pitchFamily="49" charset="0"/>
              </a:rPr>
              <a:t>状态转移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0">
                <a:effectLst/>
                <a:latin typeface="Consolas" panose="020B0609020204030204" pitchFamily="49" charset="0"/>
              </a:rPr>
              <a:t>被动 → 激活：满足 </a:t>
            </a:r>
            <a:r>
              <a:rPr lang="en-US" altLang="zh-CN" sz="1100" b="0" err="1">
                <a:effectLst/>
                <a:latin typeface="Consolas" panose="020B0609020204030204" pitchFamily="49" charset="0"/>
              </a:rPr>
              <a:t>IsCcActiveStateRequested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() 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条件时切换到激活状态。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0">
                <a:effectLst/>
                <a:latin typeface="Consolas" panose="020B0609020204030204" pitchFamily="49" charset="0"/>
              </a:rPr>
              <a:t>激活 → 被动：满足 </a:t>
            </a:r>
            <a:r>
              <a:rPr lang="en-US" altLang="zh-CN" sz="1100" b="0" err="1">
                <a:effectLst/>
                <a:latin typeface="Consolas" panose="020B0609020204030204" pitchFamily="49" charset="0"/>
              </a:rPr>
              <a:t>IsCcPassiveStateRequested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() 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条件时切换到被动状态。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0">
                <a:effectLst/>
                <a:latin typeface="Consolas" panose="020B0609020204030204" pitchFamily="49" charset="0"/>
              </a:rPr>
              <a:t>激活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被动 ↔ 重置：满足 </a:t>
            </a:r>
            <a:r>
              <a:rPr lang="en-US" altLang="zh-CN" sz="1100" b="0" err="1">
                <a:effectLst/>
                <a:latin typeface="Consolas" panose="020B0609020204030204" pitchFamily="49" charset="0"/>
              </a:rPr>
              <a:t>IsCcResetStateRequested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() 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条件时切换到重置状态，重置后可再次激活。</a:t>
            </a:r>
            <a:endParaRPr lang="en-US" altLang="zh-CN" sz="1100" b="0">
              <a:effectLst/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>
              <a:latin typeface="Consolas" panose="020B0609020204030204" pitchFamily="49" charset="0"/>
            </a:endParaRPr>
          </a:p>
          <a:p>
            <a:r>
              <a:rPr lang="en-US" altLang="zh-CN" sz="1100" b="1">
                <a:effectLst/>
                <a:latin typeface="Consolas" panose="020B0609020204030204" pitchFamily="49" charset="0"/>
              </a:rPr>
              <a:t>2.3 </a:t>
            </a:r>
            <a:r>
              <a:rPr lang="zh-CN" altLang="en-US" sz="1100" b="1">
                <a:effectLst/>
                <a:latin typeface="Consolas" panose="020B0609020204030204" pitchFamily="49" charset="0"/>
              </a:rPr>
              <a:t>状态判据（以激活为例）</a:t>
            </a:r>
          </a:p>
          <a:p>
            <a:r>
              <a:rPr lang="en-US" altLang="zh-CN" sz="1100" b="0">
                <a:effectLst/>
                <a:latin typeface="Consolas" panose="020B0609020204030204" pitchFamily="49" charset="0"/>
              </a:rPr>
              <a:t>HDC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开关打开、无诊断抑制、无故障抑制、速度在允许范围、坡度足够大、驾驶员未踩油门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制动、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EPB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未拉起、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HSA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未激活、制动盘温度正常等。</a:t>
            </a:r>
          </a:p>
          <a:p>
            <a:r>
              <a:rPr lang="zh-CN" altLang="en-US" sz="1100" b="0">
                <a:effectLst/>
                <a:latin typeface="Consolas" panose="020B0609020204030204" pitchFamily="49" charset="0"/>
              </a:rPr>
              <a:t>详见 </a:t>
            </a:r>
            <a:r>
              <a:rPr lang="en-US" altLang="zh-CN" sz="1100" b="0" err="1">
                <a:effectLst/>
                <a:latin typeface="Consolas" panose="020B0609020204030204" pitchFamily="49" charset="0"/>
              </a:rPr>
              <a:t>IsCcActiveStateRequested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()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，其中对坡度、速度、驾驶员输入等有详细判据。</a:t>
            </a:r>
            <a:endParaRPr lang="en-US" altLang="zh-CN" sz="1100" b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382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0235621-EE24-468C-59C6-213E1C01A883}"/>
              </a:ext>
            </a:extLst>
          </p:cNvPr>
          <p:cNvSpPr txBox="1"/>
          <p:nvPr/>
        </p:nvSpPr>
        <p:spPr>
          <a:xfrm>
            <a:off x="490852" y="1922218"/>
            <a:ext cx="6102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IsHdcSwitchEnabled</a:t>
            </a:r>
            <a:r>
              <a:rPr lang="en-US" altLang="zh-CN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进入</a:t>
            </a:r>
            <a:r>
              <a:rPr lang="en-US" altLang="zh-CN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ready</a:t>
            </a:r>
            <a:endParaRPr lang="en-US" altLang="zh-CN" b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1309A32-C598-B548-EA08-DD3993178AA4}"/>
              </a:ext>
            </a:extLst>
          </p:cNvPr>
          <p:cNvSpPr txBox="1"/>
          <p:nvPr/>
        </p:nvSpPr>
        <p:spPr>
          <a:xfrm>
            <a:off x="627078" y="5021613"/>
            <a:ext cx="2402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IsHdcSwitchActive</a:t>
            </a:r>
            <a:endParaRPr lang="en-US" altLang="zh-CN" b="0">
              <a:solidFill>
                <a:srgbClr val="61AFEF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表示进入</a:t>
            </a:r>
            <a:r>
              <a:rPr lang="en-US" altLang="zh-CN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zh-CN" altLang="en-US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状态</a:t>
            </a:r>
            <a:endParaRPr lang="en-US" altLang="zh-CN" b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377E627-B94A-3C67-8E77-5D13D0CDF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52" y="2432427"/>
            <a:ext cx="2636748" cy="164606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6C79DC1-2469-1D7F-5AD9-D0DAE6185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98" y="111552"/>
            <a:ext cx="3877210" cy="399066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9746548-0B25-1DEE-EE98-E8BA448E7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850" y="4436477"/>
            <a:ext cx="3529706" cy="2315184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D378B966-4603-8985-F61C-D326D078C0EA}"/>
              </a:ext>
            </a:extLst>
          </p:cNvPr>
          <p:cNvSpPr txBox="1"/>
          <p:nvPr/>
        </p:nvSpPr>
        <p:spPr>
          <a:xfrm>
            <a:off x="4331147" y="1069569"/>
            <a:ext cx="2577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</a:rPr>
              <a:t>HDC</a:t>
            </a:r>
            <a:r>
              <a:rPr lang="zh-CN" altLang="en-US" sz="2400" b="1">
                <a:solidFill>
                  <a:srgbClr val="FF0000"/>
                </a:solidFill>
              </a:rPr>
              <a:t> </a:t>
            </a:r>
            <a:r>
              <a:rPr lang="en-US" altLang="zh-CN" sz="2400" b="1">
                <a:solidFill>
                  <a:srgbClr val="FF0000"/>
                </a:solidFill>
              </a:rPr>
              <a:t>enable </a:t>
            </a:r>
            <a:r>
              <a:rPr lang="zh-CN" altLang="en-US" sz="2400" b="1">
                <a:solidFill>
                  <a:srgbClr val="FF0000"/>
                </a:solidFill>
              </a:rPr>
              <a:t>条件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DFF1240-63A9-69DC-7728-F1B55A2EDED2}"/>
              </a:ext>
            </a:extLst>
          </p:cNvPr>
          <p:cNvSpPr txBox="1"/>
          <p:nvPr/>
        </p:nvSpPr>
        <p:spPr>
          <a:xfrm>
            <a:off x="4080875" y="4790780"/>
            <a:ext cx="25779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满足</a:t>
            </a:r>
            <a:r>
              <a:rPr lang="en-US" altLang="zh-CN" sz="2400" b="1">
                <a:solidFill>
                  <a:srgbClr val="FF0000"/>
                </a:solidFill>
              </a:rPr>
              <a:t>HDC</a:t>
            </a:r>
            <a:r>
              <a:rPr lang="zh-CN" altLang="en-US" sz="2400" b="1">
                <a:solidFill>
                  <a:srgbClr val="FF0000"/>
                </a:solidFill>
              </a:rPr>
              <a:t> </a:t>
            </a:r>
            <a:r>
              <a:rPr lang="en-US" altLang="zh-CN" sz="2400" b="1">
                <a:solidFill>
                  <a:srgbClr val="FF0000"/>
                </a:solidFill>
              </a:rPr>
              <a:t>enable </a:t>
            </a:r>
            <a:r>
              <a:rPr lang="zh-CN" altLang="en-US" sz="2400" b="1">
                <a:solidFill>
                  <a:srgbClr val="FF0000"/>
                </a:solidFill>
              </a:rPr>
              <a:t>条件，然后</a:t>
            </a:r>
            <a:r>
              <a:rPr lang="en-US" altLang="zh-CN" sz="2400" b="1">
                <a:solidFill>
                  <a:srgbClr val="FF0000"/>
                </a:solidFill>
              </a:rPr>
              <a:t>HMI</a:t>
            </a:r>
            <a:r>
              <a:rPr lang="zh-CN" altLang="en-US" sz="2400" b="1">
                <a:solidFill>
                  <a:srgbClr val="FF0000"/>
                </a:solidFill>
              </a:rPr>
              <a:t>请求有效，请求</a:t>
            </a:r>
            <a:r>
              <a:rPr lang="en-US" altLang="zh-CN" sz="2400" b="1">
                <a:solidFill>
                  <a:srgbClr val="FF0000"/>
                </a:solidFill>
              </a:rPr>
              <a:t>active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946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4D74846-6679-2842-F68B-983A227E9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44" y="957073"/>
            <a:ext cx="7003796" cy="494385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E49C99D-071D-518D-4E98-A6F8A2C0FA2F}"/>
              </a:ext>
            </a:extLst>
          </p:cNvPr>
          <p:cNvSpPr/>
          <p:nvPr/>
        </p:nvSpPr>
        <p:spPr>
          <a:xfrm>
            <a:off x="939800" y="1041399"/>
            <a:ext cx="4318000" cy="6942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166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25BDFFB-9E64-E00C-8146-3D9332F7D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86" y="606337"/>
            <a:ext cx="8707197" cy="564532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ADF42A4-A7E0-80C2-B58F-FB68EBA3FC0B}"/>
              </a:ext>
            </a:extLst>
          </p:cNvPr>
          <p:cNvSpPr/>
          <p:nvPr/>
        </p:nvSpPr>
        <p:spPr>
          <a:xfrm>
            <a:off x="1422400" y="1778000"/>
            <a:ext cx="5608320" cy="487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CB91B7-07DB-D6BE-64C5-22BF1DBBBA3D}"/>
              </a:ext>
            </a:extLst>
          </p:cNvPr>
          <p:cNvSpPr/>
          <p:nvPr/>
        </p:nvSpPr>
        <p:spPr>
          <a:xfrm>
            <a:off x="1346200" y="4741333"/>
            <a:ext cx="5608320" cy="220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467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919A9C1-3D34-5264-D00D-9C690EDCE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9" y="285281"/>
            <a:ext cx="4243708" cy="26492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05DE619-9872-7375-0BEF-287824F9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284" y="3137521"/>
            <a:ext cx="4191180" cy="295847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4376E0E-CEE7-9765-EFC4-9BE1CC081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262" y="285281"/>
            <a:ext cx="5098222" cy="592125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D8E435A-D60D-7515-90C8-830FF3C73FEF}"/>
              </a:ext>
            </a:extLst>
          </p:cNvPr>
          <p:cNvSpPr/>
          <p:nvPr/>
        </p:nvSpPr>
        <p:spPr>
          <a:xfrm>
            <a:off x="829733" y="931333"/>
            <a:ext cx="3395134" cy="487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75D144ED-5B43-0254-8819-0C6E89B5EAAB}"/>
              </a:ext>
            </a:extLst>
          </p:cNvPr>
          <p:cNvSpPr/>
          <p:nvPr/>
        </p:nvSpPr>
        <p:spPr>
          <a:xfrm rot="1308363">
            <a:off x="4352178" y="1507260"/>
            <a:ext cx="1846047" cy="30141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36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AED5A-661B-1EA4-63BE-49276A9C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4C96CCB-3773-60AC-5EE7-E2B96893F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9" y="285281"/>
            <a:ext cx="4243708" cy="26492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316AC2E-A9F6-CB19-BA1E-2D7B2F639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586" y="3163902"/>
            <a:ext cx="1255347" cy="88612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498E4B9-0826-4A98-D0D4-7257495E5D7E}"/>
              </a:ext>
            </a:extLst>
          </p:cNvPr>
          <p:cNvSpPr/>
          <p:nvPr/>
        </p:nvSpPr>
        <p:spPr>
          <a:xfrm>
            <a:off x="829733" y="2125133"/>
            <a:ext cx="3395134" cy="487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E7A87B-8F9F-259B-721E-19DCA0BFC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453" y="539280"/>
            <a:ext cx="5465015" cy="5016197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7A075DC1-11D7-6E22-8ED1-A0B64C1BF6ED}"/>
              </a:ext>
            </a:extLst>
          </p:cNvPr>
          <p:cNvSpPr/>
          <p:nvPr/>
        </p:nvSpPr>
        <p:spPr>
          <a:xfrm rot="827509">
            <a:off x="4332929" y="2625764"/>
            <a:ext cx="2631173" cy="30141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804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8587C13-8FC8-EFEF-8297-6494F7F76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711" y="2164932"/>
            <a:ext cx="8003890" cy="293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189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992BF6-7A07-14EB-D3CB-DFA038E4B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96C464-108A-FB4C-AC34-87BECEDD6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6EBC15-3C47-9AF4-84E0-C169E9BCC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05" y="202160"/>
            <a:ext cx="6244475" cy="467353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F40BD71-0541-54A7-E96E-5FB6C3154B47}"/>
              </a:ext>
            </a:extLst>
          </p:cNvPr>
          <p:cNvSpPr txBox="1"/>
          <p:nvPr/>
        </p:nvSpPr>
        <p:spPr>
          <a:xfrm>
            <a:off x="7484444" y="2215763"/>
            <a:ext cx="22234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N</a:t>
            </a:r>
            <a:r>
              <a:rPr lang="zh-CN" altLang="en-US" b="1">
                <a:solidFill>
                  <a:srgbClr val="FF0000"/>
                </a:solidFill>
              </a:rPr>
              <a:t>档和</a:t>
            </a:r>
            <a:r>
              <a:rPr lang="en-US" altLang="zh-CN" b="1">
                <a:solidFill>
                  <a:srgbClr val="FF0000"/>
                </a:solidFill>
              </a:rPr>
              <a:t>D</a:t>
            </a:r>
            <a:r>
              <a:rPr lang="zh-CN" altLang="en-US" b="1">
                <a:solidFill>
                  <a:srgbClr val="FF0000"/>
                </a:solidFill>
              </a:rPr>
              <a:t>档 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最小速度</a:t>
            </a:r>
            <a:r>
              <a:rPr lang="en-US" altLang="zh-CN" b="1">
                <a:solidFill>
                  <a:srgbClr val="FF0000"/>
                </a:solidFill>
              </a:rPr>
              <a:t>= 1.807x 3.6= 6.5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R</a:t>
            </a:r>
            <a:r>
              <a:rPr lang="zh-CN" altLang="en-US" b="1">
                <a:solidFill>
                  <a:srgbClr val="FF0000"/>
                </a:solidFill>
              </a:rPr>
              <a:t>档： </a:t>
            </a:r>
            <a:r>
              <a:rPr lang="en-US" altLang="zh-CN" b="1">
                <a:solidFill>
                  <a:srgbClr val="FF0000"/>
                </a:solidFill>
              </a:rPr>
              <a:t>1.268 x</a:t>
            </a:r>
            <a:r>
              <a:rPr lang="zh-CN" altLang="en-US" b="1">
                <a:solidFill>
                  <a:srgbClr val="FF0000"/>
                </a:solidFill>
              </a:rPr>
              <a:t> </a:t>
            </a:r>
            <a:r>
              <a:rPr lang="en-US" altLang="zh-CN" b="1">
                <a:solidFill>
                  <a:srgbClr val="FF0000"/>
                </a:solidFill>
              </a:rPr>
              <a:t>3.6=4.6</a:t>
            </a:r>
          </a:p>
          <a:p>
            <a:endParaRPr lang="en-US" altLang="zh-CN" b="1">
              <a:solidFill>
                <a:srgbClr val="FF0000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其他 车速 </a:t>
            </a:r>
            <a:r>
              <a:rPr lang="en-US" altLang="zh-CN" b="1">
                <a:solidFill>
                  <a:srgbClr val="FF0000"/>
                </a:solidFill>
              </a:rPr>
              <a:t>= 1.11x3.6 = 4</a:t>
            </a: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0A53A77-4228-7795-D40B-2501CA6BD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10" y="5008126"/>
            <a:ext cx="8657070" cy="103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97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6DA9BE5-42EE-2D32-76D0-5B9B5BF7B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66" y="289288"/>
            <a:ext cx="6858594" cy="627942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061F541-363E-27A9-802D-21B85C58CAC5}"/>
              </a:ext>
            </a:extLst>
          </p:cNvPr>
          <p:cNvSpPr txBox="1"/>
          <p:nvPr/>
        </p:nvSpPr>
        <p:spPr>
          <a:xfrm>
            <a:off x="7969718" y="847023"/>
            <a:ext cx="42222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CcStat.State_u8 = Active </a:t>
            </a:r>
            <a:r>
              <a:rPr lang="zh-CN" altLang="en-US"/>
              <a:t>且 制动有请求值， 此时</a:t>
            </a:r>
            <a:r>
              <a:rPr lang="en-US" altLang="zh-CN"/>
              <a:t>HDC </a:t>
            </a:r>
            <a:r>
              <a:rPr lang="zh-CN" altLang="en-US"/>
              <a:t>需要请求</a:t>
            </a:r>
            <a:r>
              <a:rPr lang="en-US" altLang="zh-CN"/>
              <a:t>HMI </a:t>
            </a:r>
            <a:r>
              <a:rPr lang="zh-CN" altLang="en-US"/>
              <a:t>闪灯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如果处于</a:t>
            </a:r>
            <a:r>
              <a:rPr lang="en-US" altLang="zh-CN"/>
              <a:t>Passive</a:t>
            </a:r>
            <a:r>
              <a:rPr lang="zh-CN" altLang="en-US"/>
              <a:t>状态 </a:t>
            </a:r>
            <a:r>
              <a:rPr lang="en-US" altLang="zh-CN"/>
              <a:t>or </a:t>
            </a:r>
            <a:r>
              <a:rPr lang="zh-CN" altLang="en-US"/>
              <a:t>车速低于静止车速 </a:t>
            </a:r>
            <a:r>
              <a:rPr lang="en-US" altLang="zh-CN"/>
              <a:t>or </a:t>
            </a:r>
            <a:r>
              <a:rPr lang="zh-CN" altLang="en-US"/>
              <a:t>制动请求 接近</a:t>
            </a:r>
            <a:r>
              <a:rPr lang="en-US" altLang="zh-CN"/>
              <a:t>0 </a:t>
            </a:r>
          </a:p>
          <a:p>
            <a:r>
              <a:rPr lang="zh-CN" altLang="en-US"/>
              <a:t>且这种情况维持</a:t>
            </a:r>
            <a:r>
              <a:rPr lang="en-US" altLang="zh-CN"/>
              <a:t>1S</a:t>
            </a:r>
            <a:r>
              <a:rPr lang="zh-CN" altLang="en-US"/>
              <a:t>钟， 此时 </a:t>
            </a:r>
            <a:r>
              <a:rPr lang="en-US" altLang="zh-CN"/>
              <a:t>HDC </a:t>
            </a:r>
            <a:r>
              <a:rPr lang="zh-CN" altLang="en-US"/>
              <a:t>不再请求</a:t>
            </a:r>
            <a:r>
              <a:rPr lang="en-US" altLang="zh-CN"/>
              <a:t>HMI</a:t>
            </a:r>
            <a:r>
              <a:rPr lang="zh-CN" altLang="en-US"/>
              <a:t>闪灯。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6354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48BF4F7-D086-6D13-EA25-EFF16AD51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08" y="1029942"/>
            <a:ext cx="10922383" cy="112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92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4">
            <a:extLst>
              <a:ext uri="{FF2B5EF4-FFF2-40B4-BE49-F238E27FC236}">
                <a16:creationId xmlns:a16="http://schemas.microsoft.com/office/drawing/2014/main" id="{51E0DF80-D018-EBE6-7457-B90C07B324AF}"/>
              </a:ext>
            </a:extLst>
          </p:cNvPr>
          <p:cNvSpPr/>
          <p:nvPr/>
        </p:nvSpPr>
        <p:spPr>
          <a:xfrm>
            <a:off x="432189" y="377505"/>
            <a:ext cx="10230218" cy="62917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/>
              <a:t>Cc </a:t>
            </a:r>
            <a:r>
              <a:rPr lang="en-US" altLang="zh-CN" sz="1200" err="1"/>
              <a:t>state.c</a:t>
            </a:r>
            <a:endParaRPr lang="zh-CN" altLang="en-US" sz="120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A874D3F-B274-5787-810F-9D42E028914B}"/>
              </a:ext>
            </a:extLst>
          </p:cNvPr>
          <p:cNvSpPr/>
          <p:nvPr/>
        </p:nvSpPr>
        <p:spPr>
          <a:xfrm>
            <a:off x="4818360" y="1617327"/>
            <a:ext cx="1086209" cy="4620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/>
              <a:t>HDC Active</a:t>
            </a:r>
            <a:endParaRPr lang="zh-CN" altLang="en-US" sz="105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51657E-660E-9590-8389-0A9D7F531513}"/>
              </a:ext>
            </a:extLst>
          </p:cNvPr>
          <p:cNvSpPr/>
          <p:nvPr/>
        </p:nvSpPr>
        <p:spPr>
          <a:xfrm>
            <a:off x="1072694" y="4481407"/>
            <a:ext cx="1086209" cy="4620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/>
              <a:t>Passive</a:t>
            </a:r>
            <a:endParaRPr lang="zh-CN" altLang="en-US" sz="110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50B2DF7-18BE-4346-F316-10DE07956745}"/>
              </a:ext>
            </a:extLst>
          </p:cNvPr>
          <p:cNvSpPr/>
          <p:nvPr/>
        </p:nvSpPr>
        <p:spPr>
          <a:xfrm>
            <a:off x="8137298" y="4503793"/>
            <a:ext cx="1086209" cy="4620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Reset</a:t>
            </a:r>
            <a:endParaRPr lang="zh-CN" altLang="en-US" sz="1200"/>
          </a:p>
        </p:txBody>
      </p:sp>
      <p:cxnSp>
        <p:nvCxnSpPr>
          <p:cNvPr id="8" name="Straight Arrow Connector 9">
            <a:extLst>
              <a:ext uri="{FF2B5EF4-FFF2-40B4-BE49-F238E27FC236}">
                <a16:creationId xmlns:a16="http://schemas.microsoft.com/office/drawing/2014/main" id="{70992A6B-B6FC-6FE4-9F3B-103559EB7D4A}"/>
              </a:ext>
            </a:extLst>
          </p:cNvPr>
          <p:cNvCxnSpPr>
            <a:cxnSpLocks/>
            <a:stCxn id="5" idx="2"/>
            <a:endCxn id="6" idx="3"/>
          </p:cNvCxnSpPr>
          <p:nvPr/>
        </p:nvCxnSpPr>
        <p:spPr>
          <a:xfrm flipH="1">
            <a:off x="2158903" y="2079355"/>
            <a:ext cx="3202562" cy="2633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1">
            <a:extLst>
              <a:ext uri="{FF2B5EF4-FFF2-40B4-BE49-F238E27FC236}">
                <a16:creationId xmlns:a16="http://schemas.microsoft.com/office/drawing/2014/main" id="{1AE246F3-47AD-B671-B93F-813BA1197AB9}"/>
              </a:ext>
            </a:extLst>
          </p:cNvPr>
          <p:cNvCxnSpPr>
            <a:stCxn id="6" idx="0"/>
            <a:endCxn id="5" idx="1"/>
          </p:cNvCxnSpPr>
          <p:nvPr/>
        </p:nvCxnSpPr>
        <p:spPr>
          <a:xfrm flipV="1">
            <a:off x="1615799" y="1848341"/>
            <a:ext cx="3202561" cy="2633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2">
            <a:extLst>
              <a:ext uri="{FF2B5EF4-FFF2-40B4-BE49-F238E27FC236}">
                <a16:creationId xmlns:a16="http://schemas.microsoft.com/office/drawing/2014/main" id="{AABAC30B-89F5-CB2F-CDE2-7B0355B6567E}"/>
              </a:ext>
            </a:extLst>
          </p:cNvPr>
          <p:cNvSpPr txBox="1"/>
          <p:nvPr/>
        </p:nvSpPr>
        <p:spPr>
          <a:xfrm>
            <a:off x="2158903" y="2836600"/>
            <a:ext cx="16042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err="1"/>
              <a:t>IsCcActiveStateRequested</a:t>
            </a:r>
            <a:endParaRPr lang="zh-CN" altLang="en-US" sz="1000"/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6E760507-D491-428D-9E42-91059199FDCB}"/>
              </a:ext>
            </a:extLst>
          </p:cNvPr>
          <p:cNvSpPr txBox="1"/>
          <p:nvPr/>
        </p:nvSpPr>
        <p:spPr>
          <a:xfrm>
            <a:off x="4170970" y="4333832"/>
            <a:ext cx="1665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err="1"/>
              <a:t>IsCcPassiveStateRequested</a:t>
            </a:r>
            <a:endParaRPr lang="zh-CN" altLang="en-US" sz="1000"/>
          </a:p>
        </p:txBody>
      </p:sp>
      <p:cxnSp>
        <p:nvCxnSpPr>
          <p:cNvPr id="12" name="Straight Arrow Connector 16">
            <a:extLst>
              <a:ext uri="{FF2B5EF4-FFF2-40B4-BE49-F238E27FC236}">
                <a16:creationId xmlns:a16="http://schemas.microsoft.com/office/drawing/2014/main" id="{4D623ED5-76EC-8FB4-E955-181FFE8FF599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>
            <a:off x="5904569" y="1848341"/>
            <a:ext cx="2775834" cy="2655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9">
            <a:extLst>
              <a:ext uri="{FF2B5EF4-FFF2-40B4-BE49-F238E27FC236}">
                <a16:creationId xmlns:a16="http://schemas.microsoft.com/office/drawing/2014/main" id="{33E1327B-00AC-535D-E15E-3DEC4D83BEB9}"/>
              </a:ext>
            </a:extLst>
          </p:cNvPr>
          <p:cNvSpPr txBox="1"/>
          <p:nvPr/>
        </p:nvSpPr>
        <p:spPr>
          <a:xfrm>
            <a:off x="6999379" y="2668914"/>
            <a:ext cx="15688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err="1"/>
              <a:t>IsCcResetStateRequested</a:t>
            </a:r>
            <a:endParaRPr lang="zh-CN" altLang="en-US" sz="1000"/>
          </a:p>
        </p:txBody>
      </p:sp>
      <p:cxnSp>
        <p:nvCxnSpPr>
          <p:cNvPr id="14" name="Straight Arrow Connector 20">
            <a:extLst>
              <a:ext uri="{FF2B5EF4-FFF2-40B4-BE49-F238E27FC236}">
                <a16:creationId xmlns:a16="http://schemas.microsoft.com/office/drawing/2014/main" id="{DD11C9C4-E276-0431-0D7F-5DE0C648E8D0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 flipV="1">
            <a:off x="2158903" y="4712421"/>
            <a:ext cx="5978395" cy="22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23">
            <a:extLst>
              <a:ext uri="{FF2B5EF4-FFF2-40B4-BE49-F238E27FC236}">
                <a16:creationId xmlns:a16="http://schemas.microsoft.com/office/drawing/2014/main" id="{B046C188-7E96-68A3-85B9-6005644E7B52}"/>
              </a:ext>
            </a:extLst>
          </p:cNvPr>
          <p:cNvSpPr txBox="1"/>
          <p:nvPr/>
        </p:nvSpPr>
        <p:spPr>
          <a:xfrm>
            <a:off x="3217079" y="3402523"/>
            <a:ext cx="1665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err="1"/>
              <a:t>IsCcPassiveStateRequested</a:t>
            </a:r>
            <a:endParaRPr lang="zh-CN" altLang="en-US" sz="1000"/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C69CAE4C-20FA-2FEB-013F-8501A8D63F8D}"/>
              </a:ext>
            </a:extLst>
          </p:cNvPr>
          <p:cNvSpPr txBox="1"/>
          <p:nvPr/>
        </p:nvSpPr>
        <p:spPr>
          <a:xfrm>
            <a:off x="8383855" y="950071"/>
            <a:ext cx="1967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err="1">
                <a:solidFill>
                  <a:srgbClr val="FF0000"/>
                </a:solidFill>
              </a:rPr>
              <a:t>CcStat.u.Flg.BrakeDiscTempHigh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18" name="TextBox 83">
            <a:extLst>
              <a:ext uri="{FF2B5EF4-FFF2-40B4-BE49-F238E27FC236}">
                <a16:creationId xmlns:a16="http://schemas.microsoft.com/office/drawing/2014/main" id="{2A4B8B3B-D633-57B9-4934-8337B2B262D2}"/>
              </a:ext>
            </a:extLst>
          </p:cNvPr>
          <p:cNvSpPr txBox="1"/>
          <p:nvPr/>
        </p:nvSpPr>
        <p:spPr>
          <a:xfrm>
            <a:off x="1262698" y="1275289"/>
            <a:ext cx="1954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>
                <a:solidFill>
                  <a:srgbClr val="FF0000"/>
                </a:solidFill>
              </a:rPr>
              <a:t>HDC state internally used</a:t>
            </a:r>
            <a:endParaRPr lang="zh-CN" altLang="en-US" sz="1200" b="1">
              <a:solidFill>
                <a:srgbClr val="FF0000"/>
              </a:solidFill>
            </a:endParaRP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4A90C95E-0725-85EA-3F63-E7FBA74C6640}"/>
              </a:ext>
            </a:extLst>
          </p:cNvPr>
          <p:cNvSpPr txBox="1"/>
          <p:nvPr/>
        </p:nvSpPr>
        <p:spPr>
          <a:xfrm>
            <a:off x="1455477" y="5594203"/>
            <a:ext cx="15688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err="1"/>
              <a:t>IsCcResetStateRequested</a:t>
            </a:r>
            <a:endParaRPr lang="zh-CN" altLang="en-US" sz="1000"/>
          </a:p>
        </p:txBody>
      </p:sp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632D8322-8A0F-21BC-45BE-2F351CC8E3A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15798" y="4750567"/>
            <a:ext cx="543107" cy="208629"/>
          </a:xfrm>
          <a:prstGeom prst="curvedConnector4">
            <a:avLst>
              <a:gd name="adj1" fmla="val -64874"/>
              <a:gd name="adj2" fmla="val 3945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曲线 43">
            <a:extLst>
              <a:ext uri="{FF2B5EF4-FFF2-40B4-BE49-F238E27FC236}">
                <a16:creationId xmlns:a16="http://schemas.microsoft.com/office/drawing/2014/main" id="{4C685234-1F1E-5B0D-E83C-7426FAAC4D8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80400" y="4750567"/>
            <a:ext cx="543107" cy="208629"/>
          </a:xfrm>
          <a:prstGeom prst="curvedConnector4">
            <a:avLst>
              <a:gd name="adj1" fmla="val -64874"/>
              <a:gd name="adj2" fmla="val 3945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4174A231-53EE-3756-E799-8BB733C76210}"/>
              </a:ext>
            </a:extLst>
          </p:cNvPr>
          <p:cNvSpPr txBox="1"/>
          <p:nvPr/>
        </p:nvSpPr>
        <p:spPr>
          <a:xfrm>
            <a:off x="7423735" y="5594203"/>
            <a:ext cx="33830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IsCcResetStateRequested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  </a:t>
            </a:r>
            <a:r>
              <a:rPr lang="en-US" altLang="zh-CN" sz="1100" b="0">
                <a:solidFill>
                  <a:srgbClr val="C792E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|| </a:t>
            </a:r>
          </a:p>
          <a:p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IsCcActiveStateRequested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1100" b="0">
                <a:solidFill>
                  <a:srgbClr val="C792E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47" name="Straight Arrow Connector 9">
            <a:extLst>
              <a:ext uri="{FF2B5EF4-FFF2-40B4-BE49-F238E27FC236}">
                <a16:creationId xmlns:a16="http://schemas.microsoft.com/office/drawing/2014/main" id="{E2A42945-7F07-3FBF-4E96-A314D83F522E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5361465" y="2079355"/>
            <a:ext cx="2775830" cy="2644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9">
            <a:extLst>
              <a:ext uri="{FF2B5EF4-FFF2-40B4-BE49-F238E27FC236}">
                <a16:creationId xmlns:a16="http://schemas.microsoft.com/office/drawing/2014/main" id="{F93289E9-8D5B-4D2C-740F-3B1A38D1E10F}"/>
              </a:ext>
            </a:extLst>
          </p:cNvPr>
          <p:cNvSpPr txBox="1"/>
          <p:nvPr/>
        </p:nvSpPr>
        <p:spPr>
          <a:xfrm>
            <a:off x="6179546" y="3458974"/>
            <a:ext cx="1568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/>
              <a:t>Reset -&gt; Active</a:t>
            </a:r>
          </a:p>
          <a:p>
            <a:r>
              <a:rPr lang="en-US" altLang="zh-CN" sz="1000" b="1">
                <a:solidFill>
                  <a:srgbClr val="FF0000"/>
                </a:solidFill>
              </a:rPr>
              <a:t>Else </a:t>
            </a:r>
            <a:r>
              <a:rPr lang="zh-CN" altLang="en-US" sz="1000" b="1">
                <a:solidFill>
                  <a:srgbClr val="FF0000"/>
                </a:solidFill>
              </a:rPr>
              <a:t>条件</a:t>
            </a:r>
          </a:p>
        </p:txBody>
      </p:sp>
    </p:spTree>
    <p:extLst>
      <p:ext uri="{BB962C8B-B14F-4D97-AF65-F5344CB8AC3E}">
        <p14:creationId xmlns:p14="http://schemas.microsoft.com/office/powerpoint/2010/main" val="2365992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BC5F882-7C49-CA2C-06A3-A09BF26DB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22" y="487238"/>
            <a:ext cx="6256562" cy="53801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C0D3B19-6760-92CE-CFE9-16430802A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631" y="5866703"/>
            <a:ext cx="7758276" cy="99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17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6D6061C3-46F1-A1C4-B646-EA9471E21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255" y="670770"/>
            <a:ext cx="10552054" cy="516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272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9E826F9-8DDD-43C9-7A99-457D44BCED70}"/>
              </a:ext>
            </a:extLst>
          </p:cNvPr>
          <p:cNvSpPr txBox="1"/>
          <p:nvPr/>
        </p:nvSpPr>
        <p:spPr>
          <a:xfrm>
            <a:off x="287323" y="310284"/>
            <a:ext cx="6161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err="1">
                <a:solidFill>
                  <a:srgbClr val="00B050"/>
                </a:solidFill>
              </a:rPr>
              <a:t>IsCcResetStateRequested</a:t>
            </a:r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41A9C2D-39E9-15A6-9B96-CACFFF50ECCB}"/>
              </a:ext>
            </a:extLst>
          </p:cNvPr>
          <p:cNvSpPr txBox="1"/>
          <p:nvPr/>
        </p:nvSpPr>
        <p:spPr>
          <a:xfrm>
            <a:off x="287322" y="783898"/>
            <a:ext cx="11470481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err="1"/>
              <a:t>IsCcResetStateRequested</a:t>
            </a:r>
            <a:r>
              <a:rPr lang="en-US" altLang="zh-CN" sz="1200"/>
              <a:t> </a:t>
            </a:r>
            <a:r>
              <a:rPr lang="zh-CN" altLang="en-US" sz="1200"/>
              <a:t>函数用于判断</a:t>
            </a:r>
            <a:r>
              <a:rPr lang="en-US" altLang="zh-CN" sz="1200"/>
              <a:t>HDC</a:t>
            </a:r>
            <a:r>
              <a:rPr lang="zh-CN" altLang="en-US" sz="1200"/>
              <a:t>（</a:t>
            </a:r>
            <a:r>
              <a:rPr lang="en-US" altLang="zh-CN" sz="1200"/>
              <a:t>Hill Descent Control</a:t>
            </a:r>
            <a:r>
              <a:rPr lang="zh-CN" altLang="en-US" sz="1200"/>
              <a:t>）或</a:t>
            </a:r>
            <a:r>
              <a:rPr lang="en-US" altLang="zh-CN" sz="1200"/>
              <a:t>CC</a:t>
            </a:r>
            <a:r>
              <a:rPr lang="zh-CN" altLang="en-US" sz="1200"/>
              <a:t>（</a:t>
            </a:r>
            <a:r>
              <a:rPr lang="en-US" altLang="zh-CN" sz="1200"/>
              <a:t>Crawl Control</a:t>
            </a:r>
            <a:r>
              <a:rPr lang="zh-CN" altLang="en-US" sz="1200"/>
              <a:t>）状态机是否需要进入</a:t>
            </a:r>
            <a:r>
              <a:rPr lang="en-US" altLang="zh-CN" sz="1200"/>
              <a:t>Reset</a:t>
            </a:r>
            <a:r>
              <a:rPr lang="zh-CN" altLang="en-US" sz="1200"/>
              <a:t>（重置）状态，并设置相应的目标减速度（</a:t>
            </a:r>
            <a:r>
              <a:rPr lang="en-US" altLang="zh-CN" sz="1200"/>
              <a:t>CcStat.RstVehAx_s16</a:t>
            </a:r>
            <a:r>
              <a:rPr lang="zh-CN" altLang="en-US" sz="1200"/>
              <a:t>）。其核心作用是：在检测到系统故障、驾驶员强制干预、</a:t>
            </a:r>
            <a:r>
              <a:rPr lang="en-US" altLang="zh-CN" sz="1200"/>
              <a:t>EPB</a:t>
            </a:r>
            <a:r>
              <a:rPr lang="zh-CN" altLang="en-US" sz="1200"/>
              <a:t>拉起、温度过高等情况时，触发</a:t>
            </a:r>
            <a:r>
              <a:rPr lang="en-US" altLang="zh-CN" sz="1200"/>
              <a:t>Reset</a:t>
            </a:r>
            <a:r>
              <a:rPr lang="zh-CN" altLang="en-US" sz="1200"/>
              <a:t>状态，快速或缓慢地退出</a:t>
            </a:r>
            <a:r>
              <a:rPr lang="en-US" altLang="zh-CN" sz="1200"/>
              <a:t>HDC/CC</a:t>
            </a:r>
            <a:r>
              <a:rPr lang="zh-CN" altLang="en-US" sz="1200"/>
              <a:t>控制，保障安全和舒适性。</a:t>
            </a:r>
            <a:endParaRPr lang="en-US" altLang="zh-CN" sz="1200"/>
          </a:p>
          <a:p>
            <a:endParaRPr lang="en-US" altLang="zh-CN" sz="1200"/>
          </a:p>
          <a:p>
            <a:endParaRPr lang="en-US" altLang="zh-CN" sz="1200"/>
          </a:p>
          <a:p>
            <a:r>
              <a:rPr lang="en-US" altLang="zh-CN" sz="1400" b="1"/>
              <a:t>1. </a:t>
            </a:r>
            <a:r>
              <a:rPr lang="zh-CN" altLang="en-US" sz="1400" b="1"/>
              <a:t>主要判据与逻辑</a:t>
            </a:r>
          </a:p>
          <a:p>
            <a:r>
              <a:rPr lang="en-US" altLang="zh-CN" sz="1200" b="1"/>
              <a:t>1.1 </a:t>
            </a:r>
            <a:r>
              <a:rPr lang="zh-CN" altLang="en-US" sz="1200" b="1"/>
              <a:t>快速</a:t>
            </a:r>
            <a:r>
              <a:rPr lang="en-US" altLang="zh-CN" sz="1200" b="1"/>
              <a:t>Reset</a:t>
            </a:r>
            <a:r>
              <a:rPr lang="zh-CN" altLang="en-US" sz="1200" b="1"/>
              <a:t>（</a:t>
            </a:r>
            <a:r>
              <a:rPr lang="en-US" altLang="zh-CN" sz="1200" b="1"/>
              <a:t>Fast Reset</a:t>
            </a:r>
            <a:r>
              <a:rPr lang="zh-CN" altLang="en-US" sz="1200" b="1"/>
              <a:t>）条件</a:t>
            </a:r>
          </a:p>
          <a:p>
            <a:r>
              <a:rPr lang="zh-CN" altLang="en-US" sz="1200"/>
              <a:t>只要满足以下任一条件，即触发快速</a:t>
            </a:r>
            <a:r>
              <a:rPr lang="en-US" altLang="zh-CN" sz="1200"/>
              <a:t>Reset</a:t>
            </a:r>
            <a:r>
              <a:rPr lang="zh-CN" altLang="en-US" sz="1200"/>
              <a:t>，并将目标减速度设为 </a:t>
            </a:r>
            <a:r>
              <a:rPr lang="en-US" altLang="zh-CN" sz="1200"/>
              <a:t>CC_STAT_FAST_RST_VEH_AX_S16 </a:t>
            </a:r>
            <a:r>
              <a:rPr lang="en-US" altLang="zh-CN" sz="1200" b="1">
                <a:solidFill>
                  <a:srgbClr val="00B050"/>
                </a:solidFill>
              </a:rPr>
              <a:t>3m/s2</a:t>
            </a:r>
            <a:r>
              <a:rPr lang="zh-CN" altLang="en-US" sz="1200"/>
              <a:t>：</a:t>
            </a:r>
          </a:p>
          <a:p>
            <a:endParaRPr lang="zh-CN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/>
              <a:t>CcIn.u.Flg.RstFast_b1 == TRUE</a:t>
            </a:r>
          </a:p>
          <a:p>
            <a:r>
              <a:rPr lang="zh-CN" altLang="en-US" sz="1200"/>
              <a:t>（中等严重的系统故障，如关键传感器失效等）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驾驶员油门踏板深踩（</a:t>
            </a:r>
            <a:r>
              <a:rPr lang="en-US" altLang="zh-CN" sz="1200"/>
              <a:t>CcIn.AccPdlPos_s16 &gt;= CC_STAT_DE_FST_PED_POS_S16 </a:t>
            </a:r>
            <a:r>
              <a:rPr lang="en-US" altLang="zh-CN" sz="1200" b="1">
                <a:solidFill>
                  <a:srgbClr val="00B050"/>
                </a:solidFill>
              </a:rPr>
              <a:t>25%</a:t>
            </a:r>
            <a:r>
              <a:rPr lang="zh-CN" altLang="en-US" sz="1200"/>
              <a:t>）且挂挡（</a:t>
            </a:r>
            <a:r>
              <a:rPr lang="en-US" altLang="zh-CN" sz="1200"/>
              <a:t>CcStat.u.Flg.InGear_b1 == TRUE</a:t>
            </a:r>
            <a:r>
              <a:rPr lang="zh-CN" altLang="en-US" sz="1200"/>
              <a:t>）</a:t>
            </a:r>
            <a:endParaRPr lang="en-US" altLang="zh-CN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/>
          </a:p>
          <a:p>
            <a:r>
              <a:rPr lang="en-US" altLang="zh-CN" sz="1200" b="1"/>
              <a:t>1.2 </a:t>
            </a:r>
            <a:r>
              <a:rPr lang="zh-CN" altLang="en-US" sz="1200" b="1"/>
              <a:t>慢速</a:t>
            </a:r>
            <a:r>
              <a:rPr lang="en-US" altLang="zh-CN" sz="1200" b="1"/>
              <a:t>Reset</a:t>
            </a:r>
            <a:r>
              <a:rPr lang="zh-CN" altLang="en-US" sz="1200" b="1"/>
              <a:t>（</a:t>
            </a:r>
            <a:r>
              <a:rPr lang="en-US" altLang="zh-CN" sz="1200" b="1"/>
              <a:t>Slow Reset</a:t>
            </a:r>
            <a:r>
              <a:rPr lang="zh-CN" altLang="en-US" sz="1200" b="1"/>
              <a:t>）条件</a:t>
            </a:r>
          </a:p>
          <a:p>
            <a:r>
              <a:rPr lang="zh-CN" altLang="en-US" sz="1200"/>
              <a:t>只要满足以下任一条件，即触发慢速</a:t>
            </a:r>
            <a:r>
              <a:rPr lang="en-US" altLang="zh-CN" sz="1200"/>
              <a:t>Reset</a:t>
            </a:r>
            <a:r>
              <a:rPr lang="zh-CN" altLang="en-US" sz="1200"/>
              <a:t>，并根据情况设置目标减速度：</a:t>
            </a:r>
          </a:p>
          <a:p>
            <a:endParaRPr lang="zh-CN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/>
              <a:t>CcIn.u.Flg.RstSlow_b1 == TRUE</a:t>
            </a:r>
          </a:p>
          <a:p>
            <a:r>
              <a:rPr lang="zh-CN" altLang="en-US" sz="1200"/>
              <a:t>（一般性系统故障）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/>
              <a:t>HDC/CC</a:t>
            </a:r>
            <a:r>
              <a:rPr lang="zh-CN" altLang="en-US" sz="1200"/>
              <a:t>开关关闭且拖拽支持未激活</a:t>
            </a:r>
          </a:p>
          <a:p>
            <a:r>
              <a:rPr lang="zh-CN" altLang="en-US" sz="1200"/>
              <a:t> </a:t>
            </a:r>
            <a:r>
              <a:rPr lang="en-US" altLang="zh-CN" sz="1200"/>
              <a:t>  </a:t>
            </a:r>
            <a:r>
              <a:rPr lang="zh-CN" altLang="en-US" sz="1200"/>
              <a:t>拖拽支持刚刚失效且未请求最小速度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制动盘温度过高（</a:t>
            </a:r>
            <a:r>
              <a:rPr lang="en-US" altLang="zh-CN" sz="1200"/>
              <a:t>CcStat.u.Flg.BrakeDiscTempHigh_b1 == TRUE</a:t>
            </a:r>
            <a:r>
              <a:rPr lang="zh-CN" altLang="en-US" sz="1200"/>
              <a:t>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驾驶员轻踩油门（</a:t>
            </a:r>
            <a:r>
              <a:rPr lang="en-US" altLang="zh-CN" sz="1200"/>
              <a:t>CcIn.AccPdlPos_s16 &gt;= CC_STAT_DE_SLW_PED_POS_S16 </a:t>
            </a:r>
            <a:r>
              <a:rPr lang="en-US" altLang="zh-CN" sz="1200" b="1">
                <a:solidFill>
                  <a:srgbClr val="00B050"/>
                </a:solidFill>
              </a:rPr>
              <a:t>5%</a:t>
            </a:r>
            <a:r>
              <a:rPr lang="zh-CN" altLang="en-US" sz="1200"/>
              <a:t>）且挂挡</a:t>
            </a:r>
            <a:endParaRPr lang="en-US" altLang="zh-CN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/>
          </a:p>
          <a:p>
            <a:r>
              <a:rPr lang="zh-CN" altLang="en-US" sz="1200" b="1"/>
              <a:t>慢速</a:t>
            </a:r>
            <a:r>
              <a:rPr lang="en-US" altLang="zh-CN" sz="1200" b="1"/>
              <a:t>Reset</a:t>
            </a:r>
            <a:r>
              <a:rPr lang="zh-CN" altLang="en-US" sz="1200" b="1"/>
              <a:t>时目标减速度设置：</a:t>
            </a:r>
          </a:p>
          <a:p>
            <a:endParaRPr lang="zh-CN" altLang="en-US" sz="1200"/>
          </a:p>
          <a:p>
            <a:r>
              <a:rPr lang="zh-CN" altLang="en-US" sz="1200"/>
              <a:t>若驾驶员制动覆盖（</a:t>
            </a:r>
            <a:r>
              <a:rPr lang="en-US" altLang="zh-CN" sz="1200"/>
              <a:t>CcStat.u.Flg.BrkOvrd_b1 == TRUE</a:t>
            </a:r>
            <a:r>
              <a:rPr lang="zh-CN" altLang="en-US" sz="1200"/>
              <a:t>），</a:t>
            </a:r>
            <a:endParaRPr lang="en-US" altLang="zh-CN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目标减速度为负（</a:t>
            </a:r>
            <a:r>
              <a:rPr lang="en-US" altLang="zh-CN" sz="1200"/>
              <a:t>-CC_STAT_SLOW_RST_VEH_AX_S16 </a:t>
            </a:r>
            <a:r>
              <a:rPr lang="en-US" altLang="zh-CN" sz="1200" b="1">
                <a:solidFill>
                  <a:srgbClr val="00B050"/>
                </a:solidFill>
              </a:rPr>
              <a:t>0.5m/s2</a:t>
            </a:r>
            <a:r>
              <a:rPr lang="zh-CN" altLang="en-US" sz="1200"/>
              <a:t>），即主动释放制动。</a:t>
            </a:r>
          </a:p>
          <a:p>
            <a:r>
              <a:rPr lang="zh-CN" altLang="en-US" sz="1200"/>
              <a:t>若系统请求慢速</a:t>
            </a:r>
            <a:r>
              <a:rPr lang="en-US" altLang="zh-CN" sz="1200"/>
              <a:t>Reset</a:t>
            </a:r>
            <a:r>
              <a:rPr lang="zh-CN" altLang="en-US" sz="1200"/>
              <a:t>（</a:t>
            </a:r>
            <a:r>
              <a:rPr lang="en-US" altLang="zh-CN" sz="1200"/>
              <a:t>CcIn.u.Flg.RstSlow_b1 == TRUE</a:t>
            </a:r>
            <a:r>
              <a:rPr lang="zh-CN" altLang="en-US" sz="1200"/>
              <a:t>），</a:t>
            </a:r>
            <a:endParaRPr lang="en-US" altLang="zh-CN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目标减速度为正（</a:t>
            </a:r>
            <a:r>
              <a:rPr lang="en-US" altLang="zh-CN" sz="1200"/>
              <a:t>CC_STAT_SLOW_RST_VEH_AX_S16 </a:t>
            </a:r>
            <a:r>
              <a:rPr lang="en-US" altLang="zh-CN" sz="1200" b="1">
                <a:solidFill>
                  <a:srgbClr val="00B050"/>
                </a:solidFill>
              </a:rPr>
              <a:t>0.5m/s2</a:t>
            </a:r>
            <a:r>
              <a:rPr lang="zh-CN" altLang="en-US" sz="1200"/>
              <a:t>）。</a:t>
            </a:r>
          </a:p>
          <a:p>
            <a:r>
              <a:rPr lang="zh-CN" altLang="en-US" sz="1200"/>
              <a:t>其它情况设为 </a:t>
            </a:r>
            <a:r>
              <a:rPr lang="en-US" altLang="zh-CN" sz="1200"/>
              <a:t>CC_STAT_OFF_RST_VEH_AX_S16 </a:t>
            </a:r>
            <a:r>
              <a:rPr lang="en-US" altLang="zh-CN" sz="1200" b="1">
                <a:solidFill>
                  <a:srgbClr val="00B050"/>
                </a:solidFill>
              </a:rPr>
              <a:t>2.3m/s2</a:t>
            </a:r>
            <a:r>
              <a:rPr lang="zh-CN" altLang="en-US" sz="1200"/>
              <a:t>。</a:t>
            </a:r>
            <a:endParaRPr lang="en-US" altLang="zh-CN" sz="120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CE30F27-9384-8614-16CD-17BA5B982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298" y="2479647"/>
            <a:ext cx="8110786" cy="31470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2E0EC64-DB5D-C987-3AA0-3BAEC42E1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388" y="1310075"/>
            <a:ext cx="4554056" cy="74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4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45267EE-FF75-65E7-FEE7-A25574D07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47" y="1831650"/>
            <a:ext cx="10358830" cy="354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61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9E826F9-8DDD-43C9-7A99-457D44BCED70}"/>
              </a:ext>
            </a:extLst>
          </p:cNvPr>
          <p:cNvSpPr txBox="1"/>
          <p:nvPr/>
        </p:nvSpPr>
        <p:spPr>
          <a:xfrm>
            <a:off x="287323" y="150893"/>
            <a:ext cx="6161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err="1">
                <a:solidFill>
                  <a:srgbClr val="00B050"/>
                </a:solidFill>
              </a:rPr>
              <a:t>IsCcActiveStateRequested</a:t>
            </a:r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41A9C2D-39E9-15A6-9B96-CACFFF50ECCB}"/>
              </a:ext>
            </a:extLst>
          </p:cNvPr>
          <p:cNvSpPr txBox="1"/>
          <p:nvPr/>
        </p:nvSpPr>
        <p:spPr>
          <a:xfrm>
            <a:off x="287322" y="507061"/>
            <a:ext cx="11470481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err="1"/>
              <a:t>IsCcActiveStateRequested</a:t>
            </a:r>
            <a:r>
              <a:rPr lang="en-US" altLang="zh-CN" sz="1200"/>
              <a:t> </a:t>
            </a:r>
            <a:r>
              <a:rPr lang="zh-CN" altLang="en-US" sz="1200"/>
              <a:t>是 </a:t>
            </a:r>
            <a:r>
              <a:rPr lang="en-US" altLang="zh-CN" sz="1200"/>
              <a:t>HDC/CC</a:t>
            </a:r>
            <a:r>
              <a:rPr lang="zh-CN" altLang="en-US" sz="1200"/>
              <a:t>（</a:t>
            </a:r>
            <a:r>
              <a:rPr lang="en-US" altLang="zh-CN" sz="1200"/>
              <a:t>Hill Descent Control / Crawl Control</a:t>
            </a:r>
            <a:r>
              <a:rPr lang="zh-CN" altLang="en-US" sz="1200"/>
              <a:t>）状态机的激活判据函数，用于判断当前是否满足进入“激活”状态（即允许</a:t>
            </a:r>
            <a:r>
              <a:rPr lang="en-US" altLang="zh-CN" sz="1200"/>
              <a:t>HDC/CC</a:t>
            </a:r>
            <a:r>
              <a:rPr lang="zh-CN" altLang="en-US" sz="1200"/>
              <a:t>自动介入控制）的所有条件。其判据非常严格，确保只有在安全、合理的工况下才允许系统自动控制车辆下坡或低速爬行。以下为详细分析：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400" b="1"/>
              <a:t>1. </a:t>
            </a:r>
            <a:r>
              <a:rPr lang="zh-CN" altLang="en-US" sz="1400" b="1"/>
              <a:t>主要激活条件</a:t>
            </a:r>
          </a:p>
          <a:p>
            <a:r>
              <a:rPr lang="zh-CN" altLang="en-US" sz="1100" b="1"/>
              <a:t>只有全部满足以下条件，才会返回 </a:t>
            </a:r>
            <a:r>
              <a:rPr lang="en-US" altLang="zh-CN" sz="1100" b="1"/>
              <a:t>TRUE</a:t>
            </a:r>
            <a:r>
              <a:rPr lang="zh-CN" altLang="en-US" sz="1100" b="1"/>
              <a:t>，请求进入激活状态：</a:t>
            </a:r>
          </a:p>
          <a:p>
            <a:endParaRPr lang="zh-CN" altLang="en-US" sz="1100"/>
          </a:p>
          <a:p>
            <a:r>
              <a:rPr lang="en-US" altLang="zh-CN" sz="1100" b="1"/>
              <a:t>1.1 </a:t>
            </a:r>
            <a:r>
              <a:rPr lang="zh-CN" altLang="en-US" sz="1100" b="1"/>
              <a:t>基本开关与系统状态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/>
              <a:t>HDC/CC</a:t>
            </a:r>
            <a:r>
              <a:rPr lang="zh-CN" altLang="en-US" sz="1100"/>
              <a:t>开关已打开（</a:t>
            </a:r>
            <a:r>
              <a:rPr lang="en-US" altLang="zh-CN" sz="1100"/>
              <a:t>CcIn.u.Flg.CcSwActive_b1 == TRUE</a:t>
            </a:r>
            <a:r>
              <a:rPr lang="zh-CN" altLang="en-US" sz="1100"/>
              <a:t>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/>
              <a:t>未被诊断请求禁用（</a:t>
            </a:r>
            <a:r>
              <a:rPr lang="en-US" altLang="zh-CN" sz="1100"/>
              <a:t>CcIn.u.Flg.CcDis_b1 == FALSE</a:t>
            </a:r>
            <a:r>
              <a:rPr lang="zh-CN" altLang="en-US" sz="1100"/>
              <a:t>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/>
              <a:t>未被故障管理器抑制（</a:t>
            </a:r>
            <a:r>
              <a:rPr lang="en-US" altLang="zh-CN" sz="1100"/>
              <a:t>CcIn.u.Flg.CcInh_b1 == FALSE</a:t>
            </a:r>
            <a:r>
              <a:rPr lang="zh-CN" altLang="en-US" sz="1100"/>
              <a:t>）</a:t>
            </a:r>
            <a:endParaRPr lang="en-US" altLang="zh-CN" sz="105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/>
          </a:p>
          <a:p>
            <a:r>
              <a:rPr lang="en-US" altLang="zh-CN" sz="1200" b="1"/>
              <a:t>1.2 </a:t>
            </a:r>
            <a:r>
              <a:rPr lang="zh-CN" altLang="en-US" sz="1200" b="1"/>
              <a:t>速度与档位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车速高于最小允许值（</a:t>
            </a:r>
            <a:r>
              <a:rPr lang="en-US" altLang="zh-CN" sz="1200"/>
              <a:t>CcIn.VehSpd_s16 &gt;= </a:t>
            </a:r>
            <a:r>
              <a:rPr lang="en-US" altLang="zh-CN" sz="1200" err="1"/>
              <a:t>CcStat.CCMinSpd</a:t>
            </a:r>
            <a:r>
              <a:rPr lang="zh-CN" altLang="en-US" sz="1200"/>
              <a:t>）</a:t>
            </a:r>
            <a:r>
              <a:rPr lang="en-US" altLang="zh-CN" sz="1200" b="1">
                <a:solidFill>
                  <a:srgbClr val="00B050"/>
                </a:solidFill>
              </a:rPr>
              <a:t>1.1/1.8/1.2 m/s</a:t>
            </a:r>
            <a:endParaRPr lang="zh-CN" altLang="en-US" sz="1200" b="1">
              <a:solidFill>
                <a:srgbClr val="00B05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车速低于最大允许值（</a:t>
            </a:r>
            <a:r>
              <a:rPr lang="en-US" altLang="zh-CN" sz="1200"/>
              <a:t>CcIn.VehSpd_s16 &lt;= max_veh_speed_s16 </a:t>
            </a:r>
            <a:r>
              <a:rPr lang="en-US" altLang="zh-CN" sz="1200" b="1">
                <a:solidFill>
                  <a:srgbClr val="00B050"/>
                </a:solidFill>
              </a:rPr>
              <a:t>9.7m/s</a:t>
            </a:r>
            <a:r>
              <a:rPr lang="zh-CN" altLang="en-US" sz="1200"/>
              <a:t>，</a:t>
            </a:r>
            <a:r>
              <a:rPr lang="en-US" altLang="zh-CN" sz="1200" err="1"/>
              <a:t>postrun</a:t>
            </a:r>
            <a:r>
              <a:rPr lang="zh-CN" altLang="en-US" sz="1200"/>
              <a:t>时允许更高 </a:t>
            </a:r>
            <a:r>
              <a:rPr lang="en-US" altLang="zh-CN" sz="1200" b="1">
                <a:solidFill>
                  <a:srgbClr val="00B050"/>
                </a:solidFill>
              </a:rPr>
              <a:t>9.7m/s</a:t>
            </a:r>
            <a:r>
              <a:rPr lang="zh-CN" altLang="en-US" sz="1200"/>
              <a:t>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发动机转速高于阈值（</a:t>
            </a:r>
            <a:r>
              <a:rPr lang="en-US" altLang="zh-CN" sz="1200"/>
              <a:t>CcIn.LowRpmDlyTmr_s16 &gt; 0</a:t>
            </a:r>
            <a:r>
              <a:rPr lang="zh-CN" altLang="en-US" sz="1200"/>
              <a:t>）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 b="1"/>
              <a:t>1.3 </a:t>
            </a:r>
            <a:r>
              <a:rPr lang="zh-CN" altLang="en-US" sz="1200" b="1"/>
              <a:t>驾驶员输入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油门踏板未踩或踩得很浅（</a:t>
            </a:r>
            <a:r>
              <a:rPr lang="en-US" altLang="zh-CN" sz="1200"/>
              <a:t>CcIn.AccPdlPos_s16 &lt;= CC_STAT_MIN_ACCEL_PED_POS_S16</a:t>
            </a:r>
            <a:r>
              <a:rPr lang="zh-CN" altLang="en-US" sz="1200"/>
              <a:t>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主缸压力未超限（</a:t>
            </a:r>
            <a:r>
              <a:rPr lang="en-US" altLang="zh-CN" sz="1200"/>
              <a:t>CcIn.McPress_s16 &lt;= CC_STAT_MAX_MC_PRESSURE_S16 </a:t>
            </a:r>
            <a:r>
              <a:rPr lang="zh-CN" altLang="en-US" sz="1200"/>
              <a:t>或未检测到驾驶员制动）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 b="1"/>
              <a:t>1.4 </a:t>
            </a:r>
            <a:r>
              <a:rPr lang="zh-CN" altLang="en-US" sz="1200" b="1"/>
              <a:t>车辆状态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当前不在</a:t>
            </a:r>
            <a:r>
              <a:rPr lang="en-US" altLang="zh-CN" sz="1200"/>
              <a:t>RESET</a:t>
            </a:r>
            <a:r>
              <a:rPr lang="zh-CN" altLang="en-US" sz="1200"/>
              <a:t>状态，或车速高于目标速度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CcSpd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TgtSpdDrv_s32</a:t>
            </a:r>
            <a:r>
              <a:rPr lang="zh-CN" altLang="en-US" sz="1200">
                <a:solidFill>
                  <a:srgbClr val="ABB2BF"/>
                </a:solidFill>
                <a:latin typeface="Consolas" panose="020B0609020204030204" pitchFamily="49" charset="0"/>
              </a:rPr>
              <a:t>）</a:t>
            </a:r>
            <a:r>
              <a:rPr lang="zh-CN" altLang="en-US" sz="1200"/>
              <a:t> 或者 （车辆在</a:t>
            </a:r>
            <a:r>
              <a:rPr lang="en-US" altLang="zh-CN" sz="1200"/>
              <a:t>reset</a:t>
            </a:r>
            <a:r>
              <a:rPr lang="zh-CN" altLang="en-US" sz="1200"/>
              <a:t>状态</a:t>
            </a:r>
            <a:r>
              <a:rPr lang="en-US" altLang="zh-CN" sz="1200"/>
              <a:t>&amp;</a:t>
            </a:r>
            <a:r>
              <a:rPr lang="zh-CN" altLang="en-US" sz="1200"/>
              <a:t>车速高于</a:t>
            </a:r>
            <a:r>
              <a:rPr lang="en-US" altLang="zh-CN" sz="1200"/>
              <a:t>reset </a:t>
            </a:r>
            <a:r>
              <a:rPr lang="zh-CN" altLang="en-US" sz="1200"/>
              <a:t>车速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CcSpd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RstVehSpd_s32</a:t>
            </a:r>
            <a:r>
              <a:rPr lang="zh-CN" altLang="en-US" sz="1200"/>
              <a:t>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挂入允许的档位（手动挡需低档，自动挡不限，或者发动机低转速）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挡位不在</a:t>
            </a:r>
            <a:r>
              <a:rPr lang="en-US" altLang="zh-CN" sz="1200"/>
              <a:t>P</a:t>
            </a:r>
            <a:r>
              <a:rPr lang="zh-CN" altLang="en-US" sz="1200"/>
              <a:t>档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/>
              <a:t>EPB</a:t>
            </a:r>
            <a:r>
              <a:rPr lang="zh-CN" altLang="en-US" sz="1200"/>
              <a:t>未拉起（</a:t>
            </a:r>
            <a:r>
              <a:rPr lang="en-US" altLang="zh-CN" sz="1200"/>
              <a:t>CcIn.v.Flg.EpbClosed_b1 == FALSE</a:t>
            </a:r>
            <a:r>
              <a:rPr lang="zh-CN" altLang="en-US" sz="1200"/>
              <a:t>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/>
              <a:t>ECD</a:t>
            </a:r>
            <a:r>
              <a:rPr lang="zh-CN" altLang="en-US" sz="1200"/>
              <a:t>（</a:t>
            </a:r>
            <a:r>
              <a:rPr lang="en-US" altLang="zh-CN" sz="1200"/>
              <a:t>ECD</a:t>
            </a:r>
            <a:r>
              <a:rPr lang="zh-CN" altLang="en-US" sz="1200"/>
              <a:t>减速）未激活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/>
              <a:t>HA</a:t>
            </a:r>
            <a:r>
              <a:rPr lang="zh-CN" altLang="en-US" sz="1200"/>
              <a:t>（坡道辅助）未激活或正在释放</a:t>
            </a:r>
            <a:endParaRPr lang="en-US" altLang="zh-CN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/>
          </a:p>
          <a:p>
            <a:r>
              <a:rPr lang="en-US" altLang="zh-CN" sz="1200" b="1"/>
              <a:t>1.5 </a:t>
            </a:r>
            <a:r>
              <a:rPr lang="zh-CN" altLang="en-US" sz="1200" b="1"/>
              <a:t>坡度</a:t>
            </a:r>
            <a:r>
              <a:rPr lang="en-US" altLang="zh-CN" sz="1200" b="1"/>
              <a:t>/</a:t>
            </a:r>
            <a:r>
              <a:rPr lang="zh-CN" altLang="en-US" sz="1200" b="1"/>
              <a:t>加速度判据（核心</a:t>
            </a:r>
            <a:r>
              <a:rPr lang="en-US" altLang="zh-CN" sz="1200" b="1"/>
              <a:t>HDC</a:t>
            </a:r>
            <a:r>
              <a:rPr lang="zh-CN" altLang="en-US" sz="1200" b="1"/>
              <a:t>激活条件，参考下一页）</a:t>
            </a:r>
            <a:r>
              <a:rPr lang="en-US" altLang="zh-CN" sz="1400" b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inclination dependent activation</a:t>
            </a:r>
          </a:p>
          <a:p>
            <a:endParaRPr lang="en-US" altLang="zh-CN" sz="1200" b="0">
              <a:solidFill>
                <a:srgbClr val="7F848E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200" b="1"/>
              <a:t>1.6 </a:t>
            </a:r>
            <a:r>
              <a:rPr lang="zh-CN" altLang="en-US" sz="1200" b="1"/>
              <a:t>其它安全与互斥条件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0">
                <a:effectLst/>
                <a:latin typeface="Consolas" panose="020B0609020204030204" pitchFamily="49" charset="0"/>
              </a:rPr>
              <a:t>HDC/CC</a:t>
            </a:r>
            <a:r>
              <a:rPr lang="zh-CN" altLang="en-US" sz="1200" b="0">
                <a:effectLst/>
                <a:latin typeface="Consolas" panose="020B0609020204030204" pitchFamily="49" charset="0"/>
              </a:rPr>
              <a:t>功能已使能（</a:t>
            </a:r>
            <a:r>
              <a:rPr lang="en-US" altLang="zh-CN" sz="1200" b="0">
                <a:effectLst/>
                <a:latin typeface="Consolas" panose="020B0609020204030204" pitchFamily="49" charset="0"/>
              </a:rPr>
              <a:t>CcStat.u.Flg.Enabled_b1 == TRUE</a:t>
            </a:r>
            <a:r>
              <a:rPr lang="zh-CN" altLang="en-US" sz="1200" b="0">
                <a:effectLst/>
                <a:latin typeface="Consolas" panose="020B0609020204030204" pitchFamily="49" charset="0"/>
              </a:rPr>
              <a:t>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0">
                <a:effectLst/>
                <a:latin typeface="Consolas" panose="020B0609020204030204" pitchFamily="49" charset="0"/>
              </a:rPr>
              <a:t>制动盘温度未过高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0">
                <a:effectLst/>
                <a:latin typeface="Consolas" panose="020B0609020204030204" pitchFamily="49" charset="0"/>
              </a:rPr>
              <a:t>LSCC</a:t>
            </a:r>
            <a:r>
              <a:rPr lang="zh-CN" altLang="en-US" sz="1200" b="0">
                <a:effectLst/>
                <a:latin typeface="Consolas" panose="020B0609020204030204" pitchFamily="49" charset="0"/>
              </a:rPr>
              <a:t>、</a:t>
            </a:r>
            <a:r>
              <a:rPr lang="en-US" altLang="zh-CN" sz="1200" b="0">
                <a:effectLst/>
                <a:latin typeface="Consolas" panose="020B0609020204030204" pitchFamily="49" charset="0"/>
              </a:rPr>
              <a:t>APA</a:t>
            </a:r>
            <a:r>
              <a:rPr lang="zh-CN" altLang="en-US" sz="1200" b="0">
                <a:effectLst/>
                <a:latin typeface="Consolas" panose="020B0609020204030204" pitchFamily="49" charset="0"/>
              </a:rPr>
              <a:t>、</a:t>
            </a:r>
            <a:r>
              <a:rPr lang="en-US" altLang="zh-CN" sz="1200" b="0">
                <a:effectLst/>
                <a:latin typeface="Consolas" panose="020B0609020204030204" pitchFamily="49" charset="0"/>
              </a:rPr>
              <a:t>VLC</a:t>
            </a:r>
            <a:r>
              <a:rPr lang="zh-CN" altLang="en-US" sz="1200" b="0">
                <a:effectLst/>
                <a:latin typeface="Consolas" panose="020B0609020204030204" pitchFamily="49" charset="0"/>
              </a:rPr>
              <a:t>等其它自动驾驶功能未激活</a:t>
            </a:r>
            <a:endParaRPr lang="en-US" altLang="zh-CN" sz="1200" b="0">
              <a:effectLst/>
              <a:latin typeface="Consolas" panose="020B0609020204030204" pitchFamily="49" charset="0"/>
            </a:endParaRPr>
          </a:p>
          <a:p>
            <a:endParaRPr lang="zh-CN" altLang="en-US" sz="1200" b="1"/>
          </a:p>
        </p:txBody>
      </p:sp>
    </p:spTree>
    <p:extLst>
      <p:ext uri="{BB962C8B-B14F-4D97-AF65-F5344CB8AC3E}">
        <p14:creationId xmlns:p14="http://schemas.microsoft.com/office/powerpoint/2010/main" val="1726189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AFCAC60-CE6C-2871-AE37-F69A2962E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77" y="530688"/>
            <a:ext cx="11864682" cy="592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62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86E33FB-2D97-C507-C038-1DB8FD6C12EA}"/>
              </a:ext>
            </a:extLst>
          </p:cNvPr>
          <p:cNvSpPr txBox="1"/>
          <p:nvPr/>
        </p:nvSpPr>
        <p:spPr>
          <a:xfrm>
            <a:off x="46139" y="311965"/>
            <a:ext cx="12099721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inclination dependent activation </a:t>
            </a:r>
            <a:r>
              <a:rPr lang="zh-CN" altLang="en-US" b="1">
                <a:solidFill>
                  <a:srgbClr val="FF0000"/>
                </a:solidFill>
              </a:rPr>
              <a:t>激活判据分解</a:t>
            </a:r>
          </a:p>
          <a:p>
            <a:r>
              <a:rPr lang="en-US" altLang="zh-CN" sz="1600" b="1"/>
              <a:t>A. </a:t>
            </a:r>
            <a:r>
              <a:rPr lang="zh-CN" altLang="en-US" sz="1600" b="1"/>
              <a:t>第一层：坡度或坡度变化率足够大</a:t>
            </a:r>
          </a:p>
          <a:p>
            <a:pPr lvl="1"/>
            <a:r>
              <a:rPr lang="en-US" altLang="zh-CN" sz="1400"/>
              <a:t>(-CcIn.AxHillFltRatNrm_s16) &gt; CC_STAT_ACT_AX_COAST_RATE_S16</a:t>
            </a:r>
          </a:p>
          <a:p>
            <a:pPr lvl="1"/>
            <a:r>
              <a:rPr lang="zh-CN" altLang="en-US" sz="1400"/>
              <a:t>坡度变化率超过阈值，说明车辆突然进入陡坡。</a:t>
            </a:r>
          </a:p>
          <a:p>
            <a:pPr lvl="1"/>
            <a:r>
              <a:rPr lang="en-US" altLang="zh-CN" sz="1400"/>
              <a:t>(-CcIn.AxHillFltNrm_s16) &gt; (CC_STAT_ACT_COAST_THRS_S16 - ax_thr_decrement_s16)</a:t>
            </a:r>
          </a:p>
          <a:p>
            <a:pPr lvl="1"/>
            <a:r>
              <a:rPr lang="zh-CN" altLang="en-US" sz="1400"/>
              <a:t>坡度本身已超过激活阈值（倒车时阈值更高）。</a:t>
            </a:r>
          </a:p>
          <a:p>
            <a:r>
              <a:rPr lang="en-US" altLang="zh-CN" sz="1600" b="1"/>
              <a:t>B. </a:t>
            </a:r>
            <a:r>
              <a:rPr lang="zh-CN" altLang="en-US" sz="1600" b="1"/>
              <a:t>第二层：车辆加速度或坡度进一步判据</a:t>
            </a:r>
          </a:p>
          <a:p>
            <a:pPr lvl="1"/>
            <a:r>
              <a:rPr lang="zh-CN" altLang="en-US" sz="1400"/>
              <a:t>车辆加速度大于阈值且延时到达</a:t>
            </a:r>
          </a:p>
          <a:p>
            <a:pPr lvl="1"/>
            <a:r>
              <a:rPr lang="en-US" altLang="zh-CN" sz="1400"/>
              <a:t>CcIn.VehAccFilt_s16 &gt; CC_STAT_ACT_VEH_AX_THRS_S16</a:t>
            </a:r>
          </a:p>
          <a:p>
            <a:pPr lvl="1"/>
            <a:r>
              <a:rPr lang="en-US" altLang="zh-CN" sz="1400"/>
              <a:t>CcStat.VehAccDlyTmr_s16 &gt;= CC_STAT_VEH_AX_DLY_TIM_MAX_S16</a:t>
            </a:r>
          </a:p>
          <a:p>
            <a:pPr lvl="1"/>
            <a:r>
              <a:rPr lang="zh-CN" altLang="en-US" sz="1400"/>
              <a:t>说明车辆因坡度加速下滑，且持续一段时间。</a:t>
            </a:r>
          </a:p>
          <a:p>
            <a:pPr lvl="1"/>
            <a:r>
              <a:rPr lang="en-US" altLang="zh-CN" sz="1400" b="1">
                <a:solidFill>
                  <a:srgbClr val="FFC000"/>
                </a:solidFill>
              </a:rPr>
              <a:t>||</a:t>
            </a:r>
            <a:r>
              <a:rPr lang="zh-CN" altLang="en-US" sz="1400" b="1">
                <a:solidFill>
                  <a:srgbClr val="FFC000"/>
                </a:solidFill>
              </a:rPr>
              <a:t>或</a:t>
            </a:r>
          </a:p>
          <a:p>
            <a:pPr lvl="1"/>
            <a:r>
              <a:rPr lang="zh-CN" altLang="en-US" sz="1400"/>
              <a:t>坡度超过常规阈值</a:t>
            </a:r>
          </a:p>
          <a:p>
            <a:pPr lvl="1"/>
            <a:r>
              <a:rPr lang="en-US" altLang="zh-CN" sz="1400"/>
              <a:t>(-CcIn.AxHillFltNrm_s16) &gt; (CC_STAT_ACT_AX_CMMN_THRS_S16 - ax_thr_decrement_s16)</a:t>
            </a:r>
          </a:p>
          <a:p>
            <a:pPr lvl="1"/>
            <a:r>
              <a:rPr lang="zh-CN" altLang="en-US" sz="1400"/>
              <a:t>只要坡度足够大即可激活。</a:t>
            </a:r>
          </a:p>
          <a:p>
            <a:pPr lvl="1"/>
            <a:r>
              <a:rPr lang="en-US" altLang="zh-CN" sz="1400" b="1">
                <a:solidFill>
                  <a:srgbClr val="FFC000"/>
                </a:solidFill>
              </a:rPr>
              <a:t>||</a:t>
            </a:r>
            <a:r>
              <a:rPr lang="zh-CN" altLang="en-US" sz="1400" b="1">
                <a:solidFill>
                  <a:srgbClr val="FFC000"/>
                </a:solidFill>
              </a:rPr>
              <a:t>或</a:t>
            </a:r>
          </a:p>
          <a:p>
            <a:pPr lvl="1"/>
            <a:r>
              <a:rPr lang="zh-CN" altLang="en-US" sz="1400"/>
              <a:t>坡度和坡度变化率组合判据</a:t>
            </a:r>
          </a:p>
          <a:p>
            <a:pPr lvl="1"/>
            <a:r>
              <a:rPr lang="en-US" altLang="zh-CN" sz="1400"/>
              <a:t>(-CcIn.AxHillFltNrm_s16) &gt; (CC_STAT_ACT_AX_RATE_THRS_S16 - ax_thr_decrement_s16)</a:t>
            </a:r>
          </a:p>
          <a:p>
            <a:pPr lvl="1"/>
            <a:r>
              <a:rPr lang="en-US" altLang="zh-CN" sz="1400"/>
              <a:t>(-CcIn.AxHillFltRatNrm_s16) &gt; CC_STAT_ACT_AX_RATE_S16</a:t>
            </a:r>
          </a:p>
          <a:p>
            <a:pPr lvl="1"/>
            <a:r>
              <a:rPr lang="zh-CN" altLang="en-US" sz="1400"/>
              <a:t>坡度较大且坡度变化快，防止短时误触发。</a:t>
            </a:r>
          </a:p>
          <a:p>
            <a:pPr lvl="1"/>
            <a:r>
              <a:rPr lang="en-US" altLang="zh-CN" sz="1400" b="1">
                <a:solidFill>
                  <a:srgbClr val="FFC000"/>
                </a:solidFill>
              </a:rPr>
              <a:t>||</a:t>
            </a:r>
            <a:r>
              <a:rPr lang="zh-CN" altLang="en-US" sz="1400" b="1">
                <a:solidFill>
                  <a:srgbClr val="FFC000"/>
                </a:solidFill>
              </a:rPr>
              <a:t>或</a:t>
            </a:r>
          </a:p>
          <a:p>
            <a:pPr lvl="1"/>
            <a:r>
              <a:rPr lang="zh-CN" altLang="en-US" sz="1400"/>
              <a:t>极端陡坡快速激活</a:t>
            </a:r>
          </a:p>
          <a:p>
            <a:pPr lvl="1"/>
            <a:r>
              <a:rPr lang="en-US" altLang="zh-CN" sz="1400"/>
              <a:t>(-CcIn.AxHillFltNrm_s16) &gt; CC_STAT_ACT_FAST_THRS_S16</a:t>
            </a:r>
          </a:p>
          <a:p>
            <a:pPr lvl="1"/>
            <a:r>
              <a:rPr lang="en-US" altLang="zh-CN" sz="1400"/>
              <a:t>(-CcIn.AxHillFastNrm_s16) &gt; CC_STAT_ACT_AX_FAST_S16</a:t>
            </a:r>
          </a:p>
          <a:p>
            <a:pPr lvl="1"/>
            <a:r>
              <a:rPr lang="en-US" altLang="zh-CN" sz="1400"/>
              <a:t>CcIn.VehSpd_s16 &gt;= CC_STAT_ACT_AX_FST_SPD_S16</a:t>
            </a:r>
          </a:p>
          <a:p>
            <a:pPr lvl="1"/>
            <a:r>
              <a:rPr lang="zh-CN" altLang="en-US" sz="1400"/>
              <a:t>车辆速度较高且坡度极大时，快速激活。</a:t>
            </a:r>
          </a:p>
        </p:txBody>
      </p:sp>
    </p:spTree>
    <p:extLst>
      <p:ext uri="{BB962C8B-B14F-4D97-AF65-F5344CB8AC3E}">
        <p14:creationId xmlns:p14="http://schemas.microsoft.com/office/powerpoint/2010/main" val="23838680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9E826F9-8DDD-43C9-7A99-457D44BCED70}"/>
              </a:ext>
            </a:extLst>
          </p:cNvPr>
          <p:cNvSpPr txBox="1"/>
          <p:nvPr/>
        </p:nvSpPr>
        <p:spPr>
          <a:xfrm>
            <a:off x="144710" y="-125533"/>
            <a:ext cx="6161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err="1">
                <a:solidFill>
                  <a:srgbClr val="00B050"/>
                </a:solidFill>
              </a:rPr>
              <a:t>IsCcPassiveStateRequested</a:t>
            </a:r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41A9C2D-39E9-15A6-9B96-CACFFF50ECCB}"/>
              </a:ext>
            </a:extLst>
          </p:cNvPr>
          <p:cNvSpPr txBox="1"/>
          <p:nvPr/>
        </p:nvSpPr>
        <p:spPr>
          <a:xfrm>
            <a:off x="0" y="243799"/>
            <a:ext cx="11470481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err="1"/>
              <a:t>IsCcPassiveStateRequested</a:t>
            </a:r>
            <a:r>
              <a:rPr lang="en-US" altLang="zh-CN" sz="1200"/>
              <a:t> </a:t>
            </a:r>
            <a:r>
              <a:rPr lang="zh-CN" altLang="en-US" sz="1200"/>
              <a:t>是 </a:t>
            </a:r>
            <a:r>
              <a:rPr lang="en-US" altLang="zh-CN" sz="1200"/>
              <a:t>HDC/CC</a:t>
            </a:r>
            <a:r>
              <a:rPr lang="zh-CN" altLang="en-US" sz="1200"/>
              <a:t>（</a:t>
            </a:r>
            <a:r>
              <a:rPr lang="en-US" altLang="zh-CN" sz="1200"/>
              <a:t>Hill Descent Control / Crawl Control</a:t>
            </a:r>
            <a:r>
              <a:rPr lang="zh-CN" altLang="en-US" sz="1200"/>
              <a:t>）状态机的被动（退出）判据函数，用于判断当前是否满足退出激活状态、转为被动</a:t>
            </a:r>
            <a:r>
              <a:rPr lang="en-US" altLang="zh-CN" sz="1200"/>
              <a:t>/</a:t>
            </a:r>
            <a:r>
              <a:rPr lang="zh-CN" altLang="en-US" sz="1200"/>
              <a:t>非控制状态的条件。它的设计目的是确保在安全、合理或驾驶员主动干预等情况下，及时退出自动控制，防止误控或影响驾驶体验。下面详细分析其判据和物理意义：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 b="1"/>
              <a:t>1. </a:t>
            </a:r>
            <a:r>
              <a:rPr lang="zh-CN" altLang="en-US" sz="1200" b="1"/>
              <a:t>主要退出条件</a:t>
            </a:r>
          </a:p>
          <a:p>
            <a:r>
              <a:rPr lang="zh-CN" altLang="en-US" sz="1200" b="1"/>
              <a:t>只要满足以下任一条件，即请求退出（返回 </a:t>
            </a:r>
            <a:r>
              <a:rPr lang="en-US" altLang="zh-CN" sz="1200" b="1"/>
              <a:t>TRUE</a:t>
            </a:r>
            <a:r>
              <a:rPr lang="zh-CN" altLang="en-US" sz="1200" b="1"/>
              <a:t>）：</a:t>
            </a:r>
          </a:p>
          <a:p>
            <a:endParaRPr lang="zh-CN" altLang="en-US" sz="1200" b="1"/>
          </a:p>
          <a:p>
            <a:r>
              <a:rPr lang="en-US" altLang="zh-CN" sz="1100" b="1"/>
              <a:t>1.1 </a:t>
            </a:r>
            <a:r>
              <a:rPr lang="zh-CN" altLang="en-US" sz="1100" b="1"/>
              <a:t>平路检测</a:t>
            </a:r>
            <a:r>
              <a:rPr lang="en-US" altLang="zh-CN" sz="1100" b="1"/>
              <a:t>+</a:t>
            </a:r>
            <a:r>
              <a:rPr lang="zh-CN" altLang="en-US" sz="1100" b="1"/>
              <a:t>制动请求低</a:t>
            </a:r>
          </a:p>
          <a:p>
            <a:r>
              <a:rPr lang="zh-CN" altLang="en-US" sz="1100"/>
              <a:t>平路检测延时计时器到达（</a:t>
            </a:r>
            <a:r>
              <a:rPr lang="en-US" altLang="zh-CN" sz="1100"/>
              <a:t>CcStat.FlatDetDlyTmr_s16 &gt;= CC_STAT_FLAT_DELAY_TIM_MAX_S16</a:t>
            </a:r>
            <a:r>
              <a:rPr lang="zh-CN" altLang="en-US" sz="1100"/>
              <a:t>）</a:t>
            </a:r>
          </a:p>
          <a:p>
            <a:r>
              <a:rPr lang="zh-CN" altLang="en-US" sz="1100"/>
              <a:t>制动请求低于阈值（</a:t>
            </a:r>
            <a:r>
              <a:rPr lang="en-US" altLang="zh-CN" sz="1100"/>
              <a:t>CcIn.CcBrkTrqReq_s16 &lt;= CC_STAT_FLAT_BRAKE_TRQ_REQ_S16</a:t>
            </a:r>
            <a:r>
              <a:rPr lang="zh-CN" altLang="en-US" sz="1100"/>
              <a:t>）</a:t>
            </a:r>
          </a:p>
          <a:p>
            <a:r>
              <a:rPr lang="zh-CN" altLang="en-US" sz="1100"/>
              <a:t>说明车辆已驶离坡道，且不再需要自动控制。</a:t>
            </a:r>
            <a:endParaRPr lang="en-US" altLang="zh-CN" sz="1100"/>
          </a:p>
          <a:p>
            <a:endParaRPr lang="en-US" altLang="zh-CN" sz="1100"/>
          </a:p>
          <a:p>
            <a:r>
              <a:rPr lang="en-US" altLang="zh-CN" sz="1100" b="1"/>
              <a:t>1.2 </a:t>
            </a:r>
            <a:r>
              <a:rPr lang="zh-CN" altLang="en-US" sz="1100" b="1"/>
              <a:t>驾驶员强制干预</a:t>
            </a:r>
          </a:p>
          <a:p>
            <a:r>
              <a:rPr lang="zh-CN" altLang="en-US" sz="1050"/>
              <a:t>主缸压力过高（</a:t>
            </a:r>
            <a:r>
              <a:rPr lang="en-US" altLang="zh-CN" sz="1050"/>
              <a:t>CcIn.McPress_s16 &gt; CC_STAT_RESET_MC_PRESSURE_S16</a:t>
            </a:r>
            <a:r>
              <a:rPr lang="zh-CN" altLang="en-US" sz="1050"/>
              <a:t>）</a:t>
            </a:r>
          </a:p>
          <a:p>
            <a:r>
              <a:rPr lang="zh-CN" altLang="en-US" sz="1050"/>
              <a:t>驾驶员制动覆盖（</a:t>
            </a:r>
            <a:r>
              <a:rPr lang="en-US" altLang="zh-CN" sz="1050"/>
              <a:t>CcStat.u.Flg.BrkOvrd_b1 == TRUE</a:t>
            </a:r>
            <a:r>
              <a:rPr lang="zh-CN" altLang="en-US" sz="1050"/>
              <a:t>）</a:t>
            </a:r>
          </a:p>
          <a:p>
            <a:r>
              <a:rPr lang="zh-CN" altLang="en-US" sz="1050"/>
              <a:t>油门踏板深踩（</a:t>
            </a:r>
            <a:r>
              <a:rPr lang="en-US" altLang="zh-CN" sz="1050"/>
              <a:t>CcIn.AccPdlPos_s16 &gt; CC_STAT_RESET_PED_POS_S16</a:t>
            </a:r>
            <a:r>
              <a:rPr lang="zh-CN" altLang="en-US" sz="1050"/>
              <a:t>）</a:t>
            </a:r>
          </a:p>
          <a:p>
            <a:r>
              <a:rPr lang="zh-CN" altLang="en-US" sz="1050"/>
              <a:t>驾驶员主动踩油门或制动，系统应立即退出自动控制。</a:t>
            </a:r>
            <a:endParaRPr lang="en-US" altLang="zh-CN" sz="1050"/>
          </a:p>
          <a:p>
            <a:endParaRPr lang="en-US" altLang="zh-CN" sz="1050"/>
          </a:p>
          <a:p>
            <a:r>
              <a:rPr lang="en-US" altLang="zh-CN" sz="1100" b="1"/>
              <a:t>1.3 </a:t>
            </a:r>
            <a:r>
              <a:rPr lang="zh-CN" altLang="en-US" sz="1100" b="1"/>
              <a:t>系统</a:t>
            </a:r>
            <a:r>
              <a:rPr lang="en-US" altLang="zh-CN" sz="1100" b="1"/>
              <a:t>/</a:t>
            </a:r>
            <a:r>
              <a:rPr lang="zh-CN" altLang="en-US" sz="1100" b="1"/>
              <a:t>外部请求</a:t>
            </a:r>
          </a:p>
          <a:p>
            <a:r>
              <a:rPr lang="zh-CN" altLang="en-US" sz="1050" b="1"/>
              <a:t>立即复位请求</a:t>
            </a:r>
            <a:r>
              <a:rPr lang="zh-CN" altLang="en-US" sz="1050"/>
              <a:t>（</a:t>
            </a:r>
            <a:r>
              <a:rPr lang="en-US" altLang="zh-CN" sz="1050"/>
              <a:t>CcIn.u.Flg.RstImm_b1 == TRUE</a:t>
            </a:r>
            <a:r>
              <a:rPr lang="zh-CN" altLang="en-US" sz="1050"/>
              <a:t>）</a:t>
            </a:r>
          </a:p>
          <a:p>
            <a:r>
              <a:rPr lang="en-US" altLang="zh-CN" sz="1050" b="1"/>
              <a:t>EPB</a:t>
            </a:r>
            <a:r>
              <a:rPr lang="zh-CN" altLang="en-US" sz="1050" b="1"/>
              <a:t>拉起</a:t>
            </a:r>
            <a:r>
              <a:rPr lang="zh-CN" altLang="en-US" sz="1050"/>
              <a:t>（</a:t>
            </a:r>
            <a:r>
              <a:rPr lang="en-US" altLang="zh-CN" sz="1050"/>
              <a:t>CcIn.v.Flg.EpbClosed_b1 == TRUE</a:t>
            </a:r>
            <a:r>
              <a:rPr lang="zh-CN" altLang="en-US" sz="1050"/>
              <a:t>）</a:t>
            </a:r>
          </a:p>
          <a:p>
            <a:r>
              <a:rPr lang="en-US" altLang="zh-CN" sz="1050" b="1"/>
              <a:t>ECD</a:t>
            </a:r>
            <a:r>
              <a:rPr lang="zh-CN" altLang="en-US" sz="1050" b="1"/>
              <a:t>激活</a:t>
            </a:r>
            <a:r>
              <a:rPr lang="zh-CN" altLang="en-US" sz="1050"/>
              <a:t>（</a:t>
            </a:r>
            <a:r>
              <a:rPr lang="en-US" altLang="zh-CN" sz="1050"/>
              <a:t>CcIn.v.Flg.EcdActive_b1 == TRUE</a:t>
            </a:r>
            <a:r>
              <a:rPr lang="zh-CN" altLang="en-US" sz="1050"/>
              <a:t>）</a:t>
            </a:r>
          </a:p>
          <a:p>
            <a:r>
              <a:rPr lang="en-US" altLang="zh-CN" sz="1050" b="1"/>
              <a:t>HSA</a:t>
            </a:r>
            <a:r>
              <a:rPr lang="zh-CN" altLang="en-US" sz="1050" b="1"/>
              <a:t>激活且未释放</a:t>
            </a:r>
            <a:r>
              <a:rPr lang="zh-CN" altLang="en-US" sz="1050"/>
              <a:t>（</a:t>
            </a:r>
            <a:r>
              <a:rPr lang="en-US" altLang="zh-CN" sz="1050"/>
              <a:t>CcIn.v.Flg.HaReq_b1 == TRUE &amp;&amp; CcIn.v.Flg.HaRls_b1 == FALSE</a:t>
            </a:r>
            <a:r>
              <a:rPr lang="zh-CN" altLang="en-US" sz="1050"/>
              <a:t>）</a:t>
            </a:r>
          </a:p>
          <a:p>
            <a:r>
              <a:rPr lang="zh-CN" altLang="en-US" sz="1050"/>
              <a:t>这些情况都要求系统立即退出自动控制。</a:t>
            </a:r>
            <a:endParaRPr lang="en-US" altLang="zh-CN" sz="1050"/>
          </a:p>
          <a:p>
            <a:endParaRPr lang="en-US" altLang="zh-CN" sz="1050"/>
          </a:p>
          <a:p>
            <a:r>
              <a:rPr lang="en-US" altLang="zh-CN" sz="1100" b="1"/>
              <a:t>1.4 Reset</a:t>
            </a:r>
            <a:r>
              <a:rPr lang="zh-CN" altLang="en-US" sz="1100" b="1"/>
              <a:t>状态下的特殊判据</a:t>
            </a:r>
          </a:p>
          <a:p>
            <a:r>
              <a:rPr lang="zh-CN" altLang="en-US" sz="1050"/>
              <a:t>当前处于</a:t>
            </a:r>
            <a:r>
              <a:rPr lang="en-US" altLang="zh-CN" sz="1050"/>
              <a:t>Reset</a:t>
            </a:r>
            <a:r>
              <a:rPr lang="zh-CN" altLang="en-US" sz="1050"/>
              <a:t>状态（</a:t>
            </a:r>
            <a:r>
              <a:rPr lang="en-US" altLang="zh-CN" sz="1050"/>
              <a:t>CcStat.State_u8 == CC_STATE_RESET_STATE_U8</a:t>
            </a:r>
            <a:r>
              <a:rPr lang="zh-CN" altLang="en-US" sz="1050"/>
              <a:t>）且满足以下任一：</a:t>
            </a:r>
          </a:p>
          <a:p>
            <a:r>
              <a:rPr lang="zh-CN" altLang="en-US" sz="1050"/>
              <a:t>车速接近零（</a:t>
            </a:r>
            <a:r>
              <a:rPr lang="en-US" altLang="zh-CN" sz="1050"/>
              <a:t>CcIn.VehSpd_s16 &lt; CC_STAT_MIN_VEH_SPEED_S16</a:t>
            </a:r>
            <a:r>
              <a:rPr lang="zh-CN" altLang="en-US" sz="1050"/>
              <a:t>）</a:t>
            </a:r>
          </a:p>
          <a:p>
            <a:r>
              <a:rPr lang="en-US" altLang="zh-CN" sz="1050"/>
              <a:t>Reset</a:t>
            </a:r>
            <a:r>
              <a:rPr lang="zh-CN" altLang="en-US" sz="1050"/>
              <a:t>目标速度达到最大</a:t>
            </a:r>
            <a:r>
              <a:rPr lang="en-US" altLang="zh-CN" sz="1050"/>
              <a:t>CC</a:t>
            </a:r>
            <a:r>
              <a:rPr lang="zh-CN" altLang="en-US" sz="1050"/>
              <a:t>速度（</a:t>
            </a:r>
            <a:r>
              <a:rPr lang="en-US" altLang="zh-CN" sz="1050"/>
              <a:t>CcSpd.RstVehSpd_s32 &gt;= CC_STAT_MAX_VEH_SPEED_S16 * CC_VEH_SPEED_HIGH_RES</a:t>
            </a:r>
            <a:r>
              <a:rPr lang="zh-CN" altLang="en-US" sz="1050"/>
              <a:t>）</a:t>
            </a:r>
          </a:p>
          <a:p>
            <a:r>
              <a:rPr lang="zh-CN" altLang="en-US" sz="1050"/>
              <a:t>车速与目标速度差过大（</a:t>
            </a:r>
            <a:r>
              <a:rPr lang="en-US" altLang="zh-CN" sz="1050"/>
              <a:t>CcSpd.RstVehSpd_s32 &gt;= (CcIn.VehSpd_s16 + CC_STAT_RST_VEH_SPD_DIFF_S16) * CC_VEH_SPEED_HIGH_RES</a:t>
            </a:r>
            <a:r>
              <a:rPr lang="zh-CN" altLang="en-US" sz="1050"/>
              <a:t>）</a:t>
            </a:r>
          </a:p>
          <a:p>
            <a:r>
              <a:rPr lang="zh-CN" altLang="en-US" sz="1050"/>
              <a:t>制动请求低于最小值（</a:t>
            </a:r>
            <a:r>
              <a:rPr lang="en-US" altLang="zh-CN" sz="1050"/>
              <a:t>CcIn.CcBrkTrqReq_s16 &lt;= CC_STAT_MIN_BRAKE_TRQ_REQ_S16</a:t>
            </a:r>
            <a:r>
              <a:rPr lang="zh-CN" altLang="en-US" sz="1050"/>
              <a:t>）</a:t>
            </a:r>
            <a:endParaRPr lang="en-US" altLang="zh-CN" sz="1050"/>
          </a:p>
          <a:p>
            <a:endParaRPr lang="en-US" altLang="zh-CN" sz="1050"/>
          </a:p>
          <a:p>
            <a:r>
              <a:rPr lang="en-US" altLang="zh-CN" sz="1100" b="1"/>
              <a:t>1.5 </a:t>
            </a:r>
            <a:r>
              <a:rPr lang="zh-CN" altLang="en-US" sz="1100" b="1"/>
              <a:t>车辆静止超时</a:t>
            </a:r>
          </a:p>
          <a:p>
            <a:r>
              <a:rPr lang="zh-CN" altLang="en-US" sz="1050"/>
              <a:t>静止计时器到达（</a:t>
            </a:r>
            <a:r>
              <a:rPr lang="en-US" altLang="zh-CN" sz="1050"/>
              <a:t>CcStat.VehStillTmr_s16 &gt;= CC_STAT_STILLSTAND_TIM_S16</a:t>
            </a:r>
            <a:r>
              <a:rPr lang="zh-CN" altLang="en-US" sz="1050"/>
              <a:t>）</a:t>
            </a:r>
          </a:p>
          <a:p>
            <a:r>
              <a:rPr lang="zh-CN" altLang="en-US" sz="1050"/>
              <a:t>车辆长时间静止，自动退出。</a:t>
            </a:r>
            <a:endParaRPr lang="en-US" altLang="zh-CN" sz="1050"/>
          </a:p>
          <a:p>
            <a:endParaRPr lang="en-US" altLang="zh-CN" sz="1050"/>
          </a:p>
          <a:p>
            <a:r>
              <a:rPr lang="en-US" altLang="zh-CN" sz="1200" b="1"/>
              <a:t>1.6 </a:t>
            </a:r>
            <a:r>
              <a:rPr lang="zh-CN" altLang="en-US" sz="1200" b="1"/>
              <a:t>功能失能</a:t>
            </a:r>
          </a:p>
          <a:p>
            <a:r>
              <a:rPr lang="en-US" altLang="zh-CN" sz="1050"/>
              <a:t>HDC/CC</a:t>
            </a:r>
            <a:r>
              <a:rPr lang="zh-CN" altLang="en-US" sz="1050"/>
              <a:t>功能已失能（</a:t>
            </a:r>
            <a:r>
              <a:rPr lang="en-US" altLang="zh-CN" sz="1050"/>
              <a:t>CcStat.u.Flg.Enabled_b1 == FALSE</a:t>
            </a:r>
            <a:r>
              <a:rPr lang="zh-CN" altLang="en-US" sz="1050"/>
              <a:t>）</a:t>
            </a:r>
            <a:endParaRPr lang="en-US" altLang="zh-CN" sz="1050"/>
          </a:p>
          <a:p>
            <a:endParaRPr lang="en-US" altLang="zh-CN" sz="1050"/>
          </a:p>
          <a:p>
            <a:r>
              <a:rPr lang="en-US" altLang="zh-CN" sz="1200" b="1"/>
              <a:t>1.7 </a:t>
            </a:r>
            <a:r>
              <a:rPr lang="zh-CN" altLang="en-US" sz="1200" b="1"/>
              <a:t>目标速度判据</a:t>
            </a:r>
          </a:p>
          <a:p>
            <a:r>
              <a:rPr lang="zh-CN" altLang="en-US" sz="1050"/>
              <a:t>当前车速</a:t>
            </a:r>
            <a:r>
              <a:rPr lang="en-US" altLang="zh-CN" sz="1050"/>
              <a:t>+</a:t>
            </a:r>
            <a:r>
              <a:rPr lang="zh-CN" altLang="en-US" sz="1050"/>
              <a:t>阈值 </a:t>
            </a:r>
            <a:r>
              <a:rPr lang="en-US" altLang="zh-CN" sz="1050"/>
              <a:t>&lt; </a:t>
            </a:r>
            <a:r>
              <a:rPr lang="zh-CN" altLang="en-US" sz="1050"/>
              <a:t>目标车速</a:t>
            </a:r>
          </a:p>
          <a:p>
            <a:r>
              <a:rPr lang="en-US" altLang="zh-CN" sz="1050"/>
              <a:t>((CcIn.VehSpd_s16 + CC_STAT_RST_VEH_SPD_DIFF_S16) &lt; (S16)(CcSpd.TgtSpdDrv_s32 / CC_VEH_SPEED_HIGH_RES))</a:t>
            </a:r>
          </a:p>
          <a:p>
            <a:r>
              <a:rPr lang="zh-CN" altLang="en-US" sz="1050"/>
              <a:t>说明车辆实际速度已远低于目标，自动退出。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5491E1E-CAAE-A940-38EC-DCD0A2FB10FA}"/>
              </a:ext>
            </a:extLst>
          </p:cNvPr>
          <p:cNvSpPr txBox="1"/>
          <p:nvPr/>
        </p:nvSpPr>
        <p:spPr>
          <a:xfrm>
            <a:off x="6530768" y="6089904"/>
            <a:ext cx="61036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200" b="1" i="0">
                <a:effectLst/>
                <a:latin typeface="Segoe WPC"/>
              </a:rPr>
              <a:t>1.8 </a:t>
            </a:r>
            <a:r>
              <a:rPr lang="zh-CN" altLang="en-US" sz="1200" b="1" i="0">
                <a:effectLst/>
                <a:latin typeface="Segoe WPC"/>
              </a:rPr>
              <a:t>互斥功能激活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100" i="0">
                <a:effectLst/>
                <a:latin typeface="Segoe WPC"/>
              </a:rPr>
              <a:t>LSCC</a:t>
            </a:r>
            <a:r>
              <a:rPr lang="zh-CN" altLang="en-US" sz="1100" i="0">
                <a:effectLst/>
                <a:latin typeface="Segoe WPC"/>
              </a:rPr>
              <a:t>（低速巡航）、</a:t>
            </a:r>
            <a:r>
              <a:rPr lang="en-US" altLang="zh-CN" sz="1100" i="0">
                <a:effectLst/>
                <a:latin typeface="Segoe WPC"/>
              </a:rPr>
              <a:t>APA</a:t>
            </a:r>
            <a:r>
              <a:rPr lang="zh-CN" altLang="en-US" sz="1100" i="0">
                <a:effectLst/>
                <a:latin typeface="Segoe WPC"/>
              </a:rPr>
              <a:t>（自动泊车）、</a:t>
            </a:r>
            <a:r>
              <a:rPr lang="en-US" altLang="zh-CN" sz="1100" i="0">
                <a:effectLst/>
                <a:latin typeface="Segoe WPC"/>
              </a:rPr>
              <a:t>VLC</a:t>
            </a:r>
            <a:r>
              <a:rPr lang="zh-CN" altLang="en-US" sz="1100" i="0">
                <a:effectLst/>
                <a:latin typeface="Segoe WPC"/>
              </a:rPr>
              <a:t>（纵向控制）等其它自动驾驶功能激活（如有）</a:t>
            </a:r>
          </a:p>
        </p:txBody>
      </p:sp>
    </p:spTree>
    <p:extLst>
      <p:ext uri="{BB962C8B-B14F-4D97-AF65-F5344CB8AC3E}">
        <p14:creationId xmlns:p14="http://schemas.microsoft.com/office/powerpoint/2010/main" val="30635085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CC6A507-876E-0396-5CB8-4B276ADCC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65" y="575142"/>
            <a:ext cx="10740575" cy="556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0432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296141E-B551-E98C-23F9-EA1C3D0B80E0}"/>
              </a:ext>
            </a:extLst>
          </p:cNvPr>
          <p:cNvSpPr txBox="1"/>
          <p:nvPr/>
        </p:nvSpPr>
        <p:spPr>
          <a:xfrm>
            <a:off x="198539" y="474345"/>
            <a:ext cx="11794921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1600" b="1"/>
              <a:t>主要功能</a:t>
            </a:r>
            <a:endParaRPr lang="en-US" altLang="zh-CN" sz="1600" b="1"/>
          </a:p>
          <a:p>
            <a:endParaRPr lang="zh-CN" altLang="en-US" sz="1200" b="1"/>
          </a:p>
          <a:p>
            <a:r>
              <a:rPr lang="en-US" altLang="zh-CN" sz="1200" b="1"/>
              <a:t>1.1 </a:t>
            </a:r>
            <a:r>
              <a:rPr lang="zh-CN" altLang="en-US" sz="1200" b="1"/>
              <a:t>车辆状态与标志计算</a:t>
            </a:r>
            <a:endParaRPr lang="en-US" altLang="zh-CN" sz="1200" b="1"/>
          </a:p>
          <a:p>
            <a:endParaRPr lang="zh-CN" altLang="en-US" sz="1400"/>
          </a:p>
          <a:p>
            <a:r>
              <a:rPr lang="zh-CN" altLang="en-US" sz="1200"/>
              <a:t>挂挡状态：根据变速器类型和当前档位，判断车辆是否处于“挂挡”状态（</a:t>
            </a:r>
            <a:r>
              <a:rPr lang="en-US" altLang="zh-CN" sz="1200"/>
              <a:t>CcStat.u.Flg.InGear_b1</a:t>
            </a:r>
            <a:r>
              <a:rPr lang="zh-CN" altLang="en-US" sz="1200"/>
              <a:t>）。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Flg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InGear_b1</a:t>
            </a:r>
            <a:endParaRPr lang="zh-CN" altLang="en-US" sz="1200"/>
          </a:p>
          <a:p>
            <a:r>
              <a:rPr lang="zh-CN" altLang="en-US" sz="1200"/>
              <a:t>车辆加速度延时计时器：用于坡度变化或加速变化时的延迟处理，防止误触发。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VehAccDlyTmr_s16</a:t>
            </a:r>
            <a:endParaRPr lang="zh-CN" altLang="en-US" sz="1200"/>
          </a:p>
          <a:p>
            <a:r>
              <a:rPr lang="zh-CN" altLang="en-US" sz="1200"/>
              <a:t>平路检测延时计时器：用于检测车辆是否处于平路，影响</a:t>
            </a:r>
            <a:r>
              <a:rPr lang="en-US" altLang="zh-CN" sz="1200"/>
              <a:t>HDC</a:t>
            </a:r>
            <a:r>
              <a:rPr lang="zh-CN" altLang="en-US" sz="1200"/>
              <a:t>退出条件。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FlatDetDlyTmr_s16</a:t>
            </a:r>
            <a:endParaRPr lang="zh-CN" altLang="en-US" sz="1200"/>
          </a:p>
          <a:p>
            <a:r>
              <a:rPr lang="zh-CN" altLang="en-US" sz="1200"/>
              <a:t>静止计时器：判断车辆是否长时间静止，用于状态切换。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VCcStat</a:t>
            </a:r>
            <a:r>
              <a:rPr lang="en-US" altLang="zh-CN" sz="12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VehStillTmr_s16</a:t>
            </a:r>
          </a:p>
          <a:p>
            <a:endParaRPr lang="en-US" altLang="zh-CN" sz="1200">
              <a:solidFill>
                <a:srgbClr val="DB7079"/>
              </a:solidFill>
              <a:latin typeface="Consolas" panose="020B0609020204030204" pitchFamily="49" charset="0"/>
            </a:endParaRPr>
          </a:p>
          <a:p>
            <a:endParaRPr lang="en-US" altLang="zh-CN" sz="1200" b="0">
              <a:solidFill>
                <a:srgbClr val="DB707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200" b="1">
                <a:effectLst/>
                <a:latin typeface="Consolas" panose="020B0609020204030204" pitchFamily="49" charset="0"/>
              </a:rPr>
              <a:t>1.2 </a:t>
            </a:r>
            <a:r>
              <a:rPr lang="zh-CN" altLang="en-US" sz="1200" b="1">
                <a:effectLst/>
                <a:latin typeface="Consolas" panose="020B0609020204030204" pitchFamily="49" charset="0"/>
              </a:rPr>
              <a:t>各类计时器与标志管理</a:t>
            </a:r>
          </a:p>
          <a:p>
            <a:r>
              <a:rPr lang="en-US" altLang="zh-CN" sz="1100" b="0" err="1">
                <a:effectLst/>
                <a:latin typeface="Consolas" panose="020B0609020204030204" pitchFamily="49" charset="0"/>
              </a:rPr>
              <a:t>Postrun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计时器：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HDC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激活后用于简化再次激活的判据。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PrunTmr_s16</a:t>
            </a:r>
            <a:endParaRPr lang="zh-CN" altLang="en-US" sz="1100" b="0">
              <a:effectLst/>
              <a:latin typeface="Consolas" panose="020B0609020204030204" pitchFamily="49" charset="0"/>
            </a:endParaRPr>
          </a:p>
          <a:p>
            <a:r>
              <a:rPr lang="zh-CN" altLang="en-US" sz="1100" b="0">
                <a:effectLst/>
                <a:latin typeface="Consolas" panose="020B0609020204030204" pitchFamily="49" charset="0"/>
              </a:rPr>
              <a:t>制动覆盖计时器：驾驶员主动制动时计时，超时后设置覆盖标志（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BrkOvrd_b1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）。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BrkOvrdTmr_s16,</a:t>
            </a:r>
            <a:r>
              <a:rPr lang="en-US" altLang="zh-CN" sz="1100">
                <a:solidFill>
                  <a:srgbClr val="ABB2B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Flg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BrkOvrd_b1</a:t>
            </a:r>
            <a:endParaRPr lang="zh-CN" altLang="en-US" sz="1100" b="0">
              <a:effectLst/>
              <a:latin typeface="Consolas" panose="020B0609020204030204" pitchFamily="49" charset="0"/>
            </a:endParaRPr>
          </a:p>
          <a:p>
            <a:r>
              <a:rPr lang="en-US" altLang="zh-CN" sz="1100" b="0">
                <a:effectLst/>
                <a:latin typeface="Consolas" panose="020B0609020204030204" pitchFamily="49" charset="0"/>
              </a:rPr>
              <a:t>HDC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使能标志：根据开关、故障、抑制等条件，决定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HDC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是否允许激活。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Flg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Enabled_b1 </a:t>
            </a:r>
            <a:r>
              <a:rPr lang="zh-CN" altLang="en-US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（取决于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HDC enable</a:t>
            </a:r>
            <a:r>
              <a:rPr lang="zh-CN" altLang="en-US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条件 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+ HMI </a:t>
            </a:r>
            <a:r>
              <a:rPr lang="zh-CN" altLang="en-US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开关激活）</a:t>
            </a:r>
            <a:r>
              <a:rPr lang="en-US" altLang="zh-CN" sz="1100">
                <a:solidFill>
                  <a:srgbClr val="ABB2BF"/>
                </a:solidFill>
                <a:latin typeface="Consolas" panose="020B0609020204030204" pitchFamily="49" charset="0"/>
              </a:rPr>
              <a:t> </a:t>
            </a:r>
            <a:endParaRPr lang="zh-CN" altLang="en-US" sz="1100" b="0">
              <a:effectLst/>
              <a:latin typeface="Consolas" panose="020B0609020204030204" pitchFamily="49" charset="0"/>
            </a:endParaRPr>
          </a:p>
          <a:p>
            <a:r>
              <a:rPr lang="zh-CN" altLang="en-US" sz="1100" b="0">
                <a:effectLst/>
                <a:latin typeface="Consolas" panose="020B0609020204030204" pitchFamily="49" charset="0"/>
              </a:rPr>
              <a:t>制动盘温度高标志：用于高温保护。 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CcStat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Flg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BrakeDiscTempHigh_b1</a:t>
            </a:r>
            <a:r>
              <a:rPr lang="en-US" altLang="zh-CN" sz="1100">
                <a:solidFill>
                  <a:srgbClr val="DB7079"/>
                </a:solidFill>
                <a:latin typeface="Consolas" panose="020B0609020204030204" pitchFamily="49" charset="0"/>
              </a:rPr>
              <a:t> </a:t>
            </a:r>
          </a:p>
          <a:p>
            <a:endParaRPr lang="en-US" altLang="zh-CN" sz="1100" b="0">
              <a:solidFill>
                <a:srgbClr val="DB7079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sz="1100">
              <a:solidFill>
                <a:srgbClr val="DB7079"/>
              </a:solidFill>
              <a:latin typeface="Consolas" panose="020B0609020204030204" pitchFamily="49" charset="0"/>
            </a:endParaRPr>
          </a:p>
          <a:p>
            <a:endParaRPr lang="en-US" altLang="zh-CN" sz="1100" b="0">
              <a:solidFill>
                <a:srgbClr val="DB707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1">
                <a:effectLst/>
                <a:latin typeface="Consolas" panose="020B0609020204030204" pitchFamily="49" charset="0"/>
              </a:rPr>
              <a:t>2. </a:t>
            </a:r>
            <a:r>
              <a:rPr lang="zh-CN" altLang="en-US" sz="1400" b="1">
                <a:effectLst/>
                <a:latin typeface="Consolas" panose="020B0609020204030204" pitchFamily="49" charset="0"/>
              </a:rPr>
              <a:t>状态机核心逻辑</a:t>
            </a:r>
          </a:p>
          <a:p>
            <a:r>
              <a:rPr lang="en-US" altLang="zh-CN" sz="1200" b="1">
                <a:effectLst/>
                <a:latin typeface="Consolas" panose="020B0609020204030204" pitchFamily="49" charset="0"/>
              </a:rPr>
              <a:t>2.1 </a:t>
            </a:r>
            <a:r>
              <a:rPr lang="zh-CN" altLang="en-US" sz="1200" b="1">
                <a:effectLst/>
                <a:latin typeface="Consolas" panose="020B0609020204030204" pitchFamily="49" charset="0"/>
              </a:rPr>
              <a:t>状态变量</a:t>
            </a:r>
          </a:p>
          <a:p>
            <a:r>
              <a:rPr lang="en-US" altLang="zh-CN" sz="1100" b="0">
                <a:effectLst/>
                <a:latin typeface="Consolas" panose="020B0609020204030204" pitchFamily="49" charset="0"/>
              </a:rPr>
              <a:t>CcStat.State_u8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：当前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HDC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状态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b="0">
                <a:effectLst/>
                <a:latin typeface="Consolas" panose="020B0609020204030204" pitchFamily="49" charset="0"/>
              </a:rPr>
              <a:t>CC_STATE_PASSIVE_STATE_U8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：被动（未激活）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b="0">
                <a:effectLst/>
                <a:latin typeface="Consolas" panose="020B0609020204030204" pitchFamily="49" charset="0"/>
              </a:rPr>
              <a:t>CC_STATE_HDC_ACTIVE_STATE_U8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：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HDC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激活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b="0">
                <a:effectLst/>
                <a:latin typeface="Consolas" panose="020B0609020204030204" pitchFamily="49" charset="0"/>
              </a:rPr>
              <a:t>CC_STATE_RESET_STATE_U8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：重置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退出中</a:t>
            </a:r>
            <a:endParaRPr lang="en-US" altLang="zh-CN" sz="1100" b="0">
              <a:effectLst/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b="0">
              <a:effectLst/>
              <a:latin typeface="Consolas" panose="020B0609020204030204" pitchFamily="49" charset="0"/>
            </a:endParaRPr>
          </a:p>
          <a:p>
            <a:r>
              <a:rPr lang="en-US" altLang="zh-CN" sz="1100" b="1">
                <a:effectLst/>
                <a:latin typeface="Consolas" panose="020B0609020204030204" pitchFamily="49" charset="0"/>
              </a:rPr>
              <a:t>2.2 </a:t>
            </a:r>
            <a:r>
              <a:rPr lang="zh-CN" altLang="en-US" sz="1100" b="1">
                <a:effectLst/>
                <a:latin typeface="Consolas" panose="020B0609020204030204" pitchFamily="49" charset="0"/>
              </a:rPr>
              <a:t>状态转移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0">
                <a:effectLst/>
                <a:latin typeface="Consolas" panose="020B0609020204030204" pitchFamily="49" charset="0"/>
              </a:rPr>
              <a:t>被动 → 激活：满足 </a:t>
            </a:r>
            <a:r>
              <a:rPr lang="en-US" altLang="zh-CN" sz="1100" b="0" err="1">
                <a:effectLst/>
                <a:latin typeface="Consolas" panose="020B0609020204030204" pitchFamily="49" charset="0"/>
              </a:rPr>
              <a:t>IsCcActiveStateRequested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() 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条件时切换到激活状态。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0">
                <a:effectLst/>
                <a:latin typeface="Consolas" panose="020B0609020204030204" pitchFamily="49" charset="0"/>
              </a:rPr>
              <a:t>激活 → 被动：满足 </a:t>
            </a:r>
            <a:r>
              <a:rPr lang="en-US" altLang="zh-CN" sz="1100" b="0" err="1">
                <a:effectLst/>
                <a:latin typeface="Consolas" panose="020B0609020204030204" pitchFamily="49" charset="0"/>
              </a:rPr>
              <a:t>IsCcPassiveStateRequested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() 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条件时切换到被动状态。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0">
                <a:effectLst/>
                <a:latin typeface="Consolas" panose="020B0609020204030204" pitchFamily="49" charset="0"/>
              </a:rPr>
              <a:t>激活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被动 ↔ 重置：满足 </a:t>
            </a:r>
            <a:r>
              <a:rPr lang="en-US" altLang="zh-CN" sz="1100" b="0" err="1">
                <a:effectLst/>
                <a:latin typeface="Consolas" panose="020B0609020204030204" pitchFamily="49" charset="0"/>
              </a:rPr>
              <a:t>IsCcResetStateRequested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() 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条件时切换到重置状态，重置后可再次激活。</a:t>
            </a:r>
            <a:endParaRPr lang="en-US" altLang="zh-CN" sz="1100" b="0">
              <a:effectLst/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>
              <a:latin typeface="Consolas" panose="020B0609020204030204" pitchFamily="49" charset="0"/>
            </a:endParaRPr>
          </a:p>
          <a:p>
            <a:r>
              <a:rPr lang="en-US" altLang="zh-CN" sz="1100" b="1">
                <a:effectLst/>
                <a:latin typeface="Consolas" panose="020B0609020204030204" pitchFamily="49" charset="0"/>
              </a:rPr>
              <a:t>2.3 </a:t>
            </a:r>
            <a:r>
              <a:rPr lang="zh-CN" altLang="en-US" sz="1100" b="1">
                <a:effectLst/>
                <a:latin typeface="Consolas" panose="020B0609020204030204" pitchFamily="49" charset="0"/>
              </a:rPr>
              <a:t>状态判据（以激活为例）</a:t>
            </a:r>
          </a:p>
          <a:p>
            <a:r>
              <a:rPr lang="en-US" altLang="zh-CN" sz="1100" b="0">
                <a:effectLst/>
                <a:latin typeface="Consolas" panose="020B0609020204030204" pitchFamily="49" charset="0"/>
              </a:rPr>
              <a:t>HDC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开关打开、无诊断抑制、无故障抑制、速度在允许范围、坡度足够大、驾驶员未踩油门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制动、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EPB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未拉起、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HSA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未激活、制动盘温度正常等。</a:t>
            </a:r>
          </a:p>
          <a:p>
            <a:r>
              <a:rPr lang="zh-CN" altLang="en-US" sz="1100" b="0">
                <a:effectLst/>
                <a:latin typeface="Consolas" panose="020B0609020204030204" pitchFamily="49" charset="0"/>
              </a:rPr>
              <a:t>详见 </a:t>
            </a:r>
            <a:r>
              <a:rPr lang="en-US" altLang="zh-CN" sz="1100" b="0" err="1">
                <a:effectLst/>
                <a:latin typeface="Consolas" panose="020B0609020204030204" pitchFamily="49" charset="0"/>
              </a:rPr>
              <a:t>IsCcActiveStateRequested</a:t>
            </a:r>
            <a:r>
              <a:rPr lang="en-US" altLang="zh-CN" sz="1100" b="0">
                <a:effectLst/>
                <a:latin typeface="Consolas" panose="020B0609020204030204" pitchFamily="49" charset="0"/>
              </a:rPr>
              <a:t>()</a:t>
            </a:r>
            <a:r>
              <a:rPr lang="zh-CN" altLang="en-US" sz="1100" b="0">
                <a:effectLst/>
                <a:latin typeface="Consolas" panose="020B0609020204030204" pitchFamily="49" charset="0"/>
              </a:rPr>
              <a:t>，其中对坡度、速度、驾驶员输入等有详细判据。</a:t>
            </a:r>
            <a:endParaRPr lang="en-US" altLang="zh-CN" sz="1100" b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549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B47469D-DE3C-FB30-C5EC-0EF0EB2041CD}"/>
              </a:ext>
            </a:extLst>
          </p:cNvPr>
          <p:cNvSpPr txBox="1"/>
          <p:nvPr/>
        </p:nvSpPr>
        <p:spPr>
          <a:xfrm>
            <a:off x="192024" y="208937"/>
            <a:ext cx="11265408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i="0">
                <a:effectLst/>
                <a:latin typeface="Segoe WPC"/>
              </a:rPr>
              <a:t>坡度估计算法的核心在于通过动力学分解，将车辆纵向加速度分为发动机驱动力、滚动阻力、制动减速度和坡度分量，最后反推出坡度加速度（</a:t>
            </a:r>
            <a:r>
              <a:rPr lang="en-US" altLang="zh-CN" sz="1400" b="1" i="0">
                <a:effectLst/>
                <a:latin typeface="Segoe WPC"/>
              </a:rPr>
              <a:t>AxHillEst_s16</a:t>
            </a:r>
            <a:r>
              <a:rPr lang="zh-CN" altLang="en-US" sz="1400" b="1" i="0">
                <a:effectLst/>
                <a:latin typeface="Segoe WPC"/>
              </a:rPr>
              <a:t>）。</a:t>
            </a:r>
            <a:endParaRPr lang="en-US" altLang="zh-CN" sz="1400" b="1" i="0">
              <a:effectLst/>
              <a:latin typeface="Segoe WPC"/>
            </a:endParaRPr>
          </a:p>
          <a:p>
            <a:pPr algn="l"/>
            <a:r>
              <a:rPr lang="zh-CN" altLang="en-US" sz="1400" b="1">
                <a:latin typeface="Segoe WPC"/>
              </a:rPr>
              <a:t>当前坡度估计是来自</a:t>
            </a:r>
            <a:r>
              <a:rPr lang="en-US" altLang="zh-CN" sz="1400" b="1">
                <a:latin typeface="Segoe WPC"/>
              </a:rPr>
              <a:t>TIB</a:t>
            </a:r>
            <a:r>
              <a:rPr lang="zh-CN" altLang="en-US" sz="1400" b="1">
                <a:latin typeface="Segoe WPC"/>
              </a:rPr>
              <a:t>的</a:t>
            </a:r>
            <a:r>
              <a:rPr lang="en-US" altLang="zh-CN" sz="1400" b="1">
                <a:latin typeface="Segoe WPC"/>
              </a:rPr>
              <a:t>output</a:t>
            </a:r>
          </a:p>
          <a:p>
            <a:pPr algn="l"/>
            <a:r>
              <a:rPr lang="zh-CN" altLang="en-US" sz="1400" b="1" i="0">
                <a:effectLst/>
                <a:latin typeface="Segoe WPC"/>
              </a:rPr>
              <a:t>详细分析如下：</a:t>
            </a:r>
            <a:endParaRPr lang="en-US" altLang="zh-CN" sz="1400" b="1" i="0">
              <a:effectLst/>
              <a:latin typeface="Segoe WPC"/>
            </a:endParaRPr>
          </a:p>
          <a:p>
            <a:pPr algn="l"/>
            <a:endParaRPr lang="en-US" altLang="zh-CN" sz="1400" b="1">
              <a:latin typeface="Segoe WPC"/>
            </a:endParaRPr>
          </a:p>
          <a:p>
            <a:pPr algn="l"/>
            <a:endParaRPr lang="en-US" altLang="zh-CN" sz="1100"/>
          </a:p>
          <a:p>
            <a:br>
              <a:rPr lang="zh-CN" altLang="en-US" sz="1100"/>
            </a:br>
            <a:endParaRPr lang="zh-CN" altLang="en-US" sz="11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923DE07-CD4B-8988-E3D2-937500286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969" y="3200434"/>
            <a:ext cx="5334457" cy="141747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DA9FF12-1EAA-A358-B583-547911BBE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004" y="1352188"/>
            <a:ext cx="6721422" cy="14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3989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7D31BB9-84CF-72A1-2290-C0D473C81CB1}"/>
              </a:ext>
            </a:extLst>
          </p:cNvPr>
          <p:cNvSpPr txBox="1"/>
          <p:nvPr/>
        </p:nvSpPr>
        <p:spPr>
          <a:xfrm>
            <a:off x="338328" y="294608"/>
            <a:ext cx="11411712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i="0">
                <a:effectLst/>
                <a:latin typeface="Segoe WPC"/>
              </a:rPr>
              <a:t> 是 </a:t>
            </a:r>
            <a:r>
              <a:rPr lang="en-US" altLang="zh-CN" sz="1100" b="1" i="0">
                <a:effectLst/>
                <a:latin typeface="Segoe WPC"/>
              </a:rPr>
              <a:t>HDC/CC</a:t>
            </a:r>
            <a:r>
              <a:rPr lang="zh-CN" altLang="en-US" sz="1100" b="1" i="0">
                <a:effectLst/>
                <a:latin typeface="Segoe WPC"/>
              </a:rPr>
              <a:t>（</a:t>
            </a:r>
            <a:r>
              <a:rPr lang="en-US" altLang="zh-CN" sz="1100" b="1" i="0">
                <a:effectLst/>
                <a:latin typeface="Segoe WPC"/>
              </a:rPr>
              <a:t>Hill Descent Control / Crawl Control</a:t>
            </a:r>
            <a:r>
              <a:rPr lang="zh-CN" altLang="en-US" sz="1100" b="1" i="0">
                <a:effectLst/>
                <a:latin typeface="Segoe WPC"/>
              </a:rPr>
              <a:t>）目标车速生成的核心函数。它根据车辆状态、驾驶员输入、坡度、特殊模式（如拖拽、启动辅助）、系统状态等，动态计算并限幅目标车速，供后续自动制动控制使用。以下为详细分析：</a:t>
            </a:r>
            <a:endParaRPr lang="en-US" altLang="zh-CN" sz="1100" b="1" i="0">
              <a:effectLst/>
              <a:latin typeface="Segoe WPC"/>
            </a:endParaRPr>
          </a:p>
          <a:p>
            <a:endParaRPr lang="en-US" altLang="zh-CN" sz="1100" b="1">
              <a:latin typeface="Segoe WPC"/>
            </a:endParaRPr>
          </a:p>
          <a:p>
            <a:r>
              <a:rPr lang="en-US" altLang="zh-CN" sz="1100" b="1"/>
              <a:t>1. </a:t>
            </a:r>
            <a:r>
              <a:rPr lang="zh-CN" altLang="en-US" sz="1100" b="1"/>
              <a:t>目标车速初始化</a:t>
            </a:r>
          </a:p>
          <a:p>
            <a:r>
              <a:rPr lang="zh-CN" altLang="en-US" sz="1100"/>
              <a:t>激活</a:t>
            </a:r>
            <a:r>
              <a:rPr lang="en-US" altLang="zh-CN" sz="1100"/>
              <a:t>/</a:t>
            </a:r>
            <a:r>
              <a:rPr lang="zh-CN" altLang="en-US" sz="1100"/>
              <a:t>被动</a:t>
            </a:r>
            <a:r>
              <a:rPr lang="en-US" altLang="zh-CN" sz="1100"/>
              <a:t>/</a:t>
            </a:r>
            <a:r>
              <a:rPr lang="zh-CN" altLang="en-US" sz="1100"/>
              <a:t>重置状态切换时，目标车速初始化为当前实际车速，保证切换平顺。</a:t>
            </a:r>
          </a:p>
          <a:p>
            <a:r>
              <a:rPr lang="zh-CN" altLang="en-US" sz="1100"/>
              <a:t>若驱动系统请求最小速度（如倒车），直接设为最小目标车速。</a:t>
            </a:r>
            <a:endParaRPr lang="en-US" altLang="zh-CN" sz="1100"/>
          </a:p>
          <a:p>
            <a:endParaRPr lang="en-US" altLang="zh-CN" sz="1100"/>
          </a:p>
          <a:p>
            <a:r>
              <a:rPr lang="en-US" altLang="zh-CN" sz="1100" b="1">
                <a:effectLst/>
              </a:rPr>
              <a:t>2. </a:t>
            </a:r>
            <a:r>
              <a:rPr lang="zh-CN" altLang="en-US" sz="1100" b="1">
                <a:effectLst/>
              </a:rPr>
              <a:t>目标车速限幅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100">
                <a:effectLst/>
              </a:rPr>
              <a:t>目标车速被限制在标定的最大</a:t>
            </a:r>
            <a:r>
              <a:rPr lang="en-US" altLang="zh-CN" sz="1100">
                <a:effectLst/>
              </a:rPr>
              <a:t>/</a:t>
            </a:r>
            <a:r>
              <a:rPr lang="zh-CN" altLang="en-US" sz="1100">
                <a:effectLst/>
              </a:rPr>
              <a:t>最小允许范围内，防止异常。</a:t>
            </a:r>
          </a:p>
          <a:p>
            <a:pPr algn="l"/>
            <a:r>
              <a:rPr lang="en-US" altLang="zh-CN" sz="1100" b="0" i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TgtSpdDrv_s32 </a:t>
            </a:r>
            <a:r>
              <a:rPr lang="en-US" altLang="zh-CN" sz="1100" b="0" i="0">
                <a:solidFill>
                  <a:srgbClr val="C792E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i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100" b="0" i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en-US" altLang="zh-CN" sz="1100" b="0" i="0">
                <a:solidFill>
                  <a:srgbClr val="FFD7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i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TgtSpdDrv_s32</a:t>
            </a:r>
            <a:r>
              <a:rPr lang="en-US" altLang="zh-CN" sz="1100" b="0" i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100" b="0" i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 MIN</a:t>
            </a:r>
            <a:r>
              <a:rPr lang="en-US" altLang="zh-CN" sz="1100" b="0" i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100" b="0" i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 MAX</a:t>
            </a:r>
            <a:r>
              <a:rPr lang="en-US" altLang="zh-CN" sz="1100" b="0" i="0">
                <a:solidFill>
                  <a:srgbClr val="FFD7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sz="1100" b="0" i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sz="1100" b="0" i="0">
                <a:solidFill>
                  <a:srgbClr val="ABB2BF"/>
                </a:solidFill>
                <a:effectLst/>
                <a:latin typeface="Segoe WPC"/>
              </a:rPr>
            </a:br>
            <a:r>
              <a:rPr lang="en-US" altLang="zh-CN" sz="1100" b="1" i="0">
                <a:effectLst/>
                <a:latin typeface="Segoe WPC"/>
              </a:rPr>
              <a:t>4. </a:t>
            </a:r>
            <a:r>
              <a:rPr lang="zh-CN" altLang="en-US" sz="1100" b="1" i="0">
                <a:effectLst/>
                <a:latin typeface="Segoe WPC"/>
              </a:rPr>
              <a:t>拖拽模式目标车速</a:t>
            </a:r>
          </a:p>
          <a:p>
            <a:r>
              <a:rPr lang="zh-CN" altLang="en-US" sz="1100" b="0" i="0">
                <a:effectLst/>
                <a:latin typeface="Segoe WPC"/>
              </a:rPr>
              <a:t>拖拽模式刚激活时，目标车速为当前车速减去一个固定值，并限幅。</a:t>
            </a:r>
          </a:p>
          <a:p>
            <a:r>
              <a:rPr lang="zh-CN" altLang="en-US" sz="1100" b="0" i="0">
                <a:effectLst/>
                <a:latin typeface="Segoe WPC"/>
              </a:rPr>
              <a:t>拖拽模式下，后续目标车速取普通目标和拖拽目标的较小值。</a:t>
            </a:r>
            <a:endParaRPr lang="en-US" altLang="zh-CN" sz="1100" b="0" i="0">
              <a:effectLst/>
              <a:latin typeface="Segoe WPC"/>
            </a:endParaRPr>
          </a:p>
          <a:p>
            <a:endParaRPr lang="en-US" altLang="zh-CN" sz="1100"/>
          </a:p>
          <a:p>
            <a:r>
              <a:rPr lang="en-US" altLang="zh-CN" sz="1100" b="1"/>
              <a:t>5. </a:t>
            </a:r>
            <a:r>
              <a:rPr lang="zh-CN" altLang="en-US" sz="1100" b="1"/>
              <a:t>油门延迟处理</a:t>
            </a:r>
          </a:p>
          <a:p>
            <a:r>
              <a:rPr lang="zh-CN" altLang="en-US" sz="1100"/>
              <a:t>油门刚松开时，目标车速允许范围渐进放宽，避免控制误差突变，提升舒适性。</a:t>
            </a:r>
          </a:p>
          <a:p>
            <a:r>
              <a:rPr lang="zh-CN" altLang="en-US" sz="1100"/>
              <a:t>通过 </a:t>
            </a:r>
            <a:r>
              <a:rPr lang="en-US" altLang="zh-CN" sz="1100"/>
              <a:t>AccPdlDlyTmr_s16 </a:t>
            </a:r>
            <a:r>
              <a:rPr lang="zh-CN" altLang="en-US" sz="1100"/>
              <a:t>计时器实现。</a:t>
            </a:r>
            <a:endParaRPr lang="en-US" altLang="zh-CN" sz="1100"/>
          </a:p>
          <a:p>
            <a:endParaRPr lang="en-US" altLang="zh-CN" sz="1100"/>
          </a:p>
          <a:p>
            <a:r>
              <a:rPr lang="en-US" altLang="zh-CN" sz="1100" b="1"/>
              <a:t>6. </a:t>
            </a:r>
            <a:r>
              <a:rPr lang="zh-CN" altLang="en-US" sz="1100" b="1"/>
              <a:t>目标车速允许范围自适应</a:t>
            </a:r>
          </a:p>
          <a:p>
            <a:r>
              <a:rPr lang="zh-CN" altLang="en-US" sz="1100"/>
              <a:t>目标车速允许范围通过二维查表（</a:t>
            </a:r>
            <a:r>
              <a:rPr lang="en-US" altLang="zh-CN" sz="1100" err="1"/>
              <a:t>TwoDimensionalLookup</a:t>
            </a:r>
            <a:r>
              <a:rPr lang="zh-CN" altLang="en-US" sz="1100"/>
              <a:t>）根据车速误差和坡度动态调整。</a:t>
            </a:r>
          </a:p>
          <a:p>
            <a:r>
              <a:rPr lang="zh-CN" altLang="en-US" sz="1100"/>
              <a:t>越野</a:t>
            </a:r>
            <a:r>
              <a:rPr lang="en-US" altLang="zh-CN" sz="1100"/>
              <a:t>/</a:t>
            </a:r>
            <a:r>
              <a:rPr lang="zh-CN" altLang="en-US" sz="1100"/>
              <a:t>低速四驱模式下，坡度越大，允许范围越小，控制更精细。</a:t>
            </a:r>
            <a:endParaRPr lang="en-US" altLang="zh-CN" sz="1100"/>
          </a:p>
          <a:p>
            <a:endParaRPr lang="en-US" altLang="zh-CN" sz="1100"/>
          </a:p>
          <a:p>
            <a:endParaRPr lang="en-US" altLang="zh-CN" sz="1100"/>
          </a:p>
          <a:p>
            <a:r>
              <a:rPr lang="en-US" altLang="zh-CN" sz="1200" b="1"/>
              <a:t>7. </a:t>
            </a:r>
            <a:r>
              <a:rPr lang="zh-CN" altLang="en-US" sz="1200" b="1"/>
              <a:t>最终目标车速限幅</a:t>
            </a:r>
          </a:p>
          <a:p>
            <a:r>
              <a:rPr lang="zh-CN" altLang="en-US" sz="1100"/>
              <a:t>目标车速被限在实际车速</a:t>
            </a:r>
            <a:r>
              <a:rPr lang="en-US" altLang="zh-CN" sz="1100"/>
              <a:t>±</a:t>
            </a:r>
            <a:r>
              <a:rPr lang="zh-CN" altLang="en-US" sz="1100"/>
              <a:t>允许范围内，防止突变。</a:t>
            </a:r>
          </a:p>
          <a:p>
            <a:r>
              <a:rPr lang="zh-CN" altLang="en-US" sz="1100"/>
              <a:t>拖拽模式下，目标车速取普通目标和拖拽目标的较小值。</a:t>
            </a:r>
            <a:endParaRPr lang="en-US" altLang="zh-CN" sz="1100"/>
          </a:p>
          <a:p>
            <a:endParaRPr lang="en-US" altLang="zh-CN" sz="1100"/>
          </a:p>
          <a:p>
            <a:endParaRPr lang="en-US" altLang="zh-CN" sz="1100"/>
          </a:p>
          <a:p>
            <a:r>
              <a:rPr lang="en-US" altLang="zh-CN" sz="1200" b="1"/>
              <a:t>8. Reset</a:t>
            </a:r>
            <a:r>
              <a:rPr lang="zh-CN" altLang="en-US" sz="1200" b="1"/>
              <a:t>状态下的特殊处理</a:t>
            </a:r>
          </a:p>
          <a:p>
            <a:r>
              <a:rPr lang="en-US" altLang="zh-CN" sz="1100"/>
              <a:t>Reset</a:t>
            </a:r>
            <a:r>
              <a:rPr lang="zh-CN" altLang="en-US" sz="1100"/>
              <a:t>状态下，目标车速线性或指数型上升，最终超过最大目标车速，促使系统</a:t>
            </a:r>
            <a:r>
              <a:rPr lang="en-US" altLang="zh-CN" sz="1100"/>
              <a:t>pressure </a:t>
            </a:r>
            <a:r>
              <a:rPr lang="zh-CN" altLang="en-US" sz="1100"/>
              <a:t>降低退出</a:t>
            </a:r>
            <a:r>
              <a:rPr lang="en-US" altLang="zh-CN" sz="1100"/>
              <a:t>HDC</a:t>
            </a:r>
            <a:r>
              <a:rPr lang="zh-CN" altLang="en-US" sz="1100"/>
              <a:t>。</a:t>
            </a:r>
          </a:p>
          <a:p>
            <a:r>
              <a:rPr lang="zh-CN" altLang="en-US" sz="1100"/>
              <a:t>目标车速不会低于最小允许速度（</a:t>
            </a:r>
            <a:r>
              <a:rPr lang="en-US" altLang="zh-CN" sz="1100" err="1"/>
              <a:t>CcStat.CCMinSpd</a:t>
            </a:r>
            <a:r>
              <a:rPr lang="zh-CN" altLang="en-US" sz="1100"/>
              <a:t>）。</a:t>
            </a:r>
            <a:endParaRPr lang="en-US" altLang="zh-CN" sz="1100"/>
          </a:p>
          <a:p>
            <a:endParaRPr lang="en-US" altLang="zh-CN" sz="1100"/>
          </a:p>
          <a:p>
            <a:r>
              <a:rPr lang="en-US" altLang="zh-CN" sz="1200" b="1"/>
              <a:t>9. </a:t>
            </a:r>
            <a:r>
              <a:rPr lang="zh-CN" altLang="en-US" sz="1200" b="1"/>
              <a:t>发动机熄火保护</a:t>
            </a:r>
          </a:p>
          <a:p>
            <a:r>
              <a:rPr lang="zh-CN" altLang="en-US" sz="1100"/>
              <a:t>若检测到发动机熄火风险，目标车速会被提升到防熄火最小速度。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C1C2B0F-7B9E-3D8F-443B-66792BBF6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294" y="1505464"/>
            <a:ext cx="3007114" cy="284804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211E01A-590A-5D21-A106-83CF88250614}"/>
              </a:ext>
            </a:extLst>
          </p:cNvPr>
          <p:cNvSpPr/>
          <p:nvPr/>
        </p:nvSpPr>
        <p:spPr>
          <a:xfrm>
            <a:off x="223935" y="3429000"/>
            <a:ext cx="5872065" cy="8070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D95C7A7-86F7-ECF4-44CD-F7E5FBF18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055" y="4377721"/>
            <a:ext cx="3593592" cy="88165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639EB01-4C93-4136-87DC-26877D0CD5D8}"/>
              </a:ext>
            </a:extLst>
          </p:cNvPr>
          <p:cNvSpPr txBox="1"/>
          <p:nvPr/>
        </p:nvSpPr>
        <p:spPr>
          <a:xfrm>
            <a:off x="6906768" y="5468165"/>
            <a:ext cx="574852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/>
              <a:t>10. </a:t>
            </a:r>
            <a:r>
              <a:rPr lang="zh-CN" altLang="en-US" sz="1600" b="1"/>
              <a:t>主要输出变量</a:t>
            </a:r>
          </a:p>
          <a:p>
            <a:r>
              <a:rPr lang="en-US" altLang="zh-CN" sz="1400"/>
              <a:t>CcSpd.TgtSpdDrv_s32</a:t>
            </a:r>
            <a:r>
              <a:rPr lang="zh-CN" altLang="en-US" sz="1400"/>
              <a:t>：驾驶员目标车速（高分辨率）</a:t>
            </a:r>
          </a:p>
          <a:p>
            <a:r>
              <a:rPr lang="en-US" altLang="zh-CN" sz="1400"/>
              <a:t>CcSpd.TgtSpd_s16</a:t>
            </a:r>
            <a:r>
              <a:rPr lang="zh-CN" altLang="en-US" sz="1400"/>
              <a:t>：最终目标车速（低分辨率）</a:t>
            </a:r>
          </a:p>
          <a:p>
            <a:r>
              <a:rPr lang="en-US" altLang="zh-CN" sz="1400"/>
              <a:t>CcSpd.TgtSpdRng_s16</a:t>
            </a:r>
            <a:r>
              <a:rPr lang="zh-CN" altLang="en-US" sz="1400"/>
              <a:t>：目标车速允许范围</a:t>
            </a:r>
          </a:p>
          <a:p>
            <a:r>
              <a:rPr lang="en-US" altLang="zh-CN" sz="1400"/>
              <a:t>CcSpd.TgtSpdLim_s16</a:t>
            </a:r>
            <a:r>
              <a:rPr lang="zh-CN" altLang="en-US" sz="1400"/>
              <a:t>：最终限幅（</a:t>
            </a:r>
            <a:r>
              <a:rPr lang="en-US" altLang="zh-CN" sz="1400"/>
              <a:t>engine STALL</a:t>
            </a:r>
            <a:r>
              <a:rPr lang="zh-CN" altLang="en-US" sz="1400"/>
              <a:t>防发动机熄火）目标车速</a:t>
            </a:r>
          </a:p>
        </p:txBody>
      </p:sp>
    </p:spTree>
    <p:extLst>
      <p:ext uri="{BB962C8B-B14F-4D97-AF65-F5344CB8AC3E}">
        <p14:creationId xmlns:p14="http://schemas.microsoft.com/office/powerpoint/2010/main" val="40810793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89162BC-C025-C4B7-1935-92CFD80898DB}"/>
              </a:ext>
            </a:extLst>
          </p:cNvPr>
          <p:cNvSpPr txBox="1"/>
          <p:nvPr/>
        </p:nvSpPr>
        <p:spPr>
          <a:xfrm>
            <a:off x="128016" y="204276"/>
            <a:ext cx="8935974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400" b="1" i="0">
                <a:effectLst/>
                <a:latin typeface="Segoe WPC"/>
              </a:rPr>
              <a:t>1. </a:t>
            </a:r>
            <a:r>
              <a:rPr lang="zh-CN" altLang="en-US" sz="1400" b="1" i="0">
                <a:effectLst/>
                <a:latin typeface="Segoe WPC"/>
              </a:rPr>
              <a:t>前后轴制动偏置计算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200" b="1">
                <a:effectLst/>
                <a:latin typeface="Consolas" panose="020B0609020204030204" pitchFamily="49" charset="0"/>
              </a:rPr>
              <a:t>CC_STATE_HDC_ACTIVE_STATE_U8 </a:t>
            </a:r>
            <a:r>
              <a:rPr lang="en-US" altLang="zh-CN" sz="1200" b="1" i="0">
                <a:effectLst/>
                <a:latin typeface="Segoe WPC"/>
              </a:rPr>
              <a:t>/</a:t>
            </a:r>
            <a:r>
              <a:rPr lang="zh-CN" altLang="en-US" sz="1200" b="1" i="0">
                <a:effectLst/>
                <a:latin typeface="Segoe WPC"/>
              </a:rPr>
              <a:t>启动辅助</a:t>
            </a:r>
            <a:r>
              <a:rPr lang="en-US" altLang="zh-CN" sz="1200" b="1" i="0">
                <a:effectLst/>
                <a:latin typeface="Segoe WPC"/>
              </a:rPr>
              <a:t>/</a:t>
            </a:r>
            <a:r>
              <a:rPr lang="zh-CN" altLang="en-US" sz="1200" b="1" i="0">
                <a:effectLst/>
                <a:latin typeface="Segoe WPC"/>
              </a:rPr>
              <a:t>拖拽支持时</a:t>
            </a:r>
            <a:r>
              <a:rPr lang="zh-CN" altLang="en-US" sz="1200" b="0" i="0">
                <a:effectLst/>
                <a:latin typeface="Segoe WPC"/>
              </a:rPr>
              <a:t>：</a:t>
            </a:r>
            <a:br>
              <a:rPr lang="zh-CN" altLang="en-US" sz="1200" b="0" i="0">
                <a:effectLst/>
                <a:latin typeface="Segoe WPC"/>
              </a:rPr>
            </a:br>
            <a:r>
              <a:rPr lang="zh-CN" altLang="en-US" sz="1200" b="0" i="0">
                <a:effectLst/>
                <a:latin typeface="Segoe WPC"/>
              </a:rPr>
              <a:t>前轴偏置 </a:t>
            </a:r>
            <a:r>
              <a:rPr lang="en-US" altLang="zh-CN" sz="1200" b="1" i="0">
                <a:solidFill>
                  <a:srgbClr val="FF0000"/>
                </a:solidFill>
                <a:effectLst/>
                <a:latin typeface="Segoe WPC"/>
              </a:rPr>
              <a:t>CcBs.FrtAxlBias_s16 </a:t>
            </a:r>
            <a:r>
              <a:rPr lang="en-US" altLang="zh-CN" sz="1200" b="0" i="0">
                <a:effectLst/>
                <a:latin typeface="Segoe WPC"/>
              </a:rPr>
              <a:t>= </a:t>
            </a:r>
            <a:r>
              <a:rPr lang="zh-CN" altLang="en-US" sz="1200" b="0" i="0">
                <a:effectLst/>
                <a:latin typeface="Segoe WPC"/>
              </a:rPr>
              <a:t>前轴制动因子 </a:t>
            </a:r>
            <a:r>
              <a:rPr lang="en-US" altLang="zh-CN" sz="1200" b="0" i="0">
                <a:effectLst/>
                <a:latin typeface="Segoe WPC"/>
              </a:rPr>
              <a:t>× </a:t>
            </a:r>
            <a:r>
              <a:rPr lang="zh-CN" altLang="en-US" sz="1200" b="0" i="0">
                <a:effectLst/>
                <a:latin typeface="Segoe WPC"/>
              </a:rPr>
              <a:t>查表</a:t>
            </a:r>
            <a:r>
              <a:rPr lang="en-US" altLang="zh-CN" sz="1200" b="0" i="0">
                <a:effectLst/>
                <a:latin typeface="Segoe WPC"/>
              </a:rPr>
              <a:t>(</a:t>
            </a:r>
            <a:r>
              <a:rPr lang="zh-CN" altLang="en-US" sz="1200" b="0" i="0">
                <a:effectLst/>
                <a:latin typeface="Segoe WPC"/>
              </a:rPr>
              <a:t>坡度</a:t>
            </a:r>
            <a:r>
              <a:rPr lang="en-US" altLang="zh-CN" sz="1200" b="0" i="0">
                <a:effectLst/>
                <a:latin typeface="Segoe WPC"/>
              </a:rPr>
              <a:t>) / (</a:t>
            </a:r>
            <a:r>
              <a:rPr lang="zh-CN" altLang="en-US" sz="1200" b="0" i="0">
                <a:effectLst/>
                <a:latin typeface="Segoe WPC"/>
              </a:rPr>
              <a:t>前</a:t>
            </a:r>
            <a:r>
              <a:rPr lang="en-US" altLang="zh-CN" sz="1200" b="0" i="0">
                <a:effectLst/>
                <a:latin typeface="Segoe WPC"/>
              </a:rPr>
              <a:t>+</a:t>
            </a:r>
            <a:r>
              <a:rPr lang="zh-CN" altLang="en-US" sz="1200" b="0" i="0">
                <a:effectLst/>
                <a:latin typeface="Segoe WPC"/>
              </a:rPr>
              <a:t>后轴制动因子</a:t>
            </a:r>
            <a:r>
              <a:rPr lang="en-US" altLang="zh-CN" sz="1200" b="0" i="0">
                <a:effectLst/>
                <a:latin typeface="Segoe WPC"/>
              </a:rPr>
              <a:t>)</a:t>
            </a:r>
            <a:br>
              <a:rPr lang="en-US" altLang="zh-CN" sz="1200" b="0" i="0">
                <a:effectLst/>
                <a:latin typeface="Segoe WPC"/>
              </a:rPr>
            </a:br>
            <a:r>
              <a:rPr lang="zh-CN" altLang="en-US" sz="1200" b="0" i="0">
                <a:effectLst/>
                <a:latin typeface="Segoe WPC"/>
              </a:rPr>
              <a:t>查表用于根据坡度动态调整前后轴分配，坡度大时前轴分配可能降低，防止前轮抱死。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200" b="1" i="0">
                <a:effectLst/>
                <a:latin typeface="Segoe WPC"/>
              </a:rPr>
              <a:t>CC_STATE_PASSIVE_STATE_U8/</a:t>
            </a:r>
            <a:r>
              <a:rPr lang="zh-CN" altLang="en-US" sz="1200" b="1" i="0">
                <a:effectLst/>
                <a:latin typeface="Segoe WPC"/>
              </a:rPr>
              <a:t>倒车等模式</a:t>
            </a:r>
            <a:r>
              <a:rPr lang="zh-CN" altLang="en-US" sz="1200" b="0" i="0">
                <a:effectLst/>
                <a:latin typeface="Segoe WPC"/>
              </a:rPr>
              <a:t>：</a:t>
            </a:r>
            <a:br>
              <a:rPr lang="zh-CN" altLang="en-US" sz="1200" b="0" i="0">
                <a:effectLst/>
                <a:latin typeface="Segoe WPC"/>
              </a:rPr>
            </a:br>
            <a:r>
              <a:rPr lang="zh-CN" altLang="en-US" sz="1200" b="0" i="0">
                <a:effectLst/>
                <a:latin typeface="Segoe WPC"/>
              </a:rPr>
              <a:t>前轴偏置 </a:t>
            </a:r>
            <a:r>
              <a:rPr lang="en-US" altLang="zh-CN" sz="1200" b="1" i="0">
                <a:solidFill>
                  <a:srgbClr val="FF0000"/>
                </a:solidFill>
                <a:effectLst/>
                <a:latin typeface="Segoe WPC"/>
              </a:rPr>
              <a:t>CcBs.FrtAxlBias_s16 </a:t>
            </a:r>
            <a:r>
              <a:rPr lang="en-US" altLang="zh-CN" sz="1200" b="0" i="0">
                <a:effectLst/>
                <a:latin typeface="Segoe WPC"/>
              </a:rPr>
              <a:t>= </a:t>
            </a:r>
            <a:r>
              <a:rPr lang="zh-CN" altLang="en-US" sz="1200" b="0" i="0">
                <a:effectLst/>
                <a:latin typeface="Segoe WPC"/>
              </a:rPr>
              <a:t>前轴制动因子 </a:t>
            </a:r>
            <a:r>
              <a:rPr lang="en-US" altLang="zh-CN" sz="1200" b="0" i="0">
                <a:effectLst/>
                <a:latin typeface="Segoe WPC"/>
              </a:rPr>
              <a:t>/ (</a:t>
            </a:r>
            <a:r>
              <a:rPr lang="zh-CN" altLang="en-US" sz="1200" b="0" i="0">
                <a:effectLst/>
                <a:latin typeface="Segoe WPC"/>
              </a:rPr>
              <a:t>前</a:t>
            </a:r>
            <a:r>
              <a:rPr lang="en-US" altLang="zh-CN" sz="1200" b="0" i="0">
                <a:effectLst/>
                <a:latin typeface="Segoe WPC"/>
              </a:rPr>
              <a:t>+</a:t>
            </a:r>
            <a:r>
              <a:rPr lang="zh-CN" altLang="en-US" sz="1200" b="0" i="0">
                <a:effectLst/>
                <a:latin typeface="Segoe WPC"/>
              </a:rPr>
              <a:t>后轴制动因子</a:t>
            </a:r>
            <a:r>
              <a:rPr lang="en-US" altLang="zh-CN" sz="1200" b="0" i="0">
                <a:effectLst/>
                <a:latin typeface="Segoe WPC"/>
              </a:rPr>
              <a:t>)</a:t>
            </a:r>
            <a:br>
              <a:rPr lang="en-US" altLang="zh-CN" sz="1200" b="0" i="0">
                <a:effectLst/>
                <a:latin typeface="Segoe WPC"/>
              </a:rPr>
            </a:br>
            <a:r>
              <a:rPr lang="zh-CN" altLang="en-US" sz="1200" b="0" i="0">
                <a:effectLst/>
                <a:latin typeface="Segoe WPC"/>
              </a:rPr>
              <a:t>即按标定的静态分配。</a:t>
            </a:r>
          </a:p>
          <a:p>
            <a:br>
              <a:rPr lang="zh-CN" altLang="en-US" sz="1400"/>
            </a:br>
            <a:r>
              <a:rPr lang="en-US" altLang="zh-CN" sz="1400" b="1"/>
              <a:t>2. </a:t>
            </a:r>
            <a:r>
              <a:rPr lang="zh-CN" altLang="en-US" sz="1400" b="1"/>
              <a:t>每轮制动偏置与稳定性判定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b="1"/>
              <a:t>被动</a:t>
            </a:r>
            <a:r>
              <a:rPr lang="en-US" altLang="zh-CN" sz="1200" b="1"/>
              <a:t>/</a:t>
            </a:r>
            <a:r>
              <a:rPr lang="zh-CN" altLang="en-US" sz="1200" b="1"/>
              <a:t>倒车等模式：</a:t>
            </a:r>
          </a:p>
          <a:p>
            <a:pPr lvl="1"/>
            <a:r>
              <a:rPr lang="zh-CN" altLang="en-US" sz="1200"/>
              <a:t>所有轮偏置</a:t>
            </a:r>
            <a:r>
              <a:rPr lang="en-US" altLang="zh-CN" sz="1200"/>
              <a:t>WhlBias_s16 </a:t>
            </a:r>
            <a:r>
              <a:rPr lang="zh-CN" altLang="en-US" sz="1200"/>
              <a:t>、转向偏置</a:t>
            </a:r>
            <a:r>
              <a:rPr lang="en-US" altLang="zh-CN" sz="1200"/>
              <a:t>WhlBiasSteer_s16</a:t>
            </a:r>
            <a:r>
              <a:rPr lang="zh-CN" altLang="en-US" sz="1200"/>
              <a:t>、稳定性</a:t>
            </a:r>
            <a:r>
              <a:rPr lang="en-US" altLang="zh-CN" sz="1200"/>
              <a:t>WhlStab_s16</a:t>
            </a:r>
            <a:r>
              <a:rPr lang="zh-CN" altLang="en-US" sz="1200"/>
              <a:t>均设为</a:t>
            </a:r>
            <a:r>
              <a:rPr lang="en-US" altLang="zh-CN" sz="1200"/>
              <a:t>100%</a:t>
            </a:r>
            <a:r>
              <a:rPr lang="zh-CN" altLang="en-US" sz="1200"/>
              <a:t>，滤波器复位。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b="1"/>
              <a:t>主动模式：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1200" b="1"/>
              <a:t>轮稳定性计算：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若请求压力大于最小值：</a:t>
            </a:r>
          </a:p>
          <a:p>
            <a:pPr lvl="4"/>
            <a:r>
              <a:rPr lang="en-US" altLang="zh-CN" sz="1200"/>
              <a:t>ABS</a:t>
            </a:r>
            <a:r>
              <a:rPr lang="zh-CN" altLang="en-US" sz="1200"/>
              <a:t>激活时，稳定性 </a:t>
            </a:r>
            <a:r>
              <a:rPr lang="en-US" altLang="zh-CN" sz="1200"/>
              <a:t>= </a:t>
            </a:r>
            <a:r>
              <a:rPr lang="zh-CN" altLang="en-US" sz="1200"/>
              <a:t>估算压力 </a:t>
            </a:r>
            <a:r>
              <a:rPr lang="en-US" altLang="zh-CN" sz="1200"/>
              <a:t>/ </a:t>
            </a:r>
            <a:r>
              <a:rPr lang="zh-CN" altLang="en-US" sz="1200"/>
              <a:t>请求压力（上限</a:t>
            </a:r>
            <a:r>
              <a:rPr lang="en-US" altLang="zh-CN" sz="1200"/>
              <a:t>100%</a:t>
            </a:r>
            <a:r>
              <a:rPr lang="zh-CN" altLang="en-US" sz="1200"/>
              <a:t>）</a:t>
            </a:r>
          </a:p>
          <a:p>
            <a:pPr lvl="4"/>
            <a:r>
              <a:rPr lang="zh-CN" altLang="en-US" sz="1200"/>
              <a:t>否则，稳定性 </a:t>
            </a:r>
            <a:r>
              <a:rPr lang="en-US" altLang="zh-CN" sz="1200"/>
              <a:t>= </a:t>
            </a:r>
            <a:r>
              <a:rPr lang="zh-CN" altLang="en-US" sz="1200"/>
              <a:t>轮速 </a:t>
            </a:r>
            <a:r>
              <a:rPr lang="en-US" altLang="zh-CN" sz="1200"/>
              <a:t>/ </a:t>
            </a:r>
            <a:r>
              <a:rPr lang="zh-CN" altLang="en-US" sz="1200"/>
              <a:t>轮速斜率（限幅）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请求压力小于最小值时，稳定性</a:t>
            </a:r>
            <a:r>
              <a:rPr lang="en-US" altLang="zh-CN" sz="1200"/>
              <a:t>=100%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zh-CN" altLang="en-US" sz="1200"/>
              <a:t>稳定性信号一阶滤波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1200" b="1"/>
              <a:t>轮稳定性判定：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zh-CN" altLang="en-US" sz="1200"/>
              <a:t>稳定性低于阈值且车速大于最小值，判为不稳定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zh-CN" altLang="en-US" sz="1200"/>
              <a:t>统计稳定轮数量，累计不稳定损失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zh-CN" altLang="en-US" sz="1200" b="1"/>
              <a:t>偏置调整：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zh-CN" altLang="en-US" sz="1200"/>
              <a:t>全部不稳定：所有轮偏置线性递减，防止抱死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zh-CN" altLang="en-US" sz="1200"/>
              <a:t>部分不稳定：不稳定轮偏置递减，稳定轮偏置递增（可超</a:t>
            </a:r>
            <a:r>
              <a:rPr lang="en-US" altLang="zh-CN" sz="1200"/>
              <a:t>100%</a:t>
            </a:r>
            <a:r>
              <a:rPr lang="zh-CN" altLang="en-US" sz="1200"/>
              <a:t>，但有限幅），以帮助</a:t>
            </a:r>
            <a:r>
              <a:rPr lang="en-US" altLang="zh-CN" sz="1200"/>
              <a:t>ABS</a:t>
            </a:r>
            <a:r>
              <a:rPr lang="zh-CN" altLang="en-US" sz="1200"/>
              <a:t>恢复稳定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zh-CN" altLang="en-US" sz="1200"/>
              <a:t>偏置始终限幅在最小</a:t>
            </a:r>
            <a:r>
              <a:rPr lang="en-US" altLang="zh-CN" sz="1200"/>
              <a:t>~</a:t>
            </a:r>
            <a:r>
              <a:rPr lang="zh-CN" altLang="en-US" sz="1200"/>
              <a:t>最大允许范围</a:t>
            </a:r>
            <a:endParaRPr lang="en-US" altLang="zh-CN" sz="1200"/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zh-CN" sz="1200"/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altLang="zh-CN" sz="1200"/>
          </a:p>
          <a:p>
            <a:r>
              <a:rPr lang="en-US" altLang="zh-CN" sz="1400" b="1"/>
              <a:t>3. </a:t>
            </a:r>
            <a:r>
              <a:rPr lang="zh-CN" altLang="en-US" sz="1400" b="1"/>
              <a:t>转向角影响（</a:t>
            </a:r>
            <a:r>
              <a:rPr lang="en-US" altLang="zh-CN" sz="1400" b="1"/>
              <a:t>Yaw Reduction</a:t>
            </a:r>
            <a:r>
              <a:rPr lang="zh-CN" altLang="en-US" sz="1400" b="1"/>
              <a:t>）</a:t>
            </a:r>
          </a:p>
          <a:p>
            <a:pPr lvl="1"/>
            <a:r>
              <a:rPr lang="zh-CN" altLang="en-US" sz="1200"/>
              <a:t>若转向角大于阈值，计算转向影响量（</a:t>
            </a:r>
            <a:r>
              <a:rPr lang="en-US" altLang="zh-CN" sz="1200"/>
              <a:t>RwaInfl_s16</a:t>
            </a:r>
            <a:r>
              <a:rPr lang="zh-CN" altLang="en-US" sz="1200"/>
              <a:t>），并按左右轮分别加减到各轮偏置上，提升弯道稳定性。</a:t>
            </a:r>
          </a:p>
          <a:p>
            <a:pPr lvl="1"/>
            <a:r>
              <a:rPr lang="zh-CN" altLang="en-US" sz="1200"/>
              <a:t>偏置方向与转向方向相关，倒车时不加转向影响。</a:t>
            </a:r>
          </a:p>
        </p:txBody>
      </p:sp>
    </p:spTree>
    <p:extLst>
      <p:ext uri="{BB962C8B-B14F-4D97-AF65-F5344CB8AC3E}">
        <p14:creationId xmlns:p14="http://schemas.microsoft.com/office/powerpoint/2010/main" val="903191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89162BC-C025-C4B7-1935-92CFD80898DB}"/>
              </a:ext>
            </a:extLst>
          </p:cNvPr>
          <p:cNvSpPr txBox="1"/>
          <p:nvPr/>
        </p:nvSpPr>
        <p:spPr>
          <a:xfrm>
            <a:off x="128016" y="204276"/>
            <a:ext cx="11987784" cy="654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err="1"/>
              <a:t>UpdateCcOutput</a:t>
            </a:r>
            <a:r>
              <a:rPr lang="en-US" altLang="zh-CN" sz="1100" b="1"/>
              <a:t> </a:t>
            </a:r>
            <a:r>
              <a:rPr lang="zh-CN" altLang="en-US" sz="1100" b="1"/>
              <a:t>是 </a:t>
            </a:r>
            <a:r>
              <a:rPr lang="en-US" altLang="zh-CN" sz="1100" b="1"/>
              <a:t>HDC/CC</a:t>
            </a:r>
            <a:r>
              <a:rPr lang="zh-CN" altLang="en-US" sz="1100" b="1"/>
              <a:t>（</a:t>
            </a:r>
            <a:r>
              <a:rPr lang="en-US" altLang="zh-CN" sz="1100" b="1"/>
              <a:t>Hill Descent Control / Crawl Control</a:t>
            </a:r>
            <a:r>
              <a:rPr lang="zh-CN" altLang="en-US" sz="1100" b="1"/>
              <a:t>）系统的输出信号集中赋值与缓冲函数，负责将各子模块（如状态机、速度、偏置、坡度、灯光、驱动等）的计算结果，统一整理到输出结构体 </a:t>
            </a:r>
            <a:r>
              <a:rPr lang="en-US" altLang="zh-CN" sz="1100" b="1" err="1"/>
              <a:t>CcOut</a:t>
            </a:r>
            <a:r>
              <a:rPr lang="zh-CN" altLang="en-US" sz="1100" b="1"/>
              <a:t>，供底层执行器、仪表、网络等使用。其主要作用是实现各功能输出的最终融合、限幅和安全屏蔽。详细分析如下：</a:t>
            </a:r>
            <a:endParaRPr lang="en-US" altLang="zh-CN" sz="1100" b="1"/>
          </a:p>
          <a:p>
            <a:endParaRPr lang="en-US" altLang="zh-CN" sz="1200"/>
          </a:p>
          <a:p>
            <a:r>
              <a:rPr lang="en-US" altLang="zh-CN" sz="1200" b="1"/>
              <a:t>1. </a:t>
            </a:r>
            <a:r>
              <a:rPr lang="zh-CN" altLang="en-US" sz="1200" b="1"/>
              <a:t>主要功能流程</a:t>
            </a:r>
          </a:p>
          <a:p>
            <a:r>
              <a:rPr lang="en-US" altLang="zh-CN" sz="1100" b="1"/>
              <a:t>1.1 </a:t>
            </a:r>
            <a:r>
              <a:rPr lang="zh-CN" altLang="en-US" sz="1100" b="1"/>
              <a:t>状态与请求标志输出</a:t>
            </a:r>
          </a:p>
          <a:p>
            <a:r>
              <a:rPr lang="zh-CN" altLang="en-US" sz="1100"/>
              <a:t>根据当前状态机（</a:t>
            </a:r>
            <a:r>
              <a:rPr lang="en-US" altLang="zh-CN" sz="1100"/>
              <a:t>CcStat.State_u8</a:t>
            </a:r>
            <a:r>
              <a:rPr lang="zh-CN" altLang="en-US" sz="1100"/>
              <a:t>），决定是否输出制动请求（</a:t>
            </a:r>
            <a:r>
              <a:rPr lang="en-US" altLang="zh-CN" sz="1100" b="1">
                <a:solidFill>
                  <a:srgbClr val="FF0000"/>
                </a:solidFill>
              </a:rPr>
              <a:t>CcOut.u.Flg.BrkReq_b1</a:t>
            </a:r>
            <a:r>
              <a:rPr lang="zh-CN" altLang="en-US" sz="1100"/>
              <a:t>）。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100"/>
              <a:t>被动状态或刚从</a:t>
            </a:r>
            <a:r>
              <a:rPr lang="en-US" altLang="zh-CN" sz="1100"/>
              <a:t>Reset</a:t>
            </a:r>
            <a:r>
              <a:rPr lang="zh-CN" altLang="en-US" sz="1100"/>
              <a:t>切到</a:t>
            </a:r>
            <a:r>
              <a:rPr lang="en-US" altLang="zh-CN" sz="1100"/>
              <a:t>Active</a:t>
            </a:r>
            <a:r>
              <a:rPr lang="zh-CN" altLang="en-US" sz="1100"/>
              <a:t>时，输出</a:t>
            </a:r>
            <a:r>
              <a:rPr lang="en-US" altLang="zh-CN" sz="1100"/>
              <a:t>FALSE</a:t>
            </a:r>
            <a:r>
              <a:rPr lang="zh-CN" altLang="en-US" sz="1100"/>
              <a:t>，防止误触发。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100"/>
              <a:t>其它状态输出</a:t>
            </a:r>
            <a:r>
              <a:rPr lang="en-US" altLang="zh-CN" sz="1100"/>
              <a:t>TRUE</a:t>
            </a:r>
            <a:r>
              <a:rPr lang="zh-CN" altLang="en-US" sz="1100"/>
              <a:t>。</a:t>
            </a:r>
            <a:endParaRPr lang="en-US" altLang="zh-CN" sz="1100"/>
          </a:p>
          <a:p>
            <a:r>
              <a:rPr lang="en-US" altLang="zh-CN" sz="1100" b="1"/>
              <a:t>1.2 </a:t>
            </a:r>
            <a:r>
              <a:rPr lang="zh-CN" altLang="en-US" sz="1100" b="1"/>
              <a:t>驱动系统接口输出</a:t>
            </a:r>
          </a:p>
          <a:p>
            <a:r>
              <a:rPr lang="zh-CN" altLang="en-US" sz="1100"/>
              <a:t>若驱动系统接口使能，输出最小速度请求</a:t>
            </a:r>
            <a:r>
              <a:rPr lang="en-US" altLang="zh-CN" sz="1100" b="1">
                <a:solidFill>
                  <a:srgbClr val="FF0000"/>
                </a:solidFill>
              </a:rPr>
              <a:t>CcDrive.u.Flg.MinSpdReq_b1</a:t>
            </a:r>
            <a:r>
              <a:rPr lang="zh-CN" altLang="en-US" sz="1100"/>
              <a:t>、发动机干预请求</a:t>
            </a:r>
            <a:r>
              <a:rPr lang="en-US" altLang="zh-CN" sz="1100" b="1">
                <a:solidFill>
                  <a:srgbClr val="FF0000"/>
                </a:solidFill>
              </a:rPr>
              <a:t>CcOut.u.Flg.EngReq_b1</a:t>
            </a:r>
            <a:r>
              <a:rPr lang="zh-CN" altLang="en-US" sz="1100"/>
              <a:t>、中性挡请求</a:t>
            </a:r>
            <a:r>
              <a:rPr lang="en-US" altLang="zh-CN" sz="1100" b="1">
                <a:solidFill>
                  <a:srgbClr val="FF0000"/>
                </a:solidFill>
              </a:rPr>
              <a:t>NeutGr_b1</a:t>
            </a:r>
            <a:r>
              <a:rPr lang="zh-CN" altLang="en-US" sz="1100"/>
              <a:t>、耦合器状态</a:t>
            </a:r>
            <a:r>
              <a:rPr lang="en-US" altLang="zh-CN" sz="1100" b="1">
                <a:solidFill>
                  <a:srgbClr val="FF0000"/>
                </a:solidFill>
              </a:rPr>
              <a:t>CplStat_u8</a:t>
            </a:r>
            <a:r>
              <a:rPr lang="zh-CN" altLang="en-US" sz="1100"/>
              <a:t>等。</a:t>
            </a:r>
          </a:p>
          <a:p>
            <a:r>
              <a:rPr lang="zh-CN" altLang="en-US" sz="1100"/>
              <a:t>否则相关输出控制接口默认不使用。</a:t>
            </a:r>
            <a:endParaRPr lang="en-US" altLang="zh-CN" sz="1100"/>
          </a:p>
          <a:p>
            <a:r>
              <a:rPr lang="en-US" altLang="zh-CN" sz="1100" b="1"/>
              <a:t>1.3 </a:t>
            </a:r>
            <a:r>
              <a:rPr lang="zh-CN" altLang="en-US" sz="1100" b="1"/>
              <a:t>显示</a:t>
            </a:r>
            <a:r>
              <a:rPr lang="en-US" altLang="zh-CN" sz="1100" b="1"/>
              <a:t>/</a:t>
            </a:r>
            <a:r>
              <a:rPr lang="zh-CN" altLang="en-US" sz="1100" b="1"/>
              <a:t>仪表接口输出</a:t>
            </a:r>
          </a:p>
          <a:p>
            <a:r>
              <a:rPr lang="zh-CN" altLang="en-US" sz="1100"/>
              <a:t>输出纵</a:t>
            </a:r>
            <a:r>
              <a:rPr lang="en-US" altLang="zh-CN" sz="1100"/>
              <a:t>/</a:t>
            </a:r>
            <a:r>
              <a:rPr lang="zh-CN" altLang="en-US" sz="1100"/>
              <a:t>横向坡度慢</a:t>
            </a:r>
            <a:r>
              <a:rPr lang="en-US" altLang="zh-CN" sz="1100"/>
              <a:t>/</a:t>
            </a:r>
            <a:r>
              <a:rPr lang="zh-CN" altLang="en-US" sz="1100"/>
              <a:t>快滤波值及有效性标志，供仪表显示坡度。看客户是否需要 </a:t>
            </a:r>
            <a:r>
              <a:rPr lang="en-US" altLang="zh-CN" sz="1100" b="1">
                <a:solidFill>
                  <a:srgbClr val="FF0000"/>
                </a:solidFill>
              </a:rPr>
              <a:t>AxIncFiltSlw_s16 AyIncFiltSlw_s16</a:t>
            </a:r>
          </a:p>
          <a:p>
            <a:r>
              <a:rPr lang="en-US" altLang="zh-CN" sz="1100" b="1"/>
              <a:t>1.4 </a:t>
            </a:r>
            <a:r>
              <a:rPr lang="zh-CN" altLang="en-US" sz="1100" b="1"/>
              <a:t>目标速度与状态输出</a:t>
            </a:r>
          </a:p>
          <a:p>
            <a:r>
              <a:rPr lang="zh-CN" altLang="en-US" sz="1100"/>
              <a:t>输出驾驶员目标速度</a:t>
            </a:r>
            <a:r>
              <a:rPr lang="en-US" altLang="zh-CN" sz="1100" b="1">
                <a:solidFill>
                  <a:srgbClr val="FF0000"/>
                </a:solidFill>
              </a:rPr>
              <a:t>CcOut.TrtSpdDrv_s16</a:t>
            </a:r>
            <a:r>
              <a:rPr lang="zh-CN" altLang="en-US" sz="1100"/>
              <a:t>、最终限幅目标速度</a:t>
            </a:r>
            <a:r>
              <a:rPr lang="en-US" altLang="zh-CN" sz="1100" b="1">
                <a:solidFill>
                  <a:srgbClr val="FF0000"/>
                </a:solidFill>
              </a:rPr>
              <a:t>CcOut.TrtSpd_s16</a:t>
            </a:r>
            <a:r>
              <a:rPr lang="zh-CN" altLang="en-US" sz="1100"/>
              <a:t>、当前状态</a:t>
            </a:r>
            <a:r>
              <a:rPr lang="en-US" altLang="zh-CN" sz="1100" b="1">
                <a:solidFill>
                  <a:srgbClr val="FF0000"/>
                </a:solidFill>
              </a:rPr>
              <a:t>CcOut.State_u8</a:t>
            </a:r>
            <a:r>
              <a:rPr lang="zh-CN" altLang="en-US" sz="1100"/>
              <a:t>等。</a:t>
            </a:r>
            <a:endParaRPr lang="en-US" altLang="zh-CN" sz="1100"/>
          </a:p>
          <a:p>
            <a:endParaRPr lang="en-US" altLang="zh-CN" sz="1100"/>
          </a:p>
          <a:p>
            <a:r>
              <a:rPr lang="en-US" altLang="zh-CN" sz="1100" b="1"/>
              <a:t>1.5 </a:t>
            </a:r>
            <a:r>
              <a:rPr lang="zh-CN" altLang="en-US" sz="1100" b="1"/>
              <a:t>灯光与速度请求输出</a:t>
            </a:r>
          </a:p>
          <a:p>
            <a:r>
              <a:rPr lang="zh-CN" altLang="en-US" sz="1100"/>
              <a:t>若安全未屏蔽，输出</a:t>
            </a:r>
            <a:r>
              <a:rPr lang="en-US" altLang="zh-CN" sz="1100"/>
              <a:t>HDC</a:t>
            </a:r>
            <a:r>
              <a:rPr lang="zh-CN" altLang="en-US" sz="1100"/>
              <a:t>灯请求</a:t>
            </a:r>
            <a:r>
              <a:rPr lang="en-US" altLang="zh-CN" sz="1100" b="1">
                <a:solidFill>
                  <a:srgbClr val="FF0000"/>
                </a:solidFill>
              </a:rPr>
              <a:t>LampReq_b1</a:t>
            </a:r>
            <a:r>
              <a:rPr lang="zh-CN" altLang="en-US" sz="1100"/>
              <a:t>、待机灯请求</a:t>
            </a:r>
            <a:r>
              <a:rPr lang="en-US" altLang="zh-CN" sz="1100" b="1">
                <a:solidFill>
                  <a:srgbClr val="FF0000"/>
                </a:solidFill>
              </a:rPr>
              <a:t>StdbyLampReq_b1</a:t>
            </a:r>
            <a:r>
              <a:rPr lang="zh-CN" altLang="en-US" sz="1100"/>
              <a:t>、目标速度</a:t>
            </a:r>
            <a:r>
              <a:rPr lang="en-US" altLang="zh-CN" sz="1100" b="1">
                <a:solidFill>
                  <a:srgbClr val="FF0000"/>
                </a:solidFill>
              </a:rPr>
              <a:t>SpdReq_s16</a:t>
            </a:r>
            <a:r>
              <a:rPr lang="zh-CN" altLang="en-US" sz="1100" b="1">
                <a:solidFill>
                  <a:srgbClr val="FF0000"/>
                </a:solidFill>
              </a:rPr>
              <a:t>，</a:t>
            </a:r>
            <a:r>
              <a:rPr lang="en-US" altLang="zh-CN" sz="1100" b="1">
                <a:solidFill>
                  <a:srgbClr val="FF0000"/>
                </a:solidFill>
              </a:rPr>
              <a:t> SpdReqUnlm_s16</a:t>
            </a:r>
            <a:r>
              <a:rPr lang="zh-CN" altLang="en-US" sz="1100"/>
              <a:t>等。</a:t>
            </a:r>
          </a:p>
          <a:p>
            <a:r>
              <a:rPr lang="zh-CN" altLang="en-US" sz="1100"/>
              <a:t>否则相关输出清零。</a:t>
            </a:r>
            <a:endParaRPr lang="en-US" altLang="zh-CN" sz="1100"/>
          </a:p>
          <a:p>
            <a:endParaRPr lang="en-US" altLang="zh-CN" sz="1100"/>
          </a:p>
          <a:p>
            <a:r>
              <a:rPr lang="en-US" altLang="zh-CN" sz="1100" b="1"/>
              <a:t>1.6 </a:t>
            </a:r>
            <a:r>
              <a:rPr lang="zh-CN" altLang="en-US" sz="1100" b="1"/>
              <a:t>坡度输出</a:t>
            </a:r>
          </a:p>
          <a:p>
            <a:r>
              <a:rPr lang="zh-CN" altLang="en-US" sz="1100"/>
              <a:t>虚拟坡度模式下，输出估算坡度</a:t>
            </a:r>
            <a:r>
              <a:rPr lang="en-US" altLang="zh-CN" sz="1100" b="1">
                <a:solidFill>
                  <a:srgbClr val="FF0000"/>
                </a:solidFill>
              </a:rPr>
              <a:t> </a:t>
            </a:r>
            <a:r>
              <a:rPr lang="zh-CN" altLang="en-US" sz="1100"/>
              <a:t>；否则输出输入坡度</a:t>
            </a:r>
            <a:r>
              <a:rPr lang="en-US" altLang="zh-CN" sz="1100" b="1">
                <a:solidFill>
                  <a:srgbClr val="FF0000"/>
                </a:solidFill>
              </a:rPr>
              <a:t>CcOut.HillAx_s16</a:t>
            </a:r>
            <a:r>
              <a:rPr lang="en-US" altLang="zh-CN" sz="1100"/>
              <a:t>  </a:t>
            </a:r>
            <a:r>
              <a:rPr lang="zh-CN" altLang="en-US" sz="1100"/>
              <a:t>（</a:t>
            </a:r>
            <a:r>
              <a:rPr lang="en-US" altLang="zh-CN" sz="1100"/>
              <a:t>TIB</a:t>
            </a:r>
            <a:r>
              <a:rPr lang="zh-CN" altLang="en-US" sz="1100"/>
              <a:t>）。</a:t>
            </a:r>
            <a:endParaRPr lang="en-US" altLang="zh-CN" sz="1100"/>
          </a:p>
          <a:p>
            <a:endParaRPr lang="en-US" altLang="zh-CN" sz="1100"/>
          </a:p>
          <a:p>
            <a:r>
              <a:rPr lang="en-US" altLang="zh-CN" sz="1100" b="1"/>
              <a:t>1.7 </a:t>
            </a:r>
            <a:r>
              <a:rPr lang="zh-CN" altLang="en-US" sz="1100" b="1"/>
              <a:t>启动辅助输出</a:t>
            </a:r>
          </a:p>
          <a:p>
            <a:r>
              <a:rPr lang="zh-CN" altLang="en-US" sz="1100"/>
              <a:t>若启动辅助使能且安全未屏蔽，输出启动辅助相关标志和压力请求。</a:t>
            </a:r>
          </a:p>
          <a:p>
            <a:r>
              <a:rPr lang="zh-CN" altLang="en-US" sz="1100"/>
              <a:t>否则相关输出清零。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CcOut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Flg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SglHoldDump_b1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>
                <a:solidFill>
                  <a:srgbClr val="C792E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CcOut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Flg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SglAct_b1</a:t>
            </a:r>
            <a:r>
              <a:rPr lang="en-US" altLang="zh-CN" sz="1100">
                <a:solidFill>
                  <a:srgbClr val="ABB2B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100" b="0">
                <a:solidFill>
                  <a:srgbClr val="C792E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CcOut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PressReq_s16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>
                <a:solidFill>
                  <a:srgbClr val="C792E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1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altLang="zh-CN" sz="1100"/>
          </a:p>
          <a:p>
            <a:pPr algn="l"/>
            <a:r>
              <a:rPr lang="en-US" altLang="zh-CN" sz="1100" b="1" i="0">
                <a:effectLst/>
                <a:latin typeface="Segoe WPC"/>
              </a:rPr>
              <a:t>1.8 </a:t>
            </a:r>
            <a:r>
              <a:rPr lang="zh-CN" altLang="en-US" sz="1100" b="1" i="0">
                <a:effectLst/>
                <a:latin typeface="Segoe WPC"/>
              </a:rPr>
              <a:t>偏置与稳定性输出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100" b="0" i="0">
                <a:effectLst/>
                <a:latin typeface="Segoe WPC"/>
              </a:rPr>
              <a:t>若偏置计算使能，输出前轴偏置 </a:t>
            </a:r>
            <a:r>
              <a:rPr lang="en-US" altLang="zh-CN" sz="1100" b="0" i="0">
                <a:effectLst/>
                <a:latin typeface="Segoe WPC"/>
              </a:rPr>
              <a:t> </a:t>
            </a:r>
            <a:r>
              <a:rPr lang="en-US" altLang="zh-CN" sz="1100" b="1" i="0">
                <a:solidFill>
                  <a:srgbClr val="FF0000"/>
                </a:solidFill>
                <a:effectLst/>
                <a:latin typeface="Segoe WPC"/>
              </a:rPr>
              <a:t>CcOut.FrntAxlBias_s16</a:t>
            </a:r>
            <a:r>
              <a:rPr lang="zh-CN" altLang="en-US" sz="1100" b="0" i="0">
                <a:effectLst/>
                <a:latin typeface="Segoe WPC"/>
              </a:rPr>
              <a:t>、每轮偏置</a:t>
            </a:r>
            <a:r>
              <a:rPr lang="nl-NL" altLang="zh-CN" sz="1100" b="1" i="0">
                <a:solidFill>
                  <a:srgbClr val="FF0000"/>
                </a:solidFill>
                <a:effectLst/>
                <a:latin typeface="Segoe WPC"/>
              </a:rPr>
              <a:t>CcOut.WhlBias_s16[wheel_u32] </a:t>
            </a:r>
            <a:r>
              <a:rPr lang="zh-CN" altLang="en-US" sz="1100" b="1" i="0">
                <a:solidFill>
                  <a:srgbClr val="FF0000"/>
                </a:solidFill>
                <a:effectLst/>
                <a:latin typeface="Segoe WPC"/>
              </a:rPr>
              <a:t> </a:t>
            </a:r>
            <a:r>
              <a:rPr lang="zh-CN" altLang="en-US" sz="1100" b="0" i="0">
                <a:effectLst/>
                <a:latin typeface="Segoe WPC"/>
              </a:rPr>
              <a:t>、稳定轮数量</a:t>
            </a:r>
            <a:r>
              <a:rPr lang="en-US" altLang="zh-CN" sz="1100" b="1" i="0">
                <a:solidFill>
                  <a:srgbClr val="FF0000"/>
                </a:solidFill>
                <a:effectLst/>
                <a:latin typeface="Segoe WPC"/>
              </a:rPr>
              <a:t>CcOut.StblWhlCnt_u8</a:t>
            </a:r>
            <a:r>
              <a:rPr lang="zh-CN" altLang="en-US" sz="1100" b="0" i="0">
                <a:effectLst/>
                <a:latin typeface="Segoe WPC"/>
              </a:rPr>
              <a:t>、平均稳定性</a:t>
            </a:r>
            <a:r>
              <a:rPr lang="en-US" altLang="zh-CN" sz="1100" b="1" i="0">
                <a:solidFill>
                  <a:srgbClr val="FF0000"/>
                </a:solidFill>
                <a:effectLst/>
                <a:latin typeface="Segoe WPC"/>
              </a:rPr>
              <a:t>vehicle_stability_s16</a:t>
            </a:r>
            <a:r>
              <a:rPr lang="zh-CN" altLang="en-US" sz="1100" b="0" i="0">
                <a:effectLst/>
                <a:latin typeface="Segoe WPC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100" b="0" i="0">
                <a:effectLst/>
                <a:latin typeface="Segoe WPC"/>
              </a:rPr>
              <a:t>否则输出静态分配和</a:t>
            </a:r>
            <a:r>
              <a:rPr lang="en-US" altLang="zh-CN" sz="1100" b="0" i="0">
                <a:effectLst/>
                <a:latin typeface="Segoe WPC"/>
              </a:rPr>
              <a:t>100%</a:t>
            </a:r>
            <a:r>
              <a:rPr lang="zh-CN" altLang="en-US" sz="1100" b="0" i="0">
                <a:effectLst/>
                <a:latin typeface="Segoe WPC"/>
              </a:rPr>
              <a:t>稳定性。</a:t>
            </a:r>
            <a:endParaRPr lang="en-US" altLang="zh-CN" sz="1100" b="0" i="0"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sz="1050">
              <a:latin typeface="Segoe WPC"/>
            </a:endParaRPr>
          </a:p>
          <a:p>
            <a:pPr algn="l"/>
            <a:r>
              <a:rPr lang="en-US" altLang="zh-CN" sz="1100" b="1" i="0">
                <a:effectLst/>
                <a:latin typeface="Segoe WPC"/>
              </a:rPr>
              <a:t>1.9 </a:t>
            </a:r>
            <a:r>
              <a:rPr lang="zh-CN" altLang="en-US" sz="1100" b="1" i="0">
                <a:effectLst/>
                <a:latin typeface="Segoe WPC"/>
              </a:rPr>
              <a:t>防滑调节输出</a:t>
            </a:r>
          </a:p>
          <a:p>
            <a:pPr algn="l"/>
            <a:r>
              <a:rPr lang="zh-CN" altLang="en-US" sz="1100" b="0" i="0">
                <a:effectLst/>
                <a:latin typeface="Segoe WPC"/>
              </a:rPr>
              <a:t>若拖拽支持、</a:t>
            </a:r>
            <a:r>
              <a:rPr lang="en-US" altLang="zh-CN" sz="1100" b="0" i="0">
                <a:effectLst/>
                <a:latin typeface="Segoe WPC"/>
              </a:rPr>
              <a:t>ABS</a:t>
            </a:r>
            <a:r>
              <a:rPr lang="zh-CN" altLang="en-US" sz="1100" b="0" i="0">
                <a:effectLst/>
                <a:latin typeface="Segoe WPC"/>
              </a:rPr>
              <a:t>激活、稳定性低于阈值等，且</a:t>
            </a:r>
            <a:r>
              <a:rPr lang="en-US" altLang="zh-CN" sz="1100" b="0" i="0">
                <a:effectLst/>
                <a:latin typeface="Segoe WPC"/>
              </a:rPr>
              <a:t>HDC</a:t>
            </a:r>
            <a:r>
              <a:rPr lang="zh-CN" altLang="en-US" sz="1100" b="0" i="0">
                <a:effectLst/>
                <a:latin typeface="Segoe WPC"/>
              </a:rPr>
              <a:t>请求有效，输出防滑调节请求（</a:t>
            </a:r>
            <a:r>
              <a:rPr lang="en-US" altLang="zh-CN" sz="1100" b="0" i="0">
                <a:effectLst/>
                <a:latin typeface="Segoe WPC"/>
              </a:rPr>
              <a:t>CcOut.u.Flg.SlipRglt_b1</a:t>
            </a:r>
            <a:r>
              <a:rPr lang="zh-CN" altLang="en-US" sz="1100" b="0" i="0">
                <a:effectLst/>
                <a:latin typeface="Segoe WPC"/>
              </a:rPr>
              <a:t>），并启动最小点亮时间。</a:t>
            </a:r>
          </a:p>
          <a:p>
            <a:pPr algn="l"/>
            <a:r>
              <a:rPr lang="zh-CN" altLang="en-US" sz="1100" b="0" i="0">
                <a:effectLst/>
                <a:latin typeface="Segoe WPC"/>
              </a:rPr>
              <a:t>否则关闭防滑调节。</a:t>
            </a:r>
          </a:p>
          <a:p>
            <a:r>
              <a:rPr lang="en-US" altLang="zh-CN" sz="1100" b="1"/>
              <a:t>1.10 HDC</a:t>
            </a:r>
            <a:r>
              <a:rPr lang="zh-CN" altLang="en-US" sz="1100" b="1"/>
              <a:t>控制模式输出</a:t>
            </a:r>
          </a:p>
          <a:p>
            <a:r>
              <a:rPr lang="zh-CN" altLang="en-US" sz="1100"/>
              <a:t>根据功能使能</a:t>
            </a:r>
            <a:r>
              <a:rPr lang="en-US" altLang="zh-CN" sz="1100" b="1">
                <a:solidFill>
                  <a:srgbClr val="FF0000"/>
                </a:solidFill>
              </a:rPr>
              <a:t>CcStat.u.Flg.Enabled_b1</a:t>
            </a:r>
            <a:r>
              <a:rPr lang="zh-CN" altLang="en-US" sz="1100"/>
              <a:t>、温度</a:t>
            </a:r>
            <a:r>
              <a:rPr lang="en-US" altLang="zh-CN" sz="1100" b="1">
                <a:solidFill>
                  <a:srgbClr val="FF0000"/>
                </a:solidFill>
              </a:rPr>
              <a:t>BrakeDiscTempHigh_b1</a:t>
            </a:r>
            <a:r>
              <a:rPr lang="zh-CN" altLang="en-US" sz="1100"/>
              <a:t>、状态（</a:t>
            </a:r>
            <a:r>
              <a:rPr lang="en-US" altLang="zh-CN" sz="1100" b="1">
                <a:solidFill>
                  <a:srgbClr val="FF0000"/>
                </a:solidFill>
              </a:rPr>
              <a:t>CcStat.State_u8</a:t>
            </a:r>
            <a:r>
              <a:rPr lang="zh-CN" altLang="en-US" sz="1100"/>
              <a:t>）等，输出</a:t>
            </a:r>
            <a:r>
              <a:rPr lang="en-US" altLang="zh-CN" sz="1100"/>
              <a:t>HDC</a:t>
            </a:r>
            <a:r>
              <a:rPr lang="zh-CN" altLang="en-US" sz="1100"/>
              <a:t>控制模式（未使能</a:t>
            </a:r>
            <a:r>
              <a:rPr lang="en-US" altLang="zh-CN" sz="1100"/>
              <a:t>/</a:t>
            </a:r>
            <a:r>
              <a:rPr lang="zh-CN" altLang="en-US" sz="1100"/>
              <a:t>待机</a:t>
            </a:r>
            <a:r>
              <a:rPr lang="en-US" altLang="zh-CN" sz="1100"/>
              <a:t>/</a:t>
            </a:r>
            <a:r>
              <a:rPr lang="zh-CN" altLang="en-US" sz="1100"/>
              <a:t>激活</a:t>
            </a:r>
            <a:r>
              <a:rPr lang="en-US" altLang="zh-CN" sz="1100"/>
              <a:t>/</a:t>
            </a:r>
            <a:r>
              <a:rPr lang="zh-CN" altLang="en-US" sz="1100"/>
              <a:t>制动）</a:t>
            </a:r>
            <a:endParaRPr lang="en-US" altLang="zh-CN" sz="1100"/>
          </a:p>
          <a:p>
            <a:r>
              <a:rPr lang="en-US" altLang="zh-CN" sz="1100" b="1"/>
              <a:t>1.12 </a:t>
            </a:r>
            <a:r>
              <a:rPr lang="zh-CN" altLang="en-US" sz="1100" b="1"/>
              <a:t>安全算法调用</a:t>
            </a:r>
          </a:p>
          <a:p>
            <a:r>
              <a:rPr lang="zh-CN" altLang="en-US" sz="1100"/>
              <a:t>若使能，调用安全算法屏蔽输出。</a:t>
            </a:r>
            <a:endParaRPr lang="en-US" altLang="zh-CN" sz="1100"/>
          </a:p>
        </p:txBody>
      </p:sp>
    </p:spTree>
    <p:extLst>
      <p:ext uri="{BB962C8B-B14F-4D97-AF65-F5344CB8AC3E}">
        <p14:creationId xmlns:p14="http://schemas.microsoft.com/office/powerpoint/2010/main" val="643127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3E6A103-6580-FCF5-4275-B31D02EB0B01}"/>
              </a:ext>
            </a:extLst>
          </p:cNvPr>
          <p:cNvSpPr txBox="1"/>
          <p:nvPr/>
        </p:nvSpPr>
        <p:spPr>
          <a:xfrm>
            <a:off x="644652" y="607165"/>
            <a:ext cx="941374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/>
              <a:t>2. </a:t>
            </a:r>
            <a:r>
              <a:rPr lang="zh-CN" altLang="en-US" sz="2000" b="1"/>
              <a:t>主要输出信号说明</a:t>
            </a:r>
          </a:p>
          <a:p>
            <a:r>
              <a:rPr lang="en-US" altLang="zh-CN" sz="1600">
                <a:solidFill>
                  <a:srgbClr val="FF0000"/>
                </a:solidFill>
              </a:rPr>
              <a:t>CcOut.u.Flg.BrkReq_b1</a:t>
            </a:r>
            <a:r>
              <a:rPr lang="zh-CN" altLang="en-US" sz="1600"/>
              <a:t>：</a:t>
            </a:r>
            <a:r>
              <a:rPr lang="en-US" altLang="zh-CN" sz="1600"/>
              <a:t>HDC/CC</a:t>
            </a:r>
            <a:r>
              <a:rPr lang="zh-CN" altLang="en-US" sz="1600"/>
              <a:t>制动请求</a:t>
            </a:r>
          </a:p>
          <a:p>
            <a:r>
              <a:rPr lang="en-US" altLang="zh-CN" sz="1600">
                <a:solidFill>
                  <a:srgbClr val="FF0000"/>
                </a:solidFill>
              </a:rPr>
              <a:t>CcOut.u.Flg.LampReq_b1</a:t>
            </a:r>
            <a:r>
              <a:rPr lang="zh-CN" altLang="en-US" sz="1600"/>
              <a:t>：</a:t>
            </a:r>
            <a:r>
              <a:rPr lang="en-US" altLang="zh-CN" sz="1600"/>
              <a:t>HDC</a:t>
            </a:r>
            <a:r>
              <a:rPr lang="zh-CN" altLang="en-US" sz="1600"/>
              <a:t>激活灯请求</a:t>
            </a:r>
          </a:p>
          <a:p>
            <a:r>
              <a:rPr lang="en-US" altLang="zh-CN" sz="1600">
                <a:solidFill>
                  <a:srgbClr val="FF0000"/>
                </a:solidFill>
              </a:rPr>
              <a:t>CcOut.u.Flg.StdbyLampReq_b1</a:t>
            </a:r>
            <a:r>
              <a:rPr lang="zh-CN" altLang="en-US" sz="1600"/>
              <a:t>：</a:t>
            </a:r>
            <a:r>
              <a:rPr lang="en-US" altLang="zh-CN" sz="1600"/>
              <a:t>HDC</a:t>
            </a:r>
            <a:r>
              <a:rPr lang="zh-CN" altLang="en-US" sz="1600"/>
              <a:t>待机灯请求</a:t>
            </a:r>
          </a:p>
          <a:p>
            <a:r>
              <a:rPr lang="en-US" altLang="zh-CN" sz="1600">
                <a:solidFill>
                  <a:srgbClr val="FF0000"/>
                </a:solidFill>
              </a:rPr>
              <a:t>CcOut.TrtSpdDrv_s16/CcOut.TrtSpd_s16</a:t>
            </a:r>
            <a:r>
              <a:rPr lang="zh-CN" altLang="en-US" sz="1600"/>
              <a:t>：目标速度</a:t>
            </a:r>
          </a:p>
          <a:p>
            <a:r>
              <a:rPr lang="en-US" altLang="zh-CN" sz="1600">
                <a:solidFill>
                  <a:srgbClr val="FF0000"/>
                </a:solidFill>
              </a:rPr>
              <a:t>CcOut.SpdReq_s16/CcOut.SpdReqUnlm_s16</a:t>
            </a:r>
            <a:r>
              <a:rPr lang="zh-CN" altLang="en-US" sz="1600"/>
              <a:t>：限幅</a:t>
            </a:r>
            <a:r>
              <a:rPr lang="en-US" altLang="zh-CN" sz="1600"/>
              <a:t>/</a:t>
            </a:r>
            <a:r>
              <a:rPr lang="zh-CN" altLang="en-US" sz="1600"/>
              <a:t>无限幅速度请求</a:t>
            </a:r>
          </a:p>
          <a:p>
            <a:r>
              <a:rPr lang="en-US" altLang="zh-CN" sz="1600">
                <a:solidFill>
                  <a:srgbClr val="FF0000"/>
                </a:solidFill>
              </a:rPr>
              <a:t>CcOut.FrntAxlBias_s16/CcOut.WhlBias_s16[]</a:t>
            </a:r>
            <a:r>
              <a:rPr lang="zh-CN" altLang="en-US" sz="1600"/>
              <a:t>：前轴</a:t>
            </a:r>
            <a:r>
              <a:rPr lang="en-US" altLang="zh-CN" sz="1600"/>
              <a:t>/</a:t>
            </a:r>
            <a:r>
              <a:rPr lang="zh-CN" altLang="en-US" sz="1600"/>
              <a:t>各轮偏置</a:t>
            </a:r>
          </a:p>
          <a:p>
            <a:r>
              <a:rPr lang="en-US" altLang="zh-CN" sz="1600">
                <a:solidFill>
                  <a:srgbClr val="FF0000"/>
                </a:solidFill>
              </a:rPr>
              <a:t>CcOut.StblWhlCnt_u8</a:t>
            </a:r>
            <a:r>
              <a:rPr lang="zh-CN" altLang="en-US" sz="1600"/>
              <a:t>：稳定轮数量</a:t>
            </a:r>
          </a:p>
          <a:p>
            <a:r>
              <a:rPr lang="en-US" altLang="zh-CN" sz="1600">
                <a:solidFill>
                  <a:srgbClr val="FF0000"/>
                </a:solidFill>
              </a:rPr>
              <a:t>CcOut.HillAx_s16</a:t>
            </a:r>
            <a:r>
              <a:rPr lang="zh-CN" altLang="en-US" sz="1600"/>
              <a:t>：估算坡度</a:t>
            </a:r>
          </a:p>
          <a:p>
            <a:r>
              <a:rPr lang="en-US" altLang="zh-CN" sz="1600">
                <a:solidFill>
                  <a:srgbClr val="FF0000"/>
                </a:solidFill>
              </a:rPr>
              <a:t>CcOut.u.Flg.SlipRglt_b1</a:t>
            </a:r>
            <a:r>
              <a:rPr lang="zh-CN" altLang="en-US" sz="1600"/>
              <a:t>：防滑调节请求</a:t>
            </a:r>
          </a:p>
          <a:p>
            <a:r>
              <a:rPr lang="en-US" altLang="zh-CN" sz="1600">
                <a:solidFill>
                  <a:srgbClr val="FF0000"/>
                </a:solidFill>
              </a:rPr>
              <a:t>CcOut.u.Flg.Enabled_b1</a:t>
            </a:r>
            <a:r>
              <a:rPr lang="zh-CN" altLang="en-US" sz="1600"/>
              <a:t>：</a:t>
            </a:r>
            <a:r>
              <a:rPr lang="en-US" altLang="zh-CN" sz="1600"/>
              <a:t>HDC/CC</a:t>
            </a:r>
            <a:r>
              <a:rPr lang="zh-CN" altLang="en-US" sz="1600"/>
              <a:t>功能使能</a:t>
            </a:r>
          </a:p>
          <a:p>
            <a:r>
              <a:rPr lang="en-US" altLang="zh-CN" sz="1600">
                <a:solidFill>
                  <a:srgbClr val="FF0000"/>
                </a:solidFill>
              </a:rPr>
              <a:t>CcOut.MsgReqByHillDwnCtrl_u8</a:t>
            </a:r>
            <a:r>
              <a:rPr lang="zh-CN" altLang="en-US" sz="1600"/>
              <a:t>：</a:t>
            </a:r>
            <a:r>
              <a:rPr lang="en-US" altLang="zh-CN" sz="1600"/>
              <a:t>HDC</a:t>
            </a:r>
            <a:r>
              <a:rPr lang="zh-CN" altLang="en-US" sz="1600"/>
              <a:t>控制模式（未使能</a:t>
            </a:r>
            <a:r>
              <a:rPr lang="en-US" altLang="zh-CN" sz="1600"/>
              <a:t>/</a:t>
            </a:r>
            <a:r>
              <a:rPr lang="zh-CN" altLang="en-US" sz="1600"/>
              <a:t>待机</a:t>
            </a:r>
            <a:r>
              <a:rPr lang="en-US" altLang="zh-CN" sz="1600"/>
              <a:t>/</a:t>
            </a:r>
            <a:r>
              <a:rPr lang="zh-CN" altLang="en-US" sz="1600"/>
              <a:t>激活</a:t>
            </a:r>
            <a:r>
              <a:rPr lang="en-US" altLang="zh-CN" sz="1600"/>
              <a:t>/</a:t>
            </a:r>
            <a:r>
              <a:rPr lang="zh-CN" altLang="en-US" sz="1600"/>
              <a:t>制动）</a:t>
            </a:r>
          </a:p>
        </p:txBody>
      </p:sp>
    </p:spTree>
    <p:extLst>
      <p:ext uri="{BB962C8B-B14F-4D97-AF65-F5344CB8AC3E}">
        <p14:creationId xmlns:p14="http://schemas.microsoft.com/office/powerpoint/2010/main" val="269025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ECDE3992A08C4AB27EAAF617A05967" ma:contentTypeVersion="18" ma:contentTypeDescription="Create a new document." ma:contentTypeScope="" ma:versionID="9683c085a59988fd2dc84fe522921e1c">
  <xsd:schema xmlns:xsd="http://www.w3.org/2001/XMLSchema" xmlns:xs="http://www.w3.org/2001/XMLSchema" xmlns:p="http://schemas.microsoft.com/office/2006/metadata/properties" xmlns:ns2="455088e1-af34-4927-a3f0-bdce59540293" xmlns:ns3="f4ecdb93-bc7f-4438-8c77-236ab96c18a9" targetNamespace="http://schemas.microsoft.com/office/2006/metadata/properties" ma:root="true" ma:fieldsID="7184c417cebe2c46bf9076e6fd8b1060" ns2:_="" ns3:_="">
    <xsd:import namespace="455088e1-af34-4927-a3f0-bdce59540293"/>
    <xsd:import namespace="f4ecdb93-bc7f-4438-8c77-236ab96c18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testStatus" minOccurs="0"/>
                <xsd:element ref="ns3:PrimeClassificationStatus" minOccurs="0"/>
                <xsd:element ref="ns3:PrimeClassificationStatusDetails" minOccurs="0"/>
                <xsd:element ref="ns3:PrimeLastClassified" minOccurs="0"/>
                <xsd:element ref="ns3:PrimeCorrectedByUser" minOccurs="0"/>
                <xsd:element ref="ns3:PrimeAutofillMe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5088e1-af34-4927-a3f0-bdce59540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1535f45-074a-4eaf-b5ce-0ad645dc02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testStatus" ma:index="20" nillable="true" ma:displayName="Test status" ma:description="Summarizes overall test outcome so failed or mixed-result files can be found quickly." ma:internalName="testStatus">
      <xsd:simpleType>
        <xsd:restriction base="dms:Choice">
          <xsd:enumeration value="Pass"/>
          <xsd:enumeration value="Fail"/>
          <xsd:enumeration value="Error"/>
          <xsd:enumeration value="Skipped"/>
          <xsd:enumeration value="Mixed"/>
          <xsd:enumeration value="Not foun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ecdb93-bc7f-4438-8c77-236ab96c18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8791390-06cd-44ed-84f9-ca1c8568e0c9}" ma:internalName="TaxCatchAll" ma:showField="CatchAllData" ma:web="f4ecdb93-bc7f-4438-8c77-236ab96c18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imeClassificationStatus" ma:index="21" nillable="true" ma:displayName="Processing status" ma:internalName="PrimeClassificationStatus">
      <xsd:simpleType>
        <xsd:restriction base="dms:Text"/>
      </xsd:simpleType>
    </xsd:element>
    <xsd:element name="PrimeClassificationStatusDetails" ma:index="22" nillable="true" ma:displayName="Processing details" ma:internalName="PrimeClassificationStatusDetails">
      <xsd:simpleType>
        <xsd:restriction base="dms:Note">
          <xsd:maxLength value="255"/>
        </xsd:restriction>
      </xsd:simpleType>
    </xsd:element>
    <xsd:element name="PrimeLastClassified" ma:index="23" nillable="true" ma:displayName="Processed" ma:internalName="PrimeLastClassified">
      <xsd:simpleType>
        <xsd:restriction base="dms:DateTime"/>
      </xsd:simpleType>
    </xsd:element>
    <xsd:element name="PrimeCorrectedByUser" ma:index="24" nillable="true" ma:displayName="Corrected" ma:internalName="PrimeCorrectedByUser">
      <xsd:simpleType>
        <xsd:restriction base="dms:Boolean"/>
      </xsd:simpleType>
    </xsd:element>
    <xsd:element name="PrimeAutofillMeta" ma:index="25" nillable="true" ma:displayName="Autofill Meta" ma:hidden="true" ma:internalName="PrimeAutofillMeta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ecdb93-bc7f-4438-8c77-236ab96c18a9" xsi:nil="true"/>
    <lcf76f155ced4ddcb4097134ff3c332f xmlns="455088e1-af34-4927-a3f0-bdce59540293">
      <Terms xmlns="http://schemas.microsoft.com/office/infopath/2007/PartnerControls"/>
    </lcf76f155ced4ddcb4097134ff3c332f>
    <PrimeCorrectedByUser xmlns="f4ecdb93-bc7f-4438-8c77-236ab96c18a9" xsi:nil="true"/>
    <testStatus xmlns="455088e1-af34-4927-a3f0-bdce59540293" xsi:nil="true"/>
    <PrimeClassificationStatusDetails xmlns="f4ecdb93-bc7f-4438-8c77-236ab96c18a9" xsi:nil="true"/>
    <PrimeClassificationStatus xmlns="f4ecdb93-bc7f-4438-8c77-236ab96c18a9" xsi:nil="true"/>
    <PrimeLastClassified xmlns="f4ecdb93-bc7f-4438-8c77-236ab96c18a9" xsi:nil="true"/>
    <PrimeAutofillMeta xmlns="f4ecdb93-bc7f-4438-8c77-236ab96c18a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CFA049-02DC-42E9-BBAA-95B5AB37154A}"/>
</file>

<file path=customXml/itemProps2.xml><?xml version="1.0" encoding="utf-8"?>
<ds:datastoreItem xmlns:ds="http://schemas.openxmlformats.org/officeDocument/2006/customXml" ds:itemID="{1CC4FF37-22F7-475B-BBFB-E2D93ABE4B41}">
  <ds:schemaRefs>
    <ds:schemaRef ds:uri="455088e1-af34-4927-a3f0-bdce59540293"/>
    <ds:schemaRef ds:uri="f4ecdb93-bc7f-4438-8c77-236ab96c18a9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E1594E9-6EF5-46E9-8932-65669A90A0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5452</Words>
  <Application>Microsoft Office PowerPoint</Application>
  <PresentationFormat>宽屏</PresentationFormat>
  <Paragraphs>515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4" baseType="lpstr">
      <vt:lpstr>等线</vt:lpstr>
      <vt:lpstr>等线 Light</vt:lpstr>
      <vt:lpstr>Segoe WPC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 Kangrui GNG CDAY223</dc:creator>
  <cp:lastModifiedBy>Yang Zhen SGH CDAY223</cp:lastModifiedBy>
  <cp:revision>1</cp:revision>
  <dcterms:created xsi:type="dcterms:W3CDTF">2024-10-11T07:26:20Z</dcterms:created>
  <dcterms:modified xsi:type="dcterms:W3CDTF">2026-01-28T07:55:51Z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34277c1-31d4-4dba-9248-3ba93a3f3112_Enabled">
    <vt:lpwstr>true</vt:lpwstr>
  </property>
  <property fmtid="{D5CDD505-2E9C-101B-9397-08002B2CF9AE}" pid="3" name="MSIP_Label_134277c1-31d4-4dba-9248-3ba93a3f3112_SetDate">
    <vt:lpwstr>2024-10-11T07:26:33Z</vt:lpwstr>
  </property>
  <property fmtid="{D5CDD505-2E9C-101B-9397-08002B2CF9AE}" pid="4" name="MSIP_Label_134277c1-31d4-4dba-9248-3ba93a3f3112_Method">
    <vt:lpwstr>Privileged</vt:lpwstr>
  </property>
  <property fmtid="{D5CDD505-2E9C-101B-9397-08002B2CF9AE}" pid="5" name="MSIP_Label_134277c1-31d4-4dba-9248-3ba93a3f3112_Name">
    <vt:lpwstr>Internal sub1</vt:lpwstr>
  </property>
  <property fmtid="{D5CDD505-2E9C-101B-9397-08002B2CF9AE}" pid="6" name="MSIP_Label_134277c1-31d4-4dba-9248-3ba93a3f3112_SiteId">
    <vt:lpwstr>eb70b763-b6d7-4486-8555-8831709a784e</vt:lpwstr>
  </property>
  <property fmtid="{D5CDD505-2E9C-101B-9397-08002B2CF9AE}" pid="7" name="MSIP_Label_134277c1-31d4-4dba-9248-3ba93a3f3112_ActionId">
    <vt:lpwstr>61224b99-747a-4941-b191-06821b50579f</vt:lpwstr>
  </property>
  <property fmtid="{D5CDD505-2E9C-101B-9397-08002B2CF9AE}" pid="8" name="MSIP_Label_134277c1-31d4-4dba-9248-3ba93a3f3112_ContentBits">
    <vt:lpwstr>1</vt:lpwstr>
  </property>
  <property fmtid="{D5CDD505-2E9C-101B-9397-08002B2CF9AE}" pid="9" name="ClassificationContentMarkingHeaderLocations">
    <vt:lpwstr>Office Theme:8</vt:lpwstr>
  </property>
  <property fmtid="{D5CDD505-2E9C-101B-9397-08002B2CF9AE}" pid="10" name="ClassificationContentMarkingHeaderText">
    <vt:lpwstr>Internal</vt:lpwstr>
  </property>
  <property fmtid="{D5CDD505-2E9C-101B-9397-08002B2CF9AE}" pid="11" name="ContentTypeId">
    <vt:lpwstr>0x010100F4ECDE3992A08C4AB27EAAF617A05967</vt:lpwstr>
  </property>
  <property fmtid="{D5CDD505-2E9C-101B-9397-08002B2CF9AE}" pid="12" name="MediaServiceImageTags">
    <vt:lpwstr/>
  </property>
</Properties>
</file>