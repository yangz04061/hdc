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2" r:id="rId5"/>
    <p:sldId id="276" r:id="rId6"/>
    <p:sldId id="277" r:id="rId7"/>
    <p:sldId id="278" r:id="rId8"/>
    <p:sldId id="269" r:id="rId9"/>
    <p:sldId id="270" r:id="rId10"/>
    <p:sldId id="281" r:id="rId11"/>
    <p:sldId id="271" r:id="rId12"/>
    <p:sldId id="280" r:id="rId13"/>
    <p:sldId id="279" r:id="rId14"/>
    <p:sldId id="273" r:id="rId15"/>
    <p:sldId id="274" r:id="rId16"/>
    <p:sldId id="275" r:id="rId17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A00655-5E61-4FEE-AEDB-A14C47BD6991}">
          <p14:sldIdLst>
            <p14:sldId id="272"/>
            <p14:sldId id="276"/>
            <p14:sldId id="277"/>
            <p14:sldId id="278"/>
            <p14:sldId id="269"/>
            <p14:sldId id="270"/>
            <p14:sldId id="281"/>
            <p14:sldId id="271"/>
            <p14:sldId id="280"/>
            <p14:sldId id="279"/>
          </p14:sldIdLst>
        </p14:section>
        <p14:section name="back up" id="{FC42DC1F-2331-43F4-B19F-D1A8A1663CA8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86" userDrawn="1">
          <p15:clr>
            <a:srgbClr val="A4A3A4"/>
          </p15:clr>
        </p15:guide>
        <p15:guide id="2" orient="horz" pos="553" userDrawn="1">
          <p15:clr>
            <a:srgbClr val="A4A3A4"/>
          </p15:clr>
        </p15:guide>
        <p15:guide id="3" orient="horz" pos="1800" userDrawn="1">
          <p15:clr>
            <a:srgbClr val="A4A3A4"/>
          </p15:clr>
        </p15:guide>
        <p15:guide id="4" orient="horz" pos="2934" userDrawn="1">
          <p15:clr>
            <a:srgbClr val="A4A3A4"/>
          </p15:clr>
        </p15:guide>
        <p15:guide id="5" pos="2940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  <a:srgbClr val="FFCE3C"/>
    <a:srgbClr val="00ABE7"/>
    <a:srgbClr val="7FD5F3"/>
    <a:srgbClr val="BFEAF9"/>
    <a:srgbClr val="1179BF"/>
    <a:srgbClr val="81BCDF"/>
    <a:srgbClr val="004D7A"/>
    <a:srgbClr val="7FA5BC"/>
    <a:srgbClr val="DD0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F5AD1-F93D-4FC8-A2AD-C496DC818E50}" v="36" dt="2026-07-31T02:12:13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86"/>
        <p:guide orient="horz" pos="553"/>
        <p:guide orient="horz" pos="1800"/>
        <p:guide orient="horz" pos="2934"/>
        <p:guide pos="2940"/>
        <p:guide pos="2832"/>
        <p:guide pos="5538"/>
        <p:guide pos="23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BEBCD458-1472-443B-8616-221ED4FCAD17}"/>
    <pc:docChg chg="undo custSel addSld modSld modSection">
      <pc:chgData name="Yang Zhen SGH CDAY223" userId="58c6818a-3577-4ae3-8238-bcb4cc81b368" providerId="ADAL" clId="{BEBCD458-1472-443B-8616-221ED4FCAD17}" dt="2026-07-31T02:12:13.017" v="172" actId="1035"/>
      <pc:docMkLst>
        <pc:docMk/>
      </pc:docMkLst>
      <pc:sldChg chg="addSp delSp modSp new mod">
        <pc:chgData name="Yang Zhen SGH CDAY223" userId="58c6818a-3577-4ae3-8238-bcb4cc81b368" providerId="ADAL" clId="{BEBCD458-1472-443B-8616-221ED4FCAD17}" dt="2026-07-31T02:12:13.017" v="172" actId="1035"/>
        <pc:sldMkLst>
          <pc:docMk/>
          <pc:sldMk cId="1558857800" sldId="281"/>
        </pc:sldMkLst>
        <pc:spChg chg="del">
          <ac:chgData name="Yang Zhen SGH CDAY223" userId="58c6818a-3577-4ae3-8238-bcb4cc81b368" providerId="ADAL" clId="{BEBCD458-1472-443B-8616-221ED4FCAD17}" dt="2026-07-31T01:55:46.740" v="1" actId="478"/>
          <ac:spMkLst>
            <pc:docMk/>
            <pc:sldMk cId="1558857800" sldId="281"/>
            <ac:spMk id="2" creationId="{1B40888F-25BD-BFAE-F2C2-E1B6FB51292E}"/>
          </ac:spMkLst>
        </pc:spChg>
        <pc:spChg chg="del">
          <ac:chgData name="Yang Zhen SGH CDAY223" userId="58c6818a-3577-4ae3-8238-bcb4cc81b368" providerId="ADAL" clId="{BEBCD458-1472-443B-8616-221ED4FCAD17}" dt="2026-07-31T01:55:46.740" v="1" actId="478"/>
          <ac:spMkLst>
            <pc:docMk/>
            <pc:sldMk cId="1558857800" sldId="281"/>
            <ac:spMk id="3" creationId="{72E73374-7313-5B6C-45B8-FF1FADC18894}"/>
          </ac:spMkLst>
        </pc:spChg>
        <pc:spChg chg="add mod">
          <ac:chgData name="Yang Zhen SGH CDAY223" userId="58c6818a-3577-4ae3-8238-bcb4cc81b368" providerId="ADAL" clId="{BEBCD458-1472-443B-8616-221ED4FCAD17}" dt="2026-07-31T02:12:13.017" v="172" actId="1035"/>
          <ac:spMkLst>
            <pc:docMk/>
            <pc:sldMk cId="1558857800" sldId="281"/>
            <ac:spMk id="8" creationId="{187699B7-1D90-4F1A-FFD6-998076C474B1}"/>
          </ac:spMkLst>
        </pc:spChg>
        <pc:spChg chg="add mod">
          <ac:chgData name="Yang Zhen SGH CDAY223" userId="58c6818a-3577-4ae3-8238-bcb4cc81b368" providerId="ADAL" clId="{BEBCD458-1472-443B-8616-221ED4FCAD17}" dt="2026-07-31T02:12:13.017" v="172" actId="1035"/>
          <ac:spMkLst>
            <pc:docMk/>
            <pc:sldMk cId="1558857800" sldId="281"/>
            <ac:spMk id="10" creationId="{DCEDEB52-AA73-F68E-3559-3CB564F2EC10}"/>
          </ac:spMkLst>
        </pc:spChg>
        <pc:graphicFrameChg chg="add mod">
          <ac:chgData name="Yang Zhen SGH CDAY223" userId="58c6818a-3577-4ae3-8238-bcb4cc81b368" providerId="ADAL" clId="{BEBCD458-1472-443B-8616-221ED4FCAD17}" dt="2026-07-31T02:12:13.017" v="172" actId="1035"/>
          <ac:graphicFrameMkLst>
            <pc:docMk/>
            <pc:sldMk cId="1558857800" sldId="281"/>
            <ac:graphicFrameMk id="6" creationId="{347EDB2B-9F47-0A04-991E-12A2648E53AC}"/>
          </ac:graphicFrameMkLst>
        </pc:graphicFrameChg>
        <pc:graphicFrameChg chg="add mod">
          <ac:chgData name="Yang Zhen SGH CDAY223" userId="58c6818a-3577-4ae3-8238-bcb4cc81b368" providerId="ADAL" clId="{BEBCD458-1472-443B-8616-221ED4FCAD17}" dt="2026-07-31T02:12:13.017" v="172" actId="1035"/>
          <ac:graphicFrameMkLst>
            <pc:docMk/>
            <pc:sldMk cId="1558857800" sldId="281"/>
            <ac:graphicFrameMk id="7" creationId="{4A6B301A-F7B4-5AC6-8145-1D047576D413}"/>
          </ac:graphicFrameMkLst>
        </pc:graphicFrameChg>
        <pc:graphicFrameChg chg="add mod modGraphic">
          <ac:chgData name="Yang Zhen SGH CDAY223" userId="58c6818a-3577-4ae3-8238-bcb4cc81b368" providerId="ADAL" clId="{BEBCD458-1472-443B-8616-221ED4FCAD17}" dt="2026-07-31T02:12:13.017" v="172" actId="1035"/>
          <ac:graphicFrameMkLst>
            <pc:docMk/>
            <pc:sldMk cId="1558857800" sldId="281"/>
            <ac:graphicFrameMk id="11" creationId="{B66C5573-F4DC-5228-3C78-CDB648F20CF4}"/>
          </ac:graphicFrameMkLst>
        </pc:graphicFrameChg>
        <pc:graphicFrameChg chg="add mod">
          <ac:chgData name="Yang Zhen SGH CDAY223" userId="58c6818a-3577-4ae3-8238-bcb4cc81b368" providerId="ADAL" clId="{BEBCD458-1472-443B-8616-221ED4FCAD17}" dt="2026-07-31T02:12:13.017" v="172" actId="1035"/>
          <ac:graphicFrameMkLst>
            <pc:docMk/>
            <pc:sldMk cId="1558857800" sldId="281"/>
            <ac:graphicFrameMk id="12" creationId="{8A2D3F4D-0283-EA60-7B64-F8F59D06910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81487-DED7-4908-9A01-0A45EDCB1D6C}" type="datetimeFigureOut">
              <a:rPr lang="de-DE" sz="1000" smtClean="0"/>
              <a:t>30.07.2026</a:t>
            </a:fld>
            <a:endParaRPr lang="de-DE" sz="10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2A22D-1E89-46D3-A8B1-76349A9A3E3A}" type="slidenum">
              <a:rPr lang="de-DE" sz="1000" smtClean="0"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60363" y="360363"/>
            <a:ext cx="6119812" cy="34432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60000" y="3960000"/>
            <a:ext cx="6120000" cy="48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887522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1484884"/>
            <a:ext cx="8424000" cy="1057982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3600" cy="3599"/>
          </a:xfrm>
        </p:spPr>
        <p:txBody>
          <a:bodyPr/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999" y="2729931"/>
            <a:ext cx="8424000" cy="2520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8" y="43815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5" y="864002"/>
            <a:ext cx="4122737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09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864002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864002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864002"/>
            <a:ext cx="2700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863999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864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864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864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864000"/>
            <a:ext cx="2700000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844000"/>
            <a:ext cx="2700000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843777"/>
            <a:ext cx="2700000" cy="18002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843777"/>
            <a:ext cx="2700000" cy="18002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100839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3564000" cy="108000"/>
          </a:xfrm>
        </p:spPr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1403999"/>
            <a:ext cx="4122737" cy="324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cxnSp>
        <p:nvCxnSpPr>
          <p:cNvPr id="13" name="Gerade Verbindung 8"/>
          <p:cNvCxnSpPr/>
          <p:nvPr userDrawn="1"/>
        </p:nvCxnSpPr>
        <p:spPr>
          <a:xfrm>
            <a:off x="360004" y="4722301"/>
            <a:ext cx="4122737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100839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3563234" cy="108000"/>
          </a:xfrm>
        </p:spPr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1403999"/>
            <a:ext cx="4122737" cy="324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cxnSp>
        <p:nvCxnSpPr>
          <p:cNvPr id="10" name="Gerade Verbindung 9"/>
          <p:cNvCxnSpPr/>
          <p:nvPr/>
        </p:nvCxnSpPr>
        <p:spPr>
          <a:xfrm>
            <a:off x="360004" y="4722301"/>
            <a:ext cx="4122737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0" y="864002"/>
            <a:ext cx="914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864003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844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4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2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843999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104168"/>
            <a:ext cx="8424000" cy="539833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864001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nePa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4122737" cy="988702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3B23CF99-FA45-4D2B-9C4A-45F0852BC6AC}"/>
              </a:ext>
            </a:extLst>
          </p:cNvPr>
          <p:cNvSpPr/>
          <p:nvPr userDrawn="1"/>
        </p:nvSpPr>
        <p:spPr>
          <a:xfrm>
            <a:off x="366150" y="1584945"/>
            <a:ext cx="4122737" cy="305905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1BC1947-F90E-4108-BDBE-CB4CEDB4EE14}"/>
              </a:ext>
            </a:extLst>
          </p:cNvPr>
          <p:cNvGrpSpPr/>
          <p:nvPr userDrawn="1"/>
        </p:nvGrpSpPr>
        <p:grpSpPr>
          <a:xfrm>
            <a:off x="360005" y="1334741"/>
            <a:ext cx="4122737" cy="309862"/>
            <a:chOff x="360004" y="1268893"/>
            <a:chExt cx="4122737" cy="309958"/>
          </a:xfrm>
        </p:grpSpPr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AC4EEC6B-33B4-4AFA-AB2D-9019D9F42416}"/>
                </a:ext>
              </a:extLst>
            </p:cNvPr>
            <p:cNvSpPr txBox="1"/>
            <p:nvPr userDrawn="1"/>
          </p:nvSpPr>
          <p:spPr>
            <a:xfrm>
              <a:off x="360004" y="1268893"/>
              <a:ext cx="985039" cy="309958"/>
            </a:xfrm>
            <a:prstGeom prst="rect">
              <a:avLst/>
            </a:prstGeom>
            <a:noFill/>
          </p:spPr>
          <p:txBody>
            <a:bodyPr wrap="square" lIns="0" tIns="46800" rIns="90000" bIns="46800" rtlCol="0">
              <a:spAutoFit/>
            </a:bodyPr>
            <a:lstStyle/>
            <a:p>
              <a:pPr marL="0" marR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2"/>
                </a:buClr>
                <a:buSzTx/>
                <a:buFont typeface="Tahoma" panose="020B0604030504040204" pitchFamily="34" charset="0"/>
                <a:buNone/>
                <a:tabLst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KEY FACTS</a:t>
              </a:r>
            </a:p>
          </p:txBody>
        </p:sp>
        <p:cxnSp>
          <p:nvCxnSpPr>
            <p:cNvPr id="18" name="Straight Connector 8">
              <a:extLst>
                <a:ext uri="{FF2B5EF4-FFF2-40B4-BE49-F238E27FC236}">
                  <a16:creationId xmlns:a16="http://schemas.microsoft.com/office/drawing/2014/main" id="{EEC636F3-CF5B-4F9E-A7A2-6CE23B22CE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0741" y="1505965"/>
              <a:ext cx="3132000" cy="0"/>
            </a:xfrm>
            <a:prstGeom prst="line">
              <a:avLst/>
            </a:prstGeom>
            <a:noFill/>
            <a:ln w="6350" cap="rnd" cmpd="sng" algn="ctr">
              <a:solidFill>
                <a:srgbClr val="00ABE7"/>
              </a:solidFill>
              <a:prstDash val="solid"/>
              <a:round/>
            </a:ln>
            <a:effectLst/>
          </p:spPr>
        </p:cxnSp>
      </p:grpSp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E34BF2C1-6858-4258-9D7A-6932A422D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5" y="185362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6B0EAC18-56A4-4F9D-B791-1276F33D4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5" y="2243620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F2E5AA21-A336-4144-AC1B-55B16A0EDF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5" y="2804160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D680C08A-C4D9-4C2D-BBA2-205BA49B9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5" y="3194153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D25774EB-F94F-4196-AA22-F826674E86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5" y="377515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38C27363-3949-4BEF-A58D-7A9F9BB72F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5" y="4144687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7" name="Inhaltsplatzhalter 3">
            <a:extLst>
              <a:ext uri="{FF2B5EF4-FFF2-40B4-BE49-F238E27FC236}">
                <a16:creationId xmlns:a16="http://schemas.microsoft.com/office/drawing/2014/main" id="{DB9CCFB0-B14E-4462-8275-F6BA2DFA2D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1096" y="143956"/>
            <a:ext cx="4122000" cy="450004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210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2" name="Gruppieren 1"/>
          <p:cNvGrpSpPr/>
          <p:nvPr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5" name="Gerade Verbindung 14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fik 1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522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endParaRPr lang="de-DE">
              <a:solidFill>
                <a:srgbClr val="FFFFFF"/>
              </a:solidFill>
            </a:endParaRPr>
          </a:p>
        </p:txBody>
      </p:sp>
      <p:sp>
        <p:nvSpPr>
          <p:cNvPr id="23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8604001" y="4890652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1057982"/>
          </a:xfrm>
        </p:spPr>
        <p:txBody>
          <a:bodyPr wrap="none" lIns="0" tIns="0" rIns="0" bIns="0">
            <a:noAutofit/>
          </a:bodyPr>
          <a:lstStyle>
            <a:lvl1pPr>
              <a:defRPr lang="de-DE" sz="7200" b="1" kern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59999" y="1338593"/>
            <a:ext cx="8424000" cy="461665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000" b="1" kern="1200" dirty="0"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altLang="zh-CN"/>
              <a:t>Click to edit Master text styles</a:t>
            </a:r>
          </a:p>
        </p:txBody>
      </p:sp>
      <p:sp>
        <p:nvSpPr>
          <p:cNvPr id="13" name="Textfeld 12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463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nd 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360001" y="438150"/>
            <a:ext cx="6706589" cy="105798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522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8604001" y="4890652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grpSp>
        <p:nvGrpSpPr>
          <p:cNvPr id="16" name="Gruppieren 15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7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20" name="Gerade Verbindung 19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Grafik 2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1" name="Textfeld 10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17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9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0" name="Gerade Verbindung 9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8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9" name="Gerade Verbindung 8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6" name="Gruppieren 5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7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8" name="Gerade Verbindung 7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BBEBD73-2CD8-46CA-9CCA-F2A58106727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2D70085-D491-4B7E-82E2-6A377FF3F9E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D9DBB93-3AFB-4553-916B-2A17CC72F7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78246845-3A96-4A03-9FB8-0BDD36E09A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C241905-1CD8-4733-9B38-2B12EF1D9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864003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261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two Pictures 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55E3D64A-3A09-41C8-A3A4-91CCF15BEED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5751EED-6898-4C4C-8A3D-F4336D3AF0C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EECED83C-AD55-4FC0-A229-F1B295606742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4BE1FAAA-6F6F-4D28-A4E3-E47532F20FF8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BD19E2C-C0B6-46BC-A9A3-38C3644992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844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2608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Pictur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F8F4CD7-C19E-4BE9-9767-DBDB6073F4F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104D776-5902-4241-AB7D-91C75C6904F9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824F4A33-6BDB-4E6D-BF78-6687C033CEC0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2EF6002E-B749-4141-A0C7-7613296C8B01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2BE00F-EA87-4573-B0B1-056A78D7BC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844000"/>
            <a:ext cx="4122737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38103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two Pictures I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9F484220-BB4A-4B3C-93FB-4F87435A1FB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F9D652B-6629-4C62-9442-04ECA0BE95A5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F00E673A-B66C-48A0-B356-7A83243FBF2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9A2A519E-DACD-4122-A760-9F374B8B98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F26A5605-7DA8-49BC-93D0-FE57A110D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4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2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23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four Pictures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5B274DCC-0F14-4867-ADEB-F7738D13C862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3865197-382F-47E2-853A-CB850DF71CF0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7E71EFED-7D75-44F8-B256-215C26BCAE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8" name="Gerade Verbindung 7">
              <a:extLst>
                <a:ext uri="{FF2B5EF4-FFF2-40B4-BE49-F238E27FC236}">
                  <a16:creationId xmlns:a16="http://schemas.microsoft.com/office/drawing/2014/main" id="{579EE350-38FC-42EC-AEE0-5B48EBF63D31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37599789-2673-40F8-8C0B-D36580AB9B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568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two Pictures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C31A0983-F2CB-4E35-A255-D2870F296B98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1C22901-48DF-4352-A02E-EC0165A82424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2D533022-5D00-4D79-837E-F07A93F2E880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61B05584-8BF7-4A44-9CFD-2DD03BC230F6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87934BD3-FB56-43F0-92F0-58370BE21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843999"/>
            <a:ext cx="4122737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6824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Key Messag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03B3FAF-30A7-4AD0-9601-E818DC84BD7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E0AE35-0F63-4735-BF52-E446F4531140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CF4EE2F8-A69F-4561-B9C5-6EACBE507AC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65A238EF-BFD2-470F-B4F4-FBD601D15326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6F3264B-7416-4B3D-90DD-4AFEB41FDA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104168"/>
            <a:ext cx="8424000" cy="5398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864001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6495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OnePage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BBEBD73-2CD8-46CA-9CCA-F2A58106727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2D70085-D491-4B7E-82E2-6A377FF3F9E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D9DBB93-3AFB-4553-916B-2A17CC72F7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78246845-3A96-4A03-9FB8-0BDD36E09A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C241905-1CD8-4733-9B38-2B12EF1D9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4122737" cy="9887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143957"/>
            <a:ext cx="4122000" cy="45000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3B23CF99-FA45-4D2B-9C4A-45F0852BC6AC}"/>
              </a:ext>
            </a:extLst>
          </p:cNvPr>
          <p:cNvSpPr/>
          <p:nvPr userDrawn="1"/>
        </p:nvSpPr>
        <p:spPr>
          <a:xfrm>
            <a:off x="366150" y="1584945"/>
            <a:ext cx="4122737" cy="3059056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1BC1947-F90E-4108-BDBE-CB4CEDB4EE14}"/>
              </a:ext>
            </a:extLst>
          </p:cNvPr>
          <p:cNvGrpSpPr/>
          <p:nvPr userDrawn="1"/>
        </p:nvGrpSpPr>
        <p:grpSpPr>
          <a:xfrm>
            <a:off x="360005" y="1334741"/>
            <a:ext cx="4122737" cy="309862"/>
            <a:chOff x="360004" y="1268893"/>
            <a:chExt cx="4122737" cy="309958"/>
          </a:xfrm>
        </p:grpSpPr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AC4EEC6B-33B4-4AFA-AB2D-9019D9F42416}"/>
                </a:ext>
              </a:extLst>
            </p:cNvPr>
            <p:cNvSpPr txBox="1"/>
            <p:nvPr userDrawn="1"/>
          </p:nvSpPr>
          <p:spPr>
            <a:xfrm>
              <a:off x="360004" y="1268893"/>
              <a:ext cx="985039" cy="309958"/>
            </a:xfrm>
            <a:prstGeom prst="rect">
              <a:avLst/>
            </a:prstGeom>
            <a:noFill/>
          </p:spPr>
          <p:txBody>
            <a:bodyPr wrap="square" lIns="0" tIns="46800" rIns="90000" bIns="46800" rtlCol="0">
              <a:spAutoFit/>
            </a:bodyPr>
            <a:lstStyle/>
            <a:p>
              <a:pPr marL="0" marR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2"/>
                </a:buClr>
                <a:buSzTx/>
                <a:buFont typeface="Tahoma" panose="020B0604030504040204" pitchFamily="34" charset="0"/>
                <a:buNone/>
                <a:tabLst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KEY FACTS</a:t>
              </a:r>
            </a:p>
          </p:txBody>
        </p:sp>
        <p:cxnSp>
          <p:nvCxnSpPr>
            <p:cNvPr id="18" name="Straight Connector 8">
              <a:extLst>
                <a:ext uri="{FF2B5EF4-FFF2-40B4-BE49-F238E27FC236}">
                  <a16:creationId xmlns:a16="http://schemas.microsoft.com/office/drawing/2014/main" id="{EEC636F3-CF5B-4F9E-A7A2-6CE23B22CE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0741" y="1505965"/>
              <a:ext cx="3132000" cy="0"/>
            </a:xfrm>
            <a:prstGeom prst="line">
              <a:avLst/>
            </a:prstGeom>
            <a:noFill/>
            <a:ln w="6350" cap="rnd" cmpd="sng" algn="ctr">
              <a:solidFill>
                <a:srgbClr val="00ABE7"/>
              </a:solidFill>
              <a:prstDash val="solid"/>
              <a:round/>
            </a:ln>
            <a:effectLst/>
          </p:spPr>
        </p:cxnSp>
      </p:grpSp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E34BF2C1-6858-4258-9D7A-6932A422D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5" y="185362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6B0EAC18-56A4-4F9D-B791-1276F33D4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5" y="2243620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F2E5AA21-A336-4144-AC1B-55B16A0EDF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5" y="2804160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D680C08A-C4D9-4C2D-BBA2-205BA49B9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5" y="3194153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D25774EB-F94F-4196-AA22-F826674E86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5" y="377515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38C27363-3949-4BEF-A58D-7A9F9BB72F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5" y="4144687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9744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864002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90653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90653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4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98308"/>
            <a:ext cx="900000" cy="9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algn="r" fontAlgn="base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600">
                <a:solidFill>
                  <a:srgbClr val="000000"/>
                </a:solidFill>
              </a:rPr>
              <a:t>© ZF Friedrichshafen AG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360002" y="4722301"/>
            <a:ext cx="8424000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CC0EC9A7-0F78-4BCD-A456-48B3D296E354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1" y="4800652"/>
            <a:ext cx="288000" cy="287911"/>
          </a:xfrm>
          <a:prstGeom prst="rect">
            <a:avLst/>
          </a:prstGeom>
        </p:spPr>
      </p:pic>
      <p:sp>
        <p:nvSpPr>
          <p:cNvPr id="4" name="MSIPCMContentMarking" descr="{&quot;HashCode&quot;:-1285620964,&quot;Placement&quot;:&quot;Header&quot;,&quot;Top&quot;:0.0,&quot;Left&quot;:666.5907,&quot;SlideWidth&quot;:720,&quot;SlideHeight&quot;:405}">
            <a:extLst>
              <a:ext uri="{FF2B5EF4-FFF2-40B4-BE49-F238E27FC236}">
                <a16:creationId xmlns:a16="http://schemas.microsoft.com/office/drawing/2014/main" id="{8CCD6FC8-8A61-0B28-FD49-8CE895DE8D68}"/>
              </a:ext>
            </a:extLst>
          </p:cNvPr>
          <p:cNvSpPr txBox="1"/>
          <p:nvPr userDrawn="1"/>
        </p:nvSpPr>
        <p:spPr>
          <a:xfrm>
            <a:off x="8465702" y="0"/>
            <a:ext cx="67829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</a:rPr>
              <a:t>Internal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7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54" r:id="rId11"/>
    <p:sldLayoutId id="2147483655" r:id="rId12"/>
    <p:sldLayoutId id="2147483693" r:id="rId13"/>
    <p:sldLayoutId id="2147483694" r:id="rId14"/>
    <p:sldLayoutId id="2147483695" r:id="rId15"/>
    <p:sldLayoutId id="2147483696" r:id="rId16"/>
    <p:sldLayoutId id="2147483698" r:id="rId17"/>
    <p:sldLayoutId id="2147483699" r:id="rId18"/>
    <p:sldLayoutId id="2147483700" r:id="rId19"/>
    <p:sldLayoutId id="2147483710" r:id="rId20"/>
    <p:sldLayoutId id="2147483684" r:id="rId21"/>
    <p:sldLayoutId id="2147483685" r:id="rId22"/>
    <p:sldLayoutId id="2147483688" r:id="rId23"/>
    <p:sldLayoutId id="2147483689" r:id="rId24"/>
    <p:sldLayoutId id="214748369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8" r:id="rId32"/>
    <p:sldLayoutId id="2147483709" r:id="rId3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0E24-DF24-4F4A-F5C3-4AA599D0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B229-129A-3630-7CDD-0BB509DA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Customer SOR- HDC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985ED-2932-EB3B-FCCB-B2F71C44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0233A-7631-0492-F46F-55A952A9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DD37D-67DF-BC19-0466-9BF075FBB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6" y="750512"/>
            <a:ext cx="6706181" cy="47248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9E3017-9FF7-620E-1793-EAE03AADD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595282"/>
              </p:ext>
            </p:extLst>
          </p:nvPr>
        </p:nvGraphicFramePr>
        <p:xfrm>
          <a:off x="545026" y="1329335"/>
          <a:ext cx="6727971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5638">
                  <a:extLst>
                    <a:ext uri="{9D8B030D-6E8A-4147-A177-3AD203B41FA5}">
                      <a16:colId xmlns:a16="http://schemas.microsoft.com/office/drawing/2014/main" val="1051643138"/>
                    </a:ext>
                  </a:extLst>
                </a:gridCol>
                <a:gridCol w="5472333">
                  <a:extLst>
                    <a:ext uri="{9D8B030D-6E8A-4147-A177-3AD203B41FA5}">
                      <a16:colId xmlns:a16="http://schemas.microsoft.com/office/drawing/2014/main" val="1744129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Coordinated HDC</a:t>
                      </a:r>
                      <a:endParaRPr lang="zh-CN" altLang="en-US" sz="11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By coordinating the energy recovery force and the braking system, the vehicle automatically controls downhill speed, improving energy recovery efficiency and driving safety while reducing driving difficulty.</a:t>
                      </a:r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5218040"/>
                  </a:ext>
                </a:extLst>
              </a:tr>
            </a:tbl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18935442-3827-CA6F-F458-1EBA95BEA1C6}"/>
              </a:ext>
            </a:extLst>
          </p:cNvPr>
          <p:cNvGrpSpPr/>
          <p:nvPr/>
        </p:nvGrpSpPr>
        <p:grpSpPr>
          <a:xfrm>
            <a:off x="1449882" y="2432569"/>
            <a:ext cx="5220000" cy="1549249"/>
            <a:chOff x="1449883" y="2432570"/>
            <a:chExt cx="5020290" cy="1322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A99CB1-E44A-C070-7C33-33E3F9AEC3EB}"/>
                </a:ext>
              </a:extLst>
            </p:cNvPr>
            <p:cNvSpPr/>
            <p:nvPr/>
          </p:nvSpPr>
          <p:spPr>
            <a:xfrm>
              <a:off x="2309173" y="2439604"/>
              <a:ext cx="1575582" cy="1303582"/>
            </a:xfrm>
            <a:prstGeom prst="rect">
              <a:avLst/>
            </a:prstGeom>
            <a:gradFill flip="none" rotWithShape="1">
              <a:gsLst>
                <a:gs pos="0">
                  <a:srgbClr val="7FD5F3">
                    <a:tint val="66000"/>
                    <a:satMod val="160000"/>
                  </a:srgbClr>
                </a:gs>
                <a:gs pos="50000">
                  <a:srgbClr val="7FD5F3">
                    <a:tint val="44500"/>
                    <a:satMod val="160000"/>
                  </a:srgbClr>
                </a:gs>
                <a:gs pos="100000">
                  <a:srgbClr val="7FD5F3">
                    <a:tint val="23500"/>
                    <a:satMod val="160000"/>
                  </a:srgbClr>
                </a:gs>
              </a:gsLst>
              <a:lin ang="8100000" scaled="1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rPr>
                <a:t>VMC</a:t>
              </a: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0043B-A8FC-BEAB-DC95-A9D0556C8027}"/>
                </a:ext>
              </a:extLst>
            </p:cNvPr>
            <p:cNvSpPr/>
            <p:nvPr/>
          </p:nvSpPr>
          <p:spPr>
            <a:xfrm>
              <a:off x="4396153" y="2439603"/>
              <a:ext cx="1604054" cy="59435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rPr>
                <a:t>Braking</a:t>
              </a: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E90113-A318-8DF6-B8B2-7CB14F33D561}"/>
                </a:ext>
              </a:extLst>
            </p:cNvPr>
            <p:cNvSpPr/>
            <p:nvPr/>
          </p:nvSpPr>
          <p:spPr>
            <a:xfrm>
              <a:off x="4396154" y="3161119"/>
              <a:ext cx="565106" cy="594359"/>
            </a:xfrm>
            <a:prstGeom prst="rect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rPr>
                <a:t>VCU</a:t>
              </a: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pic>
          <p:nvPicPr>
            <p:cNvPr id="13" name="Grafik 5" descr="Ein Bild, das Kreis, Grafiken, Symbol, Clipart enthält.&#10;&#10;Automatisch generierte Beschreibung">
              <a:extLst>
                <a:ext uri="{FF2B5EF4-FFF2-40B4-BE49-F238E27FC236}">
                  <a16:creationId xmlns:a16="http://schemas.microsoft.com/office/drawing/2014/main" id="{F9DD75EE-71F4-D46C-77F2-014A3ACB5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0060" y="2589029"/>
              <a:ext cx="364237" cy="36423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D49226-3066-8CDF-1F13-AA016E1373B0}"/>
                </a:ext>
              </a:extLst>
            </p:cNvPr>
            <p:cNvSpPr/>
            <p:nvPr/>
          </p:nvSpPr>
          <p:spPr>
            <a:xfrm>
              <a:off x="1449883" y="2439603"/>
              <a:ext cx="393895" cy="130358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404366-D270-E649-D400-8BB5662E2F39}"/>
                </a:ext>
              </a:extLst>
            </p:cNvPr>
            <p:cNvSpPr txBox="1"/>
            <p:nvPr/>
          </p:nvSpPr>
          <p:spPr>
            <a:xfrm rot="10800000">
              <a:off x="1549382" y="2708615"/>
              <a:ext cx="184666" cy="700513"/>
            </a:xfrm>
            <a:prstGeom prst="rect">
              <a:avLst/>
            </a:prstGeom>
            <a:noFill/>
          </p:spPr>
          <p:txBody>
            <a:bodyPr vert="eaVert"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HMI(HDC)</a:t>
              </a: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A089BE-767C-346B-41F8-6DE59CA9D8B8}"/>
                </a:ext>
              </a:extLst>
            </p:cNvPr>
            <p:cNvCxnSpPr>
              <a:cxnSpLocks/>
            </p:cNvCxnSpPr>
            <p:nvPr/>
          </p:nvCxnSpPr>
          <p:spPr>
            <a:xfrm>
              <a:off x="1843778" y="2918607"/>
              <a:ext cx="4653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08F8812-0CCB-4E76-DEF0-A77D5557031D}"/>
                </a:ext>
              </a:extLst>
            </p:cNvPr>
            <p:cNvCxnSpPr>
              <a:cxnSpLocks/>
            </p:cNvCxnSpPr>
            <p:nvPr/>
          </p:nvCxnSpPr>
          <p:spPr>
            <a:xfrm>
              <a:off x="3874116" y="2579485"/>
              <a:ext cx="5220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78850E6-238C-1B1F-4E44-69428B9787E6}"/>
                </a:ext>
              </a:extLst>
            </p:cNvPr>
            <p:cNvCxnSpPr>
              <a:cxnSpLocks/>
            </p:cNvCxnSpPr>
            <p:nvPr/>
          </p:nvCxnSpPr>
          <p:spPr>
            <a:xfrm>
              <a:off x="3874116" y="3329159"/>
              <a:ext cx="5220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D836195-478B-6643-56E7-B810671ECF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80" y="2943722"/>
              <a:ext cx="5345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7650CAF-2E3C-EC81-7FE3-546632A5D6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80" y="3661175"/>
              <a:ext cx="5345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5AF3FE5-A41E-3973-C6CB-9BECD494D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778" y="3329159"/>
              <a:ext cx="452772" cy="19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D2038DF-64FB-F484-82A0-4432C52758A4}"/>
                </a:ext>
              </a:extLst>
            </p:cNvPr>
            <p:cNvSpPr txBox="1"/>
            <p:nvPr/>
          </p:nvSpPr>
          <p:spPr>
            <a:xfrm>
              <a:off x="3898315" y="3169879"/>
              <a:ext cx="445635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command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AF32BE0-652A-2DC6-5FF7-74A7B5E02857}"/>
                </a:ext>
              </a:extLst>
            </p:cNvPr>
            <p:cNvSpPr txBox="1"/>
            <p:nvPr/>
          </p:nvSpPr>
          <p:spPr>
            <a:xfrm>
              <a:off x="1989747" y="3184207"/>
              <a:ext cx="22281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state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3EDB48-8A01-F579-1C16-E811983A5481}"/>
                </a:ext>
              </a:extLst>
            </p:cNvPr>
            <p:cNvSpPr txBox="1"/>
            <p:nvPr/>
          </p:nvSpPr>
          <p:spPr>
            <a:xfrm>
              <a:off x="3981363" y="3523661"/>
              <a:ext cx="22281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state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F98D563-EEA2-B767-73AD-D4C5DA938D9F}"/>
                </a:ext>
              </a:extLst>
            </p:cNvPr>
            <p:cNvSpPr txBox="1"/>
            <p:nvPr/>
          </p:nvSpPr>
          <p:spPr>
            <a:xfrm>
              <a:off x="3981363" y="2813127"/>
              <a:ext cx="22281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state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729612-F879-427D-8578-81F31F2EB9C8}"/>
                </a:ext>
              </a:extLst>
            </p:cNvPr>
            <p:cNvSpPr txBox="1"/>
            <p:nvPr/>
          </p:nvSpPr>
          <p:spPr>
            <a:xfrm>
              <a:off x="1859655" y="2784575"/>
              <a:ext cx="445635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command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56F940-F374-A35D-1141-4C956D65B64B}"/>
                </a:ext>
              </a:extLst>
            </p:cNvPr>
            <p:cNvSpPr txBox="1"/>
            <p:nvPr/>
          </p:nvSpPr>
          <p:spPr>
            <a:xfrm>
              <a:off x="3898315" y="2432570"/>
              <a:ext cx="445635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command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A9687C1-BDC8-1135-2A3A-0BD5914BC0E6}"/>
                </a:ext>
              </a:extLst>
            </p:cNvPr>
            <p:cNvSpPr/>
            <p:nvPr/>
          </p:nvSpPr>
          <p:spPr>
            <a:xfrm>
              <a:off x="5114718" y="3154165"/>
              <a:ext cx="885489" cy="594359"/>
            </a:xfrm>
            <a:prstGeom prst="rect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rPr>
                <a:t>Inverter</a:t>
              </a: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pic>
          <p:nvPicPr>
            <p:cNvPr id="14" name="Grafik 129">
              <a:extLst>
                <a:ext uri="{FF2B5EF4-FFF2-40B4-BE49-F238E27FC236}">
                  <a16:creationId xmlns:a16="http://schemas.microsoft.com/office/drawing/2014/main" id="{9E1D82B6-7420-F8FF-B84A-EDA71C2A5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6010060" y="3304783"/>
              <a:ext cx="460113" cy="245922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77D8FDF-DA4F-43A1-3529-B8DF886A6D24}"/>
                </a:ext>
              </a:extLst>
            </p:cNvPr>
            <p:cNvCxnSpPr>
              <a:cxnSpLocks/>
            </p:cNvCxnSpPr>
            <p:nvPr/>
          </p:nvCxnSpPr>
          <p:spPr>
            <a:xfrm>
              <a:off x="4961260" y="3329159"/>
              <a:ext cx="1758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91476AD-9791-D448-EA02-3A7E9991CB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8873" y="3661175"/>
              <a:ext cx="1758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855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60F4-C577-7544-BCBF-D56457CB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16DE-055C-D04D-558D-66F51322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HDC function interface proposal in VMC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47D97-2682-8802-947A-254AF52E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A4AE6-2FDD-7B53-D99A-F0C8E25A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2</a:t>
            </a:fld>
            <a:endParaRPr lang="de-DE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3D00C4C2-E323-5478-9D6F-C279B93A0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53862"/>
              </p:ext>
            </p:extLst>
          </p:nvPr>
        </p:nvGraphicFramePr>
        <p:xfrm>
          <a:off x="217321" y="1122807"/>
          <a:ext cx="8386680" cy="28978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8768">
                  <a:extLst>
                    <a:ext uri="{9D8B030D-6E8A-4147-A177-3AD203B41FA5}">
                      <a16:colId xmlns:a16="http://schemas.microsoft.com/office/drawing/2014/main" val="2094438034"/>
                    </a:ext>
                  </a:extLst>
                </a:gridCol>
                <a:gridCol w="3119755">
                  <a:extLst>
                    <a:ext uri="{9D8B030D-6E8A-4147-A177-3AD203B41FA5}">
                      <a16:colId xmlns:a16="http://schemas.microsoft.com/office/drawing/2014/main" val="3122351666"/>
                    </a:ext>
                  </a:extLst>
                </a:gridCol>
                <a:gridCol w="4968157">
                  <a:extLst>
                    <a:ext uri="{9D8B030D-6E8A-4147-A177-3AD203B41FA5}">
                      <a16:colId xmlns:a16="http://schemas.microsoft.com/office/drawing/2014/main" val="3934683254"/>
                    </a:ext>
                  </a:extLst>
                </a:gridCol>
              </a:tblGrid>
              <a:tr h="318405">
                <a:tc>
                  <a:txBody>
                    <a:bodyPr/>
                    <a:lstStyle/>
                    <a:p>
                      <a:pPr algn="l"/>
                      <a:endParaRPr lang="zh-CN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Torque interface solution with external ECU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Consideration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100729"/>
                  </a:ext>
                </a:extLst>
              </a:tr>
              <a:tr h="588700">
                <a:tc>
                  <a:txBody>
                    <a:bodyPr/>
                    <a:lstStyle/>
                    <a:p>
                      <a:pPr algn="l" fontAlgn="base">
                        <a:spcAft>
                          <a:spcPct val="0"/>
                        </a:spcAft>
                      </a:pPr>
                      <a:r>
                        <a:rPr lang="en-US" altLang="zh-CN" sz="1000" kern="0"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  <a:endParaRPr lang="zh-CN" altLang="en-US" sz="1000" kern="0"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trike="sngStrike" kern="0">
                          <a:latin typeface="+mn-ea"/>
                          <a:ea typeface="+mn-ea"/>
                          <a:cs typeface="Tahoma" pitchFamily="34" charset="0"/>
                        </a:rPr>
                        <a:t>1×total brake torque</a:t>
                      </a:r>
                    </a:p>
                    <a:p>
                      <a:pPr marL="0" marR="0" lvl="0" indent="0" algn="l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trike="noStrike" kern="0">
                          <a:latin typeface="+mn-ea"/>
                          <a:ea typeface="+mn-ea"/>
                          <a:cs typeface="Tahoma"/>
                        </a:rPr>
                        <a:t>4×total brake torque /slip limit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0">
                          <a:latin typeface="+mn-ea"/>
                          <a:ea typeface="+mn-ea"/>
                          <a:cs typeface="Tahoma"/>
                        </a:rPr>
                        <a:t>2× regen torque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trike="sngStrike" kern="0">
                          <a:latin typeface="+mn-ea"/>
                          <a:ea typeface="+mn-ea"/>
                          <a:cs typeface="Tahoma"/>
                        </a:rPr>
                        <a:t>1× AWD distribution factor</a:t>
                      </a:r>
                      <a:endParaRPr lang="zh-CN" altLang="en-US" sz="1000" strike="sngStrike" kern="0">
                        <a:latin typeface="+mn-ea"/>
                        <a:ea typeface="+mn-ea"/>
                        <a:cs typeface="Tahom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strike="sngStrike">
                          <a:latin typeface="+mn-ea"/>
                          <a:ea typeface="+mn-ea"/>
                        </a:rPr>
                        <a:t>1. Braking will consider the brake torque distribution between 4 wheels</a:t>
                      </a:r>
                    </a:p>
                    <a:p>
                      <a:pPr algn="l"/>
                      <a:r>
                        <a:rPr lang="en-US" altLang="zh-CN" sz="1000" strike="sngStrike">
                          <a:latin typeface="+mn-ea"/>
                          <a:ea typeface="+mn-ea"/>
                        </a:rPr>
                        <a:t>2. VCU will consider the regen torque distribution between e-motors</a:t>
                      </a:r>
                    </a:p>
                    <a:p>
                      <a:pPr algn="l"/>
                      <a:r>
                        <a:rPr lang="en-US" altLang="zh-CN" sz="1000">
                          <a:latin typeface="+mn-ea"/>
                          <a:ea typeface="+mn-ea"/>
                        </a:rPr>
                        <a:t>3. Regen torque will ramp out when ABS active </a:t>
                      </a:r>
                    </a:p>
                    <a:p>
                      <a:pPr algn="l"/>
                      <a:r>
                        <a:rPr lang="en-US" altLang="zh-CN" sz="1000">
                          <a:latin typeface="+mn-ea"/>
                          <a:ea typeface="+mn-ea"/>
                        </a:rPr>
                        <a:t>4. How to ensure the acceleration consistence when handling the ABS on/off in </a:t>
                      </a:r>
                      <a:r>
                        <a:rPr lang="en-US" altLang="zh-CN" sz="1000" err="1">
                          <a:latin typeface="+mn-ea"/>
                          <a:ea typeface="+mn-ea"/>
                        </a:rPr>
                        <a:t>vmc</a:t>
                      </a:r>
                      <a:r>
                        <a:rPr lang="en-US" altLang="zh-CN" sz="1000">
                          <a:latin typeface="+mn-ea"/>
                          <a:ea typeface="+mn-ea"/>
                        </a:rPr>
                        <a:t>? </a:t>
                      </a:r>
                      <a:endParaRPr lang="zh-CN" altLang="en-US" sz="100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92234"/>
                  </a:ext>
                </a:extLst>
              </a:tr>
              <a:tr h="5887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ct val="0"/>
                        </a:spcAft>
                      </a:pPr>
                      <a:r>
                        <a:rPr lang="en-US" altLang="zh-CN" sz="1000" ker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4× wheel brake torque (4x wheel pressure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1× regen torque</a:t>
                      </a:r>
                      <a:endParaRPr lang="zh-CN" altLang="en-US" sz="1000" ker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Prefer to the wheel pressure other than wheel torque to avoid the valve on/off.</a:t>
                      </a: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Should VMC consider the load transfer when distribution the braking torque, which will lead to the actuator on/off action?</a:t>
                      </a:r>
                    </a:p>
                    <a:p>
                      <a:pPr marL="228600" indent="-228600" algn="l">
                        <a:buAutoNum type="arabicPeriod"/>
                      </a:pP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984713"/>
                  </a:ext>
                </a:extLst>
              </a:tr>
              <a:tr h="5887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ct val="0"/>
                        </a:spcAft>
                      </a:pPr>
                      <a:r>
                        <a:rPr lang="en-US" altLang="zh-CN" sz="1000" ker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4× wheel brake torque (4x wheel pressure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2× axle regen torque</a:t>
                      </a:r>
                      <a:endParaRPr lang="zh-CN" altLang="en-US" sz="1000" ker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1. Axle regen torque could be calculated by VMC considering load transfer</a:t>
                      </a: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904428"/>
                  </a:ext>
                </a:extLst>
              </a:tr>
              <a:tr h="5887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1× deceleration (vehicle level)</a:t>
                      </a:r>
                      <a:endParaRPr lang="zh-CN" altLang="en-US" sz="1000" kern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Braking will distribute the regen torque and hydraulic torque</a:t>
                      </a: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altLang="zh-CN" sz="10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Braking will consider all situations such as: load transfer/ABS intervention</a:t>
                      </a:r>
                    </a:p>
                    <a:p>
                      <a:pPr marL="228600" indent="-228600" algn="l">
                        <a:buAutoNum type="arabicPeriod"/>
                      </a:pPr>
                      <a:endParaRPr lang="zh-CN" altLang="en-US" sz="100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5263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C3770E-2922-558D-79EF-A6D1706A1B3F}"/>
              </a:ext>
            </a:extLst>
          </p:cNvPr>
          <p:cNvSpPr txBox="1"/>
          <p:nvPr/>
        </p:nvSpPr>
        <p:spPr>
          <a:xfrm>
            <a:off x="3018692" y="1667440"/>
            <a:ext cx="18915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kern="0">
                <a:solidFill>
                  <a:srgbClr val="00B050"/>
                </a:solidFill>
              </a:rPr>
              <a:t>√</a:t>
            </a:r>
            <a:endParaRPr kumimoji="0" lang="zh-CN" altLang="en-US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8739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2A6F-F1CE-63F5-4393-EC5FB767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8C9-BEB9-F307-F6DE-AFDA11A7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HDC system architecture design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B312A-39B5-E878-3EA6-049F2138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23B45-3081-F74B-AE42-D7E62D08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3</a:t>
            </a:fld>
            <a:endParaRPr lang="de-D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9847A4-840D-045D-F2E4-D70B514B52F1}"/>
              </a:ext>
            </a:extLst>
          </p:cNvPr>
          <p:cNvSpPr txBox="1"/>
          <p:nvPr/>
        </p:nvSpPr>
        <p:spPr>
          <a:xfrm>
            <a:off x="58083" y="479143"/>
            <a:ext cx="2529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Main control flow for HDC in braking: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82021A-15EE-4698-CDC8-5227C49E1DA0}"/>
              </a:ext>
            </a:extLst>
          </p:cNvPr>
          <p:cNvSpPr>
            <a:spLocks/>
          </p:cNvSpPr>
          <p:nvPr/>
        </p:nvSpPr>
        <p:spPr>
          <a:xfrm>
            <a:off x="1426324" y="833020"/>
            <a:ext cx="1349310" cy="3944719"/>
          </a:xfrm>
          <a:prstGeom prst="rect">
            <a:avLst/>
          </a:prstGeom>
          <a:gradFill flip="none" rotWithShape="1">
            <a:gsLst>
              <a:gs pos="0">
                <a:srgbClr val="7FD5F3">
                  <a:tint val="66000"/>
                  <a:satMod val="160000"/>
                </a:srgbClr>
              </a:gs>
              <a:gs pos="50000">
                <a:srgbClr val="7FD5F3">
                  <a:tint val="44500"/>
                  <a:satMod val="160000"/>
                </a:srgbClr>
              </a:gs>
              <a:gs pos="100000">
                <a:srgbClr val="7FD5F3">
                  <a:tint val="23500"/>
                  <a:satMod val="160000"/>
                </a:srgbClr>
              </a:gs>
            </a:gsLst>
            <a:lin ang="8100000" scaled="1"/>
            <a:tileRect/>
          </a:gra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>
                <a:solidFill>
                  <a:srgbClr val="000000"/>
                </a:solidFill>
                <a:latin typeface="Tahoma"/>
                <a:cs typeface="Tahoma" pitchFamily="34" charset="0"/>
              </a:rPr>
              <a:t>Zone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endParaRPr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  <a:p>
            <a:pPr algn="ctr">
              <a:spcAft>
                <a:spcPct val="0"/>
              </a:spcAft>
            </a:pPr>
            <a:endParaRPr lang="en-US" altLang="zh-CN" sz="1200" kern="0">
              <a:solidFill>
                <a:srgbClr val="000000"/>
              </a:solidFill>
              <a:latin typeface="Tahoma"/>
              <a:ea typeface="Tahoma"/>
              <a:cs typeface="Tahom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587E2D-E65A-1A29-2A42-FA87189ADC7D}"/>
              </a:ext>
            </a:extLst>
          </p:cNvPr>
          <p:cNvSpPr>
            <a:spLocks/>
          </p:cNvSpPr>
          <p:nvPr/>
        </p:nvSpPr>
        <p:spPr>
          <a:xfrm>
            <a:off x="4297681" y="835056"/>
            <a:ext cx="3305700" cy="1526616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Braking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8D9D66-4641-53DC-78EA-7001544CFF4B}"/>
              </a:ext>
            </a:extLst>
          </p:cNvPr>
          <p:cNvSpPr>
            <a:spLocks/>
          </p:cNvSpPr>
          <p:nvPr/>
        </p:nvSpPr>
        <p:spPr>
          <a:xfrm>
            <a:off x="4297681" y="2647691"/>
            <a:ext cx="3275671" cy="1682850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8900000" scaled="1"/>
            <a:tileRect/>
          </a:gra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VCU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pic>
        <p:nvPicPr>
          <p:cNvPr id="18" name="Grafik 5" descr="Ein Bild, das Kreis, Grafiken, Symbol, Clipart enthält.&#10;&#10;Automatisch generierte Beschreibung">
            <a:extLst>
              <a:ext uri="{FF2B5EF4-FFF2-40B4-BE49-F238E27FC236}">
                <a16:creationId xmlns:a16="http://schemas.microsoft.com/office/drawing/2014/main" id="{AB1D7A11-2266-E636-6AA7-801C91D8C1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920" y="1551449"/>
            <a:ext cx="430322" cy="42655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F65247E-3267-E165-4CE7-FE5E52927690}"/>
              </a:ext>
            </a:extLst>
          </p:cNvPr>
          <p:cNvSpPr>
            <a:spLocks/>
          </p:cNvSpPr>
          <p:nvPr/>
        </p:nvSpPr>
        <p:spPr>
          <a:xfrm>
            <a:off x="7777150" y="2646059"/>
            <a:ext cx="920714" cy="696050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8900000" scaled="1"/>
            <a:tileRect/>
          </a:gra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Inverter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pic>
        <p:nvPicPr>
          <p:cNvPr id="48" name="Grafik 129">
            <a:extLst>
              <a:ext uri="{FF2B5EF4-FFF2-40B4-BE49-F238E27FC236}">
                <a16:creationId xmlns:a16="http://schemas.microsoft.com/office/drawing/2014/main" id="{904B04C1-1772-5B3C-B1F8-235CBD07A7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708109" y="2822447"/>
            <a:ext cx="478417" cy="287998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0B2FB39-FBDF-2C37-8CD1-1F3608463369}"/>
              </a:ext>
            </a:extLst>
          </p:cNvPr>
          <p:cNvCxnSpPr>
            <a:cxnSpLocks/>
          </p:cNvCxnSpPr>
          <p:nvPr/>
        </p:nvCxnSpPr>
        <p:spPr>
          <a:xfrm>
            <a:off x="7617588" y="2850994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DA9F767-9401-2F55-716A-071A0B418ADB}"/>
              </a:ext>
            </a:extLst>
          </p:cNvPr>
          <p:cNvCxnSpPr>
            <a:cxnSpLocks/>
          </p:cNvCxnSpPr>
          <p:nvPr/>
        </p:nvCxnSpPr>
        <p:spPr>
          <a:xfrm flipH="1">
            <a:off x="7594310" y="3239815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11E6FFB-3A51-EC6B-2014-8DA590B43A13}"/>
              </a:ext>
            </a:extLst>
          </p:cNvPr>
          <p:cNvSpPr/>
          <p:nvPr/>
        </p:nvSpPr>
        <p:spPr>
          <a:xfrm>
            <a:off x="1941660" y="1223921"/>
            <a:ext cx="811323" cy="912935"/>
          </a:xfrm>
          <a:prstGeom prst="rect">
            <a:avLst/>
          </a:prstGeom>
          <a:solidFill>
            <a:srgbClr val="7FD5F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HDC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BF329A-16BB-D137-985F-EF020FE0BC3A}"/>
              </a:ext>
            </a:extLst>
          </p:cNvPr>
          <p:cNvSpPr/>
          <p:nvPr/>
        </p:nvSpPr>
        <p:spPr>
          <a:xfrm>
            <a:off x="5422193" y="3178119"/>
            <a:ext cx="747315" cy="866403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Torque Coordination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682AD0-63EA-121D-A641-3C05593EC13A}"/>
              </a:ext>
            </a:extLst>
          </p:cNvPr>
          <p:cNvSpPr/>
          <p:nvPr/>
        </p:nvSpPr>
        <p:spPr>
          <a:xfrm>
            <a:off x="4578171" y="3713932"/>
            <a:ext cx="661182" cy="330590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Drive torque request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99D4A2B-96DD-B97E-038D-8B0E934A4B9D}"/>
              </a:ext>
            </a:extLst>
          </p:cNvPr>
          <p:cNvSpPr/>
          <p:nvPr/>
        </p:nvSpPr>
        <p:spPr>
          <a:xfrm>
            <a:off x="6309967" y="3635379"/>
            <a:ext cx="1041009" cy="409143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Torque Stability Intervention rear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74AF08-46DA-43AA-F39A-EF9F9A341384}"/>
              </a:ext>
            </a:extLst>
          </p:cNvPr>
          <p:cNvSpPr/>
          <p:nvPr/>
        </p:nvSpPr>
        <p:spPr>
          <a:xfrm>
            <a:off x="6309968" y="1723291"/>
            <a:ext cx="788654" cy="520191"/>
          </a:xfrm>
          <a:prstGeom prst="rect">
            <a:avLst/>
          </a:prstGeom>
          <a:solidFill>
            <a:srgbClr val="FFCE3C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（</a:t>
            </a: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EDTR</a:t>
            </a: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）</a:t>
            </a: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Engine Drag Torque Regulation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620F92-613F-5A97-3473-1799C9FEB195}"/>
              </a:ext>
            </a:extLst>
          </p:cNvPr>
          <p:cNvSpPr/>
          <p:nvPr/>
        </p:nvSpPr>
        <p:spPr>
          <a:xfrm>
            <a:off x="5440504" y="1200188"/>
            <a:ext cx="747315" cy="1043295"/>
          </a:xfrm>
          <a:prstGeom prst="rect">
            <a:avLst/>
          </a:prstGeom>
          <a:solidFill>
            <a:srgbClr val="FFCE3C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700" kern="0">
                <a:solidFill>
                  <a:srgbClr val="000000"/>
                </a:solidFill>
                <a:latin typeface="Tahoma"/>
                <a:cs typeface="Tahoma" pitchFamily="34" charset="0"/>
              </a:rPr>
              <a:t>Torque arbitration</a:t>
            </a:r>
            <a:endParaRPr lang="zh-CN" altLang="en-US" sz="700" kern="0" err="1">
              <a:solidFill>
                <a:srgbClr val="000000"/>
              </a:solidFill>
              <a:latin typeface="Tahoma"/>
              <a:cs typeface="Tahoma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919CF1-395C-3394-FDD5-D334B15917FB}"/>
              </a:ext>
            </a:extLst>
          </p:cNvPr>
          <p:cNvSpPr/>
          <p:nvPr/>
        </p:nvSpPr>
        <p:spPr>
          <a:xfrm>
            <a:off x="6309968" y="1169845"/>
            <a:ext cx="788654" cy="520191"/>
          </a:xfrm>
          <a:prstGeom prst="rect">
            <a:avLst/>
          </a:prstGeom>
          <a:solidFill>
            <a:srgbClr val="FFCE3C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ABS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5DCCE5-01A3-6415-0036-57C1E636224B}"/>
              </a:ext>
            </a:extLst>
          </p:cNvPr>
          <p:cNvCxnSpPr>
            <a:cxnSpLocks/>
          </p:cNvCxnSpPr>
          <p:nvPr/>
        </p:nvCxnSpPr>
        <p:spPr>
          <a:xfrm>
            <a:off x="2773680" y="1254244"/>
            <a:ext cx="1537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79F19B8-108E-0440-458C-6226F8A5484D}"/>
              </a:ext>
            </a:extLst>
          </p:cNvPr>
          <p:cNvCxnSpPr>
            <a:cxnSpLocks/>
          </p:cNvCxnSpPr>
          <p:nvPr/>
        </p:nvCxnSpPr>
        <p:spPr>
          <a:xfrm>
            <a:off x="2752983" y="3130956"/>
            <a:ext cx="1517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E848E13-7838-529E-0FED-47869807DE16}"/>
              </a:ext>
            </a:extLst>
          </p:cNvPr>
          <p:cNvCxnSpPr>
            <a:cxnSpLocks/>
          </p:cNvCxnSpPr>
          <p:nvPr/>
        </p:nvCxnSpPr>
        <p:spPr>
          <a:xfrm flipH="1">
            <a:off x="2752983" y="2187054"/>
            <a:ext cx="1558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0C609E0-301F-3799-C52E-57556FA26859}"/>
              </a:ext>
            </a:extLst>
          </p:cNvPr>
          <p:cNvCxnSpPr>
            <a:cxnSpLocks/>
          </p:cNvCxnSpPr>
          <p:nvPr/>
        </p:nvCxnSpPr>
        <p:spPr>
          <a:xfrm flipH="1">
            <a:off x="2734664" y="4044522"/>
            <a:ext cx="1590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F437231-85B0-9ECE-F903-2ED002E64F36}"/>
              </a:ext>
            </a:extLst>
          </p:cNvPr>
          <p:cNvCxnSpPr>
            <a:cxnSpLocks/>
          </p:cNvCxnSpPr>
          <p:nvPr/>
        </p:nvCxnSpPr>
        <p:spPr>
          <a:xfrm>
            <a:off x="5239353" y="3903292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B6324BC-6FEA-4588-136B-585F58F5B203}"/>
              </a:ext>
            </a:extLst>
          </p:cNvPr>
          <p:cNvCxnSpPr>
            <a:cxnSpLocks/>
          </p:cNvCxnSpPr>
          <p:nvPr/>
        </p:nvCxnSpPr>
        <p:spPr>
          <a:xfrm>
            <a:off x="6127127" y="3903292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1CAA1B3-4806-6B4E-079B-FF3AFB0E8001}"/>
              </a:ext>
            </a:extLst>
          </p:cNvPr>
          <p:cNvCxnSpPr>
            <a:cxnSpLocks/>
          </p:cNvCxnSpPr>
          <p:nvPr/>
        </p:nvCxnSpPr>
        <p:spPr>
          <a:xfrm>
            <a:off x="6149391" y="3382197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CFBD273-C5ED-8718-6EF5-EA7AA956E258}"/>
              </a:ext>
            </a:extLst>
          </p:cNvPr>
          <p:cNvCxnSpPr>
            <a:cxnSpLocks/>
          </p:cNvCxnSpPr>
          <p:nvPr/>
        </p:nvCxnSpPr>
        <p:spPr>
          <a:xfrm>
            <a:off x="4338550" y="2937642"/>
            <a:ext cx="1101954" cy="3720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3C7A0DA-4F99-4072-7B3D-FFA75E8F886B}"/>
              </a:ext>
            </a:extLst>
          </p:cNvPr>
          <p:cNvSpPr txBox="1"/>
          <p:nvPr/>
        </p:nvSpPr>
        <p:spPr>
          <a:xfrm>
            <a:off x="2870868" y="852938"/>
            <a:ext cx="1638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4× wheel brake torque</a:t>
            </a:r>
          </a:p>
          <a:p>
            <a:r>
              <a:rPr lang="en-US" altLang="zh-CN" sz="1000" kern="0">
                <a:latin typeface="+mn-ea"/>
                <a:cs typeface="Tahoma" pitchFamily="34" charset="0"/>
              </a:rPr>
              <a:t>HDC status</a:t>
            </a:r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 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45F9C90-FAD0-2A60-D34C-4EE8EE1AA3ED}"/>
              </a:ext>
            </a:extLst>
          </p:cNvPr>
          <p:cNvCxnSpPr>
            <a:cxnSpLocks/>
          </p:cNvCxnSpPr>
          <p:nvPr/>
        </p:nvCxnSpPr>
        <p:spPr>
          <a:xfrm>
            <a:off x="6536655" y="2244523"/>
            <a:ext cx="0" cy="93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2200307-59A4-5472-C57E-4A6573EC1B89}"/>
              </a:ext>
            </a:extLst>
          </p:cNvPr>
          <p:cNvCxnSpPr>
            <a:cxnSpLocks/>
          </p:cNvCxnSpPr>
          <p:nvPr/>
        </p:nvCxnSpPr>
        <p:spPr>
          <a:xfrm flipV="1">
            <a:off x="6921730" y="2246155"/>
            <a:ext cx="0" cy="401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3FD1CEF-C673-7652-C54C-E40346EADC58}"/>
              </a:ext>
            </a:extLst>
          </p:cNvPr>
          <p:cNvCxnSpPr>
            <a:cxnSpLocks/>
          </p:cNvCxnSpPr>
          <p:nvPr/>
        </p:nvCxnSpPr>
        <p:spPr>
          <a:xfrm>
            <a:off x="6536655" y="2748022"/>
            <a:ext cx="0" cy="93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909264D-34D4-518E-56F9-A76FF6FD20CE}"/>
              </a:ext>
            </a:extLst>
          </p:cNvPr>
          <p:cNvSpPr/>
          <p:nvPr/>
        </p:nvSpPr>
        <p:spPr>
          <a:xfrm>
            <a:off x="6309968" y="3178119"/>
            <a:ext cx="1041009" cy="409143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Torque Stability Intervention front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FAC7B1-18F7-BCBD-3374-F2D6766A8DBE}"/>
              </a:ext>
            </a:extLst>
          </p:cNvPr>
          <p:cNvSpPr txBox="1"/>
          <p:nvPr/>
        </p:nvSpPr>
        <p:spPr>
          <a:xfrm>
            <a:off x="2883407" y="1551449"/>
            <a:ext cx="163826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Total brake  capacity/ Brake disk normal</a:t>
            </a:r>
          </a:p>
          <a:p>
            <a:r>
              <a:rPr lang="en-US" altLang="zh-CN" sz="1000" kern="0">
                <a:latin typeface="+mn-ea"/>
                <a:cs typeface="Tahoma" pitchFamily="34" charset="0"/>
              </a:rPr>
              <a:t>ABS status</a:t>
            </a:r>
          </a:p>
          <a:p>
            <a:r>
              <a:rPr lang="en-US" altLang="zh-CN" sz="1000" strike="sngStrike" kern="0">
                <a:latin typeface="+mn-ea"/>
                <a:cs typeface="Tahoma"/>
              </a:rPr>
              <a:t>Regen Enable flag???</a:t>
            </a:r>
            <a:endParaRPr lang="zh-CN" altLang="en-US" sz="1000" strike="sngStrike">
              <a:cs typeface="Tahom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F79ACF-DF69-B889-243D-C132529CC91A}"/>
              </a:ext>
            </a:extLst>
          </p:cNvPr>
          <p:cNvSpPr txBox="1"/>
          <p:nvPr/>
        </p:nvSpPr>
        <p:spPr>
          <a:xfrm>
            <a:off x="2734664" y="2647691"/>
            <a:ext cx="20243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spcAft>
                <a:spcPct val="0"/>
              </a:spcAft>
              <a:defRPr/>
            </a:pPr>
            <a:r>
              <a:rPr lang="en-US" altLang="zh-CN" sz="1000" kern="0">
                <a:latin typeface="+mn-ea"/>
                <a:cs typeface="Tahoma" pitchFamily="34" charset="0"/>
              </a:rPr>
              <a:t>1× regen torque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altLang="zh-CN" sz="1000" kern="0">
                <a:latin typeface="+mn-ea"/>
                <a:cs typeface="Tahoma" pitchFamily="34" charset="0"/>
              </a:rPr>
              <a:t>1× front/rear distribution factor</a:t>
            </a:r>
            <a:endParaRPr lang="zh-CN" altLang="en-US" sz="1000" kern="0">
              <a:latin typeface="+mn-ea"/>
              <a:cs typeface="Tahoma" pitchFamily="34" charset="0"/>
            </a:endParaRPr>
          </a:p>
          <a:p>
            <a:r>
              <a:rPr lang="en-US" altLang="zh-CN" sz="1000" kern="0">
                <a:latin typeface="+mn-ea"/>
                <a:cs typeface="Tahoma" pitchFamily="34" charset="0"/>
              </a:rPr>
              <a:t>HDC status</a:t>
            </a:r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 </a:t>
            </a:r>
            <a:endParaRPr lang="zh-CN" altLang="en-US" sz="10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67F23C5-F18C-7894-263C-87E1A14A246B}"/>
              </a:ext>
            </a:extLst>
          </p:cNvPr>
          <p:cNvSpPr txBox="1"/>
          <p:nvPr/>
        </p:nvSpPr>
        <p:spPr>
          <a:xfrm>
            <a:off x="2883407" y="3823640"/>
            <a:ext cx="2024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spcAft>
                <a:spcPct val="0"/>
              </a:spcAft>
              <a:defRPr/>
            </a:pPr>
            <a:r>
              <a:rPr lang="en-US" altLang="zh-CN" sz="1000" kern="0">
                <a:latin typeface="+mn-ea"/>
                <a:cs typeface="Tahoma" pitchFamily="34" charset="0"/>
              </a:rPr>
              <a:t>Axle regen torque capacity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altLang="zh-CN" sz="1000" kern="0">
                <a:latin typeface="+mn-ea"/>
                <a:cs typeface="Tahoma" pitchFamily="34" charset="0"/>
              </a:rPr>
              <a:t>Torque act front/rear</a:t>
            </a:r>
            <a:endParaRPr lang="zh-CN" altLang="en-US" sz="10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92A013-4B57-CB4F-62E9-681B8432E215}"/>
              </a:ext>
            </a:extLst>
          </p:cNvPr>
          <p:cNvSpPr/>
          <p:nvPr/>
        </p:nvSpPr>
        <p:spPr>
          <a:xfrm>
            <a:off x="4297681" y="4419600"/>
            <a:ext cx="3275671" cy="371577"/>
          </a:xfrm>
          <a:prstGeom prst="rect">
            <a:avLst/>
          </a:prstGeom>
          <a:solidFill>
            <a:srgbClr val="D4D4D4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CDC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8115060-CFAB-A817-502D-8A1540D59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649" y="4383499"/>
            <a:ext cx="484352" cy="443778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DD6D039-32EB-69FA-A933-B4B08E608D05}"/>
              </a:ext>
            </a:extLst>
          </p:cNvPr>
          <p:cNvCxnSpPr>
            <a:cxnSpLocks/>
          </p:cNvCxnSpPr>
          <p:nvPr/>
        </p:nvCxnSpPr>
        <p:spPr>
          <a:xfrm flipH="1">
            <a:off x="2752983" y="2575560"/>
            <a:ext cx="37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159C592-A8A6-1C3A-410F-437CBAE53A4B}"/>
              </a:ext>
            </a:extLst>
          </p:cNvPr>
          <p:cNvSpPr txBox="1"/>
          <p:nvPr/>
        </p:nvSpPr>
        <p:spPr>
          <a:xfrm>
            <a:off x="5814161" y="2286318"/>
            <a:ext cx="163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kern="0">
                <a:latin typeface="+mn-ea"/>
                <a:ea typeface="+mn-ea"/>
                <a:cs typeface="Tahoma" pitchFamily="34" charset="0"/>
              </a:rPr>
              <a:t>EDTR flag</a:t>
            </a:r>
          </a:p>
          <a:p>
            <a:r>
              <a:rPr lang="en-US" altLang="zh-CN" sz="800" kern="0">
                <a:latin typeface="+mn-ea"/>
                <a:cs typeface="Tahoma" pitchFamily="34" charset="0"/>
              </a:rPr>
              <a:t>EDTR Torque Limit</a:t>
            </a:r>
            <a:endParaRPr lang="zh-CN" altLang="en-US" sz="8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B818BD6-2014-FC68-470A-E576CD2CA9A6}"/>
              </a:ext>
            </a:extLst>
          </p:cNvPr>
          <p:cNvSpPr txBox="1"/>
          <p:nvPr/>
        </p:nvSpPr>
        <p:spPr>
          <a:xfrm>
            <a:off x="6813676" y="2339063"/>
            <a:ext cx="16382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kern="0">
                <a:latin typeface="+mn-ea"/>
                <a:ea typeface="+mn-ea"/>
                <a:cs typeface="Tahoma" pitchFamily="34" charset="0"/>
              </a:rPr>
              <a:t>Torque act front/rear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B3F13B0-6D0F-C9F8-4C1E-2F2EA3245FF0}"/>
              </a:ext>
            </a:extLst>
          </p:cNvPr>
          <p:cNvCxnSpPr>
            <a:cxnSpLocks/>
          </p:cNvCxnSpPr>
          <p:nvPr/>
        </p:nvCxnSpPr>
        <p:spPr>
          <a:xfrm>
            <a:off x="2760790" y="4576564"/>
            <a:ext cx="1550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05BBEDD-91BD-F138-4154-3500AC5552EC}"/>
              </a:ext>
            </a:extLst>
          </p:cNvPr>
          <p:cNvCxnSpPr>
            <a:cxnSpLocks/>
          </p:cNvCxnSpPr>
          <p:nvPr/>
        </p:nvCxnSpPr>
        <p:spPr>
          <a:xfrm flipH="1">
            <a:off x="2760790" y="4709160"/>
            <a:ext cx="15368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EB78C2E-AB24-594D-2207-C4855559A5AE}"/>
              </a:ext>
            </a:extLst>
          </p:cNvPr>
          <p:cNvGrpSpPr/>
          <p:nvPr/>
        </p:nvGrpSpPr>
        <p:grpSpPr>
          <a:xfrm>
            <a:off x="146497" y="959983"/>
            <a:ext cx="409564" cy="1526616"/>
            <a:chOff x="146497" y="959983"/>
            <a:chExt cx="409564" cy="152661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B6C2B63-62FE-606C-2FE1-D591BC3FA2A4}"/>
                </a:ext>
              </a:extLst>
            </p:cNvPr>
            <p:cNvSpPr/>
            <p:nvPr/>
          </p:nvSpPr>
          <p:spPr>
            <a:xfrm>
              <a:off x="146497" y="959983"/>
              <a:ext cx="409564" cy="15266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EB0E23A-567F-3B3A-6F1A-04498143FC16}"/>
                </a:ext>
              </a:extLst>
            </p:cNvPr>
            <p:cNvSpPr txBox="1"/>
            <p:nvPr/>
          </p:nvSpPr>
          <p:spPr>
            <a:xfrm rot="10800000">
              <a:off x="246593" y="1218487"/>
              <a:ext cx="192012" cy="820366"/>
            </a:xfrm>
            <a:prstGeom prst="rect">
              <a:avLst/>
            </a:prstGeom>
            <a:noFill/>
          </p:spPr>
          <p:txBody>
            <a:bodyPr vert="eaVert"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HMI(HDC)</a:t>
              </a: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CB50AB5-E0F0-DE44-1589-23C812B0CDF4}"/>
              </a:ext>
            </a:extLst>
          </p:cNvPr>
          <p:cNvCxnSpPr>
            <a:cxnSpLocks/>
          </p:cNvCxnSpPr>
          <p:nvPr/>
        </p:nvCxnSpPr>
        <p:spPr>
          <a:xfrm>
            <a:off x="535446" y="1338064"/>
            <a:ext cx="876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0BDAF61-C1B5-B0D8-1B76-FC3C2E6A62ED}"/>
              </a:ext>
            </a:extLst>
          </p:cNvPr>
          <p:cNvCxnSpPr>
            <a:cxnSpLocks/>
          </p:cNvCxnSpPr>
          <p:nvPr/>
        </p:nvCxnSpPr>
        <p:spPr>
          <a:xfrm flipH="1">
            <a:off x="535446" y="2136856"/>
            <a:ext cx="876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43E6D359-F096-9398-49EB-4B02BCBE3F57}"/>
              </a:ext>
            </a:extLst>
          </p:cNvPr>
          <p:cNvSpPr txBox="1"/>
          <p:nvPr/>
        </p:nvSpPr>
        <p:spPr>
          <a:xfrm>
            <a:off x="483708" y="953037"/>
            <a:ext cx="1638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HDC Request</a:t>
            </a:r>
          </a:p>
          <a:p>
            <a:r>
              <a:rPr lang="en-US" altLang="zh-CN" sz="1000" kern="0">
                <a:latin typeface="+mn-ea"/>
                <a:cs typeface="Tahoma" pitchFamily="34" charset="0"/>
              </a:rPr>
              <a:t>Target speed?</a:t>
            </a:r>
            <a:endParaRPr lang="en-US" altLang="zh-CN" sz="1000" kern="0"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5B4D164-3885-43D9-B74C-A7BB3C1C89F9}"/>
              </a:ext>
            </a:extLst>
          </p:cNvPr>
          <p:cNvSpPr txBox="1"/>
          <p:nvPr/>
        </p:nvSpPr>
        <p:spPr>
          <a:xfrm>
            <a:off x="524810" y="1900831"/>
            <a:ext cx="16382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kern="0">
                <a:latin typeface="+mn-ea"/>
                <a:cs typeface="Tahoma" pitchFamily="34" charset="0"/>
              </a:rPr>
              <a:t>HDC status</a:t>
            </a:r>
            <a:r>
              <a:rPr lang="en-US" altLang="zh-CN" sz="1000" kern="0">
                <a:latin typeface="+mn-ea"/>
                <a:ea typeface="+mn-ea"/>
                <a:cs typeface="Tahoma" pitchFamily="34" charset="0"/>
              </a:rPr>
              <a:t> 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27B0BA7-CE95-9413-F531-D1AB9721B399}"/>
              </a:ext>
            </a:extLst>
          </p:cNvPr>
          <p:cNvSpPr/>
          <p:nvPr/>
        </p:nvSpPr>
        <p:spPr>
          <a:xfrm>
            <a:off x="4560488" y="1748683"/>
            <a:ext cx="739206" cy="487070"/>
          </a:xfrm>
          <a:prstGeom prst="rect">
            <a:avLst/>
          </a:prstGeom>
          <a:solidFill>
            <a:srgbClr val="FFCE3C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Brake Request</a:t>
            </a:r>
            <a:endParaRPr kumimoji="0" lang="zh-CN" altLang="en-US" sz="7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B6B54C4-9AB9-2805-A7B9-4E9B7AEF79E7}"/>
              </a:ext>
            </a:extLst>
          </p:cNvPr>
          <p:cNvCxnSpPr>
            <a:cxnSpLocks/>
          </p:cNvCxnSpPr>
          <p:nvPr/>
        </p:nvCxnSpPr>
        <p:spPr>
          <a:xfrm>
            <a:off x="5281826" y="1978005"/>
            <a:ext cx="18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75">
            <a:extLst>
              <a:ext uri="{FF2B5EF4-FFF2-40B4-BE49-F238E27FC236}">
                <a16:creationId xmlns:a16="http://schemas.microsoft.com/office/drawing/2014/main" id="{6466E64B-DC62-CC36-936F-DD9C15A211FF}"/>
              </a:ext>
            </a:extLst>
          </p:cNvPr>
          <p:cNvCxnSpPr>
            <a:cxnSpLocks/>
          </p:cNvCxnSpPr>
          <p:nvPr/>
        </p:nvCxnSpPr>
        <p:spPr>
          <a:xfrm>
            <a:off x="4291783" y="1116341"/>
            <a:ext cx="1101954" cy="3720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6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964C-EB61-2627-817B-B04CE331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7BF8-8838-4B78-4C60-9B06082C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HDC system architecture design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F68A1-052E-90D8-525F-6D5897A1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52854-44C1-5344-23F2-2EBCD16E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4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72D76-00AA-C587-511C-4CB4CED2C5CE}"/>
              </a:ext>
            </a:extLst>
          </p:cNvPr>
          <p:cNvSpPr txBox="1"/>
          <p:nvPr/>
        </p:nvSpPr>
        <p:spPr>
          <a:xfrm>
            <a:off x="438907" y="916139"/>
            <a:ext cx="763067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When HDC active: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Braking unit should execute the friction torque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kern="0">
                <a:solidFill>
                  <a:srgbClr val="000000"/>
                </a:solidFill>
              </a:rPr>
              <a:t>Propulsion unit should execute the regen torque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During ABS/EDTR event, braking unit should send out the torque intervention flag and torque limitation, HDC and VCU shall both follow the torque </a:t>
            </a:r>
            <a:r>
              <a:rPr kumimoji="0" lang="en-US" altLang="zh-CN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limiation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5572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A441-A0A3-CF1A-2E82-16B404C0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#1 – HDC Regen active during ABS, EDTR active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32C07-1427-C833-5A5E-375F2B1C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432FE-6552-C33B-0E3E-0AECB734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5</a:t>
            </a:fld>
            <a:endParaRPr lang="de-D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8D4D06-8C6E-CCF5-6B07-FFF2508BA981}"/>
              </a:ext>
            </a:extLst>
          </p:cNvPr>
          <p:cNvCxnSpPr>
            <a:cxnSpLocks/>
          </p:cNvCxnSpPr>
          <p:nvPr/>
        </p:nvCxnSpPr>
        <p:spPr>
          <a:xfrm>
            <a:off x="779272" y="844264"/>
            <a:ext cx="0" cy="141947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751B06-9BE4-8F2A-BB2B-592F18D921C5}"/>
              </a:ext>
            </a:extLst>
          </p:cNvPr>
          <p:cNvCxnSpPr>
            <a:cxnSpLocks/>
          </p:cNvCxnSpPr>
          <p:nvPr/>
        </p:nvCxnSpPr>
        <p:spPr>
          <a:xfrm>
            <a:off x="562599" y="1022766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2A8591-7ED0-657D-9BDE-BACB4221550F}"/>
              </a:ext>
            </a:extLst>
          </p:cNvPr>
          <p:cNvSpPr txBox="1"/>
          <p:nvPr/>
        </p:nvSpPr>
        <p:spPr>
          <a:xfrm>
            <a:off x="6453114" y="936597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8497A-54EF-7706-7D43-66686ABC8E50}"/>
              </a:ext>
            </a:extLst>
          </p:cNvPr>
          <p:cNvSpPr txBox="1"/>
          <p:nvPr/>
        </p:nvSpPr>
        <p:spPr>
          <a:xfrm>
            <a:off x="338446" y="2257574"/>
            <a:ext cx="881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Torque (Nm)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28F432-7522-B204-1A25-F0A52FAC366F}"/>
              </a:ext>
            </a:extLst>
          </p:cNvPr>
          <p:cNvCxnSpPr>
            <a:cxnSpLocks/>
          </p:cNvCxnSpPr>
          <p:nvPr/>
        </p:nvCxnSpPr>
        <p:spPr>
          <a:xfrm flipH="1">
            <a:off x="760685" y="3054041"/>
            <a:ext cx="18587" cy="163058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50AA77-43AB-F983-998A-ECC53B5C070B}"/>
              </a:ext>
            </a:extLst>
          </p:cNvPr>
          <p:cNvCxnSpPr>
            <a:cxnSpLocks/>
          </p:cNvCxnSpPr>
          <p:nvPr/>
        </p:nvCxnSpPr>
        <p:spPr>
          <a:xfrm>
            <a:off x="544012" y="4580126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1B4875-8DE7-C136-F214-BD61B0FB8F7E}"/>
              </a:ext>
            </a:extLst>
          </p:cNvPr>
          <p:cNvSpPr txBox="1"/>
          <p:nvPr/>
        </p:nvSpPr>
        <p:spPr>
          <a:xfrm>
            <a:off x="6434527" y="4487793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E0480-E550-380F-3544-C35789B7A698}"/>
              </a:ext>
            </a:extLst>
          </p:cNvPr>
          <p:cNvSpPr txBox="1"/>
          <p:nvPr/>
        </p:nvSpPr>
        <p:spPr>
          <a:xfrm>
            <a:off x="338446" y="2815062"/>
            <a:ext cx="9730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Pressure (bar)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9027B1-7E71-A3C5-81FA-53C0FA2B6615}"/>
              </a:ext>
            </a:extLst>
          </p:cNvPr>
          <p:cNvCxnSpPr>
            <a:cxnSpLocks/>
          </p:cNvCxnSpPr>
          <p:nvPr/>
        </p:nvCxnSpPr>
        <p:spPr>
          <a:xfrm>
            <a:off x="779272" y="1022766"/>
            <a:ext cx="1672752" cy="12838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B92006-DBEB-1B03-1A25-2CB2ADFA6F8B}"/>
              </a:ext>
            </a:extLst>
          </p:cNvPr>
          <p:cNvCxnSpPr>
            <a:cxnSpLocks/>
          </p:cNvCxnSpPr>
          <p:nvPr/>
        </p:nvCxnSpPr>
        <p:spPr>
          <a:xfrm>
            <a:off x="2452024" y="2294702"/>
            <a:ext cx="291665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8FAA44-EF42-B6E9-0F93-ECAE4C5459E7}"/>
              </a:ext>
            </a:extLst>
          </p:cNvPr>
          <p:cNvCxnSpPr>
            <a:cxnSpLocks/>
          </p:cNvCxnSpPr>
          <p:nvPr/>
        </p:nvCxnSpPr>
        <p:spPr>
          <a:xfrm flipV="1">
            <a:off x="2201734" y="844264"/>
            <a:ext cx="0" cy="4110423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113CCB-572F-D0E5-AAA6-8B870C62582F}"/>
              </a:ext>
            </a:extLst>
          </p:cNvPr>
          <p:cNvCxnSpPr>
            <a:cxnSpLocks/>
          </p:cNvCxnSpPr>
          <p:nvPr/>
        </p:nvCxnSpPr>
        <p:spPr>
          <a:xfrm flipV="1">
            <a:off x="760685" y="3817024"/>
            <a:ext cx="1441049" cy="763102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D5B877-4A6D-A64E-FAF7-A247058CDDB2}"/>
              </a:ext>
            </a:extLst>
          </p:cNvPr>
          <p:cNvCxnSpPr>
            <a:cxnSpLocks/>
          </p:cNvCxnSpPr>
          <p:nvPr/>
        </p:nvCxnSpPr>
        <p:spPr>
          <a:xfrm>
            <a:off x="7662580" y="1044549"/>
            <a:ext cx="23481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B0698B-4CA7-2AD3-2A71-C49F8B8A2490}"/>
              </a:ext>
            </a:extLst>
          </p:cNvPr>
          <p:cNvCxnSpPr>
            <a:cxnSpLocks/>
          </p:cNvCxnSpPr>
          <p:nvPr/>
        </p:nvCxnSpPr>
        <p:spPr>
          <a:xfrm>
            <a:off x="7662580" y="1194094"/>
            <a:ext cx="23481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495322-914E-074D-69EC-A781D0614C63}"/>
              </a:ext>
            </a:extLst>
          </p:cNvPr>
          <p:cNvSpPr txBox="1"/>
          <p:nvPr/>
        </p:nvSpPr>
        <p:spPr>
          <a:xfrm>
            <a:off x="7972188" y="967199"/>
            <a:ext cx="65883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Regen request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D59883-DE48-DF65-74CC-61C3F922758C}"/>
              </a:ext>
            </a:extLst>
          </p:cNvPr>
          <p:cNvSpPr txBox="1"/>
          <p:nvPr/>
        </p:nvSpPr>
        <p:spPr>
          <a:xfrm>
            <a:off x="7972188" y="1121263"/>
            <a:ext cx="11621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Decel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torque demand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650D55-03FA-05EB-F8B1-D29F1EFBD678}"/>
              </a:ext>
            </a:extLst>
          </p:cNvPr>
          <p:cNvCxnSpPr>
            <a:cxnSpLocks/>
          </p:cNvCxnSpPr>
          <p:nvPr/>
        </p:nvCxnSpPr>
        <p:spPr>
          <a:xfrm>
            <a:off x="7665390" y="3340394"/>
            <a:ext cx="234813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FAFEB63-D7D9-6A5E-E68C-B627C2607B26}"/>
              </a:ext>
            </a:extLst>
          </p:cNvPr>
          <p:cNvSpPr txBox="1"/>
          <p:nvPr/>
        </p:nvSpPr>
        <p:spPr>
          <a:xfrm>
            <a:off x="7974998" y="3267563"/>
            <a:ext cx="56906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kern="0">
                <a:solidFill>
                  <a:srgbClr val="000000"/>
                </a:solidFill>
              </a:rPr>
              <a:t>Pressure req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8293EF-B837-0155-F4B7-5727D9F2AF00}"/>
              </a:ext>
            </a:extLst>
          </p:cNvPr>
          <p:cNvSpPr txBox="1"/>
          <p:nvPr/>
        </p:nvSpPr>
        <p:spPr>
          <a:xfrm>
            <a:off x="1918224" y="704609"/>
            <a:ext cx="53380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active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3748A5-48DB-6A11-3885-68EDF24AD68C}"/>
              </a:ext>
            </a:extLst>
          </p:cNvPr>
          <p:cNvCxnSpPr>
            <a:cxnSpLocks/>
          </p:cNvCxnSpPr>
          <p:nvPr/>
        </p:nvCxnSpPr>
        <p:spPr>
          <a:xfrm>
            <a:off x="2175143" y="3817024"/>
            <a:ext cx="19456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64E58C-E0BD-1F1A-2F97-B29CA7FEBB56}"/>
              </a:ext>
            </a:extLst>
          </p:cNvPr>
          <p:cNvCxnSpPr>
            <a:cxnSpLocks/>
          </p:cNvCxnSpPr>
          <p:nvPr/>
        </p:nvCxnSpPr>
        <p:spPr>
          <a:xfrm>
            <a:off x="779272" y="1022766"/>
            <a:ext cx="1433238" cy="6010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F2AB94-F356-4BAD-EA2D-ACD5A532A870}"/>
              </a:ext>
            </a:extLst>
          </p:cNvPr>
          <p:cNvCxnSpPr>
            <a:cxnSpLocks/>
          </p:cNvCxnSpPr>
          <p:nvPr/>
        </p:nvCxnSpPr>
        <p:spPr>
          <a:xfrm>
            <a:off x="2212510" y="1623803"/>
            <a:ext cx="66973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F1021B-5584-199C-FE2D-9AB4163E5976}"/>
              </a:ext>
            </a:extLst>
          </p:cNvPr>
          <p:cNvCxnSpPr>
            <a:cxnSpLocks/>
          </p:cNvCxnSpPr>
          <p:nvPr/>
        </p:nvCxnSpPr>
        <p:spPr>
          <a:xfrm flipV="1">
            <a:off x="2882248" y="1510401"/>
            <a:ext cx="180052" cy="1134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9F69C9-3BFF-DF6B-0A93-6D5112AB9C42}"/>
              </a:ext>
            </a:extLst>
          </p:cNvPr>
          <p:cNvCxnSpPr>
            <a:cxnSpLocks/>
          </p:cNvCxnSpPr>
          <p:nvPr/>
        </p:nvCxnSpPr>
        <p:spPr>
          <a:xfrm>
            <a:off x="3034648" y="1509046"/>
            <a:ext cx="17278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3024A9-FF76-56F9-3107-DD95085C73FA}"/>
              </a:ext>
            </a:extLst>
          </p:cNvPr>
          <p:cNvCxnSpPr>
            <a:cxnSpLocks/>
          </p:cNvCxnSpPr>
          <p:nvPr/>
        </p:nvCxnSpPr>
        <p:spPr>
          <a:xfrm flipV="1">
            <a:off x="3173799" y="1372866"/>
            <a:ext cx="71093" cy="1431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7398CC7-828C-63A7-B1D6-7AD9521A122E}"/>
              </a:ext>
            </a:extLst>
          </p:cNvPr>
          <p:cNvCxnSpPr>
            <a:cxnSpLocks/>
          </p:cNvCxnSpPr>
          <p:nvPr/>
        </p:nvCxnSpPr>
        <p:spPr>
          <a:xfrm>
            <a:off x="3244892" y="1357151"/>
            <a:ext cx="47625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2289EB-59D0-7B54-FAA4-06D79EFBAB3B}"/>
              </a:ext>
            </a:extLst>
          </p:cNvPr>
          <p:cNvCxnSpPr>
            <a:cxnSpLocks/>
          </p:cNvCxnSpPr>
          <p:nvPr/>
        </p:nvCxnSpPr>
        <p:spPr>
          <a:xfrm>
            <a:off x="2369709" y="3800355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23C39C-4DFF-181C-B8FE-FD338A48210D}"/>
              </a:ext>
            </a:extLst>
          </p:cNvPr>
          <p:cNvCxnSpPr>
            <a:cxnSpLocks/>
          </p:cNvCxnSpPr>
          <p:nvPr/>
        </p:nvCxnSpPr>
        <p:spPr>
          <a:xfrm>
            <a:off x="2369709" y="3910882"/>
            <a:ext cx="26458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F6DB00-81AC-851D-4EAF-E57525F2C07B}"/>
              </a:ext>
            </a:extLst>
          </p:cNvPr>
          <p:cNvCxnSpPr>
            <a:cxnSpLocks/>
          </p:cNvCxnSpPr>
          <p:nvPr/>
        </p:nvCxnSpPr>
        <p:spPr>
          <a:xfrm flipV="1">
            <a:off x="2634296" y="3800355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143B60-F738-D0A5-644C-EDDCFB2BFD28}"/>
              </a:ext>
            </a:extLst>
          </p:cNvPr>
          <p:cNvCxnSpPr>
            <a:cxnSpLocks/>
          </p:cNvCxnSpPr>
          <p:nvPr/>
        </p:nvCxnSpPr>
        <p:spPr>
          <a:xfrm flipV="1">
            <a:off x="2882248" y="844264"/>
            <a:ext cx="0" cy="4094881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D1A61AA-F797-7C6D-CC9F-839372D8CABF}"/>
              </a:ext>
            </a:extLst>
          </p:cNvPr>
          <p:cNvCxnSpPr>
            <a:cxnSpLocks/>
          </p:cNvCxnSpPr>
          <p:nvPr/>
        </p:nvCxnSpPr>
        <p:spPr>
          <a:xfrm flipV="1">
            <a:off x="2634296" y="3814327"/>
            <a:ext cx="247952" cy="269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1C1B86-82D0-2F38-6A6D-3BAFB6BEF86C}"/>
              </a:ext>
            </a:extLst>
          </p:cNvPr>
          <p:cNvCxnSpPr>
            <a:cxnSpLocks/>
          </p:cNvCxnSpPr>
          <p:nvPr/>
        </p:nvCxnSpPr>
        <p:spPr>
          <a:xfrm>
            <a:off x="2882248" y="3814327"/>
            <a:ext cx="0" cy="25948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39D6D89-A142-3257-F526-3AF6633A3B1E}"/>
              </a:ext>
            </a:extLst>
          </p:cNvPr>
          <p:cNvCxnSpPr>
            <a:cxnSpLocks/>
          </p:cNvCxnSpPr>
          <p:nvPr/>
        </p:nvCxnSpPr>
        <p:spPr>
          <a:xfrm>
            <a:off x="2882248" y="4073814"/>
            <a:ext cx="180052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476EB9-2893-827B-1D4D-436DC2BE6235}"/>
              </a:ext>
            </a:extLst>
          </p:cNvPr>
          <p:cNvCxnSpPr>
            <a:cxnSpLocks/>
          </p:cNvCxnSpPr>
          <p:nvPr/>
        </p:nvCxnSpPr>
        <p:spPr>
          <a:xfrm flipV="1">
            <a:off x="3528137" y="828722"/>
            <a:ext cx="0" cy="4110423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C9A8B3-DD52-D9BA-C95A-5088149DD9F5}"/>
              </a:ext>
            </a:extLst>
          </p:cNvPr>
          <p:cNvCxnSpPr>
            <a:cxnSpLocks/>
          </p:cNvCxnSpPr>
          <p:nvPr/>
        </p:nvCxnSpPr>
        <p:spPr>
          <a:xfrm flipV="1">
            <a:off x="3062300" y="3982319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CF91D3D-8693-B8F2-996F-8B7989377B4B}"/>
              </a:ext>
            </a:extLst>
          </p:cNvPr>
          <p:cNvCxnSpPr>
            <a:cxnSpLocks/>
          </p:cNvCxnSpPr>
          <p:nvPr/>
        </p:nvCxnSpPr>
        <p:spPr>
          <a:xfrm>
            <a:off x="3062300" y="3982319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D19BC5F-6D4D-D589-D44E-DD1DAD78D8C6}"/>
              </a:ext>
            </a:extLst>
          </p:cNvPr>
          <p:cNvCxnSpPr>
            <a:cxnSpLocks/>
          </p:cNvCxnSpPr>
          <p:nvPr/>
        </p:nvCxnSpPr>
        <p:spPr>
          <a:xfrm flipV="1">
            <a:off x="3214700" y="3879925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7097ABF-180F-BB54-D71C-9D85F81725BC}"/>
              </a:ext>
            </a:extLst>
          </p:cNvPr>
          <p:cNvCxnSpPr>
            <a:cxnSpLocks/>
          </p:cNvCxnSpPr>
          <p:nvPr/>
        </p:nvCxnSpPr>
        <p:spPr>
          <a:xfrm>
            <a:off x="3214700" y="3879925"/>
            <a:ext cx="29619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7F23991-9C39-0C47-6D0E-9E748C5D475B}"/>
              </a:ext>
            </a:extLst>
          </p:cNvPr>
          <p:cNvCxnSpPr>
            <a:cxnSpLocks/>
          </p:cNvCxnSpPr>
          <p:nvPr/>
        </p:nvCxnSpPr>
        <p:spPr>
          <a:xfrm flipH="1" flipV="1">
            <a:off x="3508163" y="3879925"/>
            <a:ext cx="2735" cy="37147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A3A1F8B-E59E-BA67-8D5F-C9FE4B0BB6BD}"/>
              </a:ext>
            </a:extLst>
          </p:cNvPr>
          <p:cNvCxnSpPr>
            <a:cxnSpLocks/>
          </p:cNvCxnSpPr>
          <p:nvPr/>
        </p:nvCxnSpPr>
        <p:spPr>
          <a:xfrm flipH="1">
            <a:off x="3505428" y="4230026"/>
            <a:ext cx="32160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3F729C4-22B0-232A-6EC1-E7116CC3DE08}"/>
              </a:ext>
            </a:extLst>
          </p:cNvPr>
          <p:cNvCxnSpPr>
            <a:cxnSpLocks/>
          </p:cNvCxnSpPr>
          <p:nvPr/>
        </p:nvCxnSpPr>
        <p:spPr>
          <a:xfrm flipV="1">
            <a:off x="3827034" y="4134719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53DFE64-EE18-995D-7A1B-81D3668E2AC7}"/>
              </a:ext>
            </a:extLst>
          </p:cNvPr>
          <p:cNvCxnSpPr>
            <a:cxnSpLocks/>
          </p:cNvCxnSpPr>
          <p:nvPr/>
        </p:nvCxnSpPr>
        <p:spPr>
          <a:xfrm>
            <a:off x="3827034" y="4134719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358280-EC6B-269C-174B-0A2FE7B0B460}"/>
              </a:ext>
            </a:extLst>
          </p:cNvPr>
          <p:cNvCxnSpPr>
            <a:cxnSpLocks/>
          </p:cNvCxnSpPr>
          <p:nvPr/>
        </p:nvCxnSpPr>
        <p:spPr>
          <a:xfrm flipV="1">
            <a:off x="3979434" y="4032325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6A1A1E4-0DFF-669A-B1B6-76EF1F625821}"/>
              </a:ext>
            </a:extLst>
          </p:cNvPr>
          <p:cNvSpPr txBox="1"/>
          <p:nvPr/>
        </p:nvSpPr>
        <p:spPr>
          <a:xfrm>
            <a:off x="2613388" y="685274"/>
            <a:ext cx="61555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EDTR active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435D1C-7699-4518-35EC-022ABAEE39A4}"/>
              </a:ext>
            </a:extLst>
          </p:cNvPr>
          <p:cNvCxnSpPr>
            <a:cxnSpLocks/>
          </p:cNvCxnSpPr>
          <p:nvPr/>
        </p:nvCxnSpPr>
        <p:spPr>
          <a:xfrm>
            <a:off x="7662580" y="1340438"/>
            <a:ext cx="234813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41FA17E-98F0-FC6C-4390-2B50474F46A8}"/>
              </a:ext>
            </a:extLst>
          </p:cNvPr>
          <p:cNvSpPr txBox="1"/>
          <p:nvPr/>
        </p:nvSpPr>
        <p:spPr>
          <a:xfrm>
            <a:off x="7972188" y="1278882"/>
            <a:ext cx="6219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EDTR request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FBB5E45-0E1D-67FA-801A-D4FB5D34B5A0}"/>
              </a:ext>
            </a:extLst>
          </p:cNvPr>
          <p:cNvCxnSpPr>
            <a:cxnSpLocks/>
          </p:cNvCxnSpPr>
          <p:nvPr/>
        </p:nvCxnSpPr>
        <p:spPr>
          <a:xfrm>
            <a:off x="780889" y="1130356"/>
            <a:ext cx="1524705" cy="949071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1B1209D-C207-5071-E125-5F67FFEE2DA7}"/>
              </a:ext>
            </a:extLst>
          </p:cNvPr>
          <p:cNvCxnSpPr>
            <a:cxnSpLocks/>
          </p:cNvCxnSpPr>
          <p:nvPr/>
        </p:nvCxnSpPr>
        <p:spPr>
          <a:xfrm flipV="1">
            <a:off x="2880632" y="1352790"/>
            <a:ext cx="377109" cy="726637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E1F691-7C8F-E620-2D68-AE89FF5EEA7E}"/>
              </a:ext>
            </a:extLst>
          </p:cNvPr>
          <p:cNvCxnSpPr>
            <a:cxnSpLocks/>
          </p:cNvCxnSpPr>
          <p:nvPr/>
        </p:nvCxnSpPr>
        <p:spPr>
          <a:xfrm>
            <a:off x="3257741" y="1365092"/>
            <a:ext cx="569293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1EA7B3B-9688-48FD-ACA9-5E9779144AE8}"/>
              </a:ext>
            </a:extLst>
          </p:cNvPr>
          <p:cNvSpPr txBox="1"/>
          <p:nvPr/>
        </p:nvSpPr>
        <p:spPr>
          <a:xfrm>
            <a:off x="4973908" y="1838078"/>
            <a:ext cx="294631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EDTR is active, then RB shall not reduce 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torque below EDTR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B7AAA05-6F1D-105F-6418-BA16D22744E0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1401993"/>
            <a:ext cx="1392508" cy="436085"/>
          </a:xfrm>
          <a:prstGeom prst="straightConnector1">
            <a:avLst/>
          </a:prstGeom>
          <a:ln w="9525">
            <a:solidFill>
              <a:srgbClr val="E5233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44F429-2CB6-C54F-1EF6-88C54EECF933}"/>
              </a:ext>
            </a:extLst>
          </p:cNvPr>
          <p:cNvCxnSpPr>
            <a:cxnSpLocks/>
          </p:cNvCxnSpPr>
          <p:nvPr/>
        </p:nvCxnSpPr>
        <p:spPr>
          <a:xfrm>
            <a:off x="2305594" y="2079427"/>
            <a:ext cx="576654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7F46DF-0EF2-BFE9-A885-F76DDE6F4886}"/>
              </a:ext>
            </a:extLst>
          </p:cNvPr>
          <p:cNvCxnSpPr>
            <a:cxnSpLocks/>
          </p:cNvCxnSpPr>
          <p:nvPr/>
        </p:nvCxnSpPr>
        <p:spPr>
          <a:xfrm flipV="1">
            <a:off x="760685" y="3402576"/>
            <a:ext cx="1466499" cy="117755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1BB30A-0C8D-52FB-941C-C59E1E2A3342}"/>
              </a:ext>
            </a:extLst>
          </p:cNvPr>
          <p:cNvCxnSpPr>
            <a:cxnSpLocks/>
          </p:cNvCxnSpPr>
          <p:nvPr/>
        </p:nvCxnSpPr>
        <p:spPr>
          <a:xfrm>
            <a:off x="2208905" y="3418804"/>
            <a:ext cx="1694329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C86EA45-6A4E-5FB4-0B9E-C638B53DDFBD}"/>
              </a:ext>
            </a:extLst>
          </p:cNvPr>
          <p:cNvSpPr txBox="1"/>
          <p:nvPr/>
        </p:nvSpPr>
        <p:spPr>
          <a:xfrm>
            <a:off x="3841574" y="3495759"/>
            <a:ext cx="40107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flag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active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the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friction torque request should freeze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72A86D1-2C76-B6F1-BA68-4E59A29401DC}"/>
              </a:ext>
            </a:extLst>
          </p:cNvPr>
          <p:cNvCxnSpPr>
            <a:cxnSpLocks/>
          </p:cNvCxnSpPr>
          <p:nvPr/>
        </p:nvCxnSpPr>
        <p:spPr>
          <a:xfrm>
            <a:off x="7672995" y="3172388"/>
            <a:ext cx="227208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E797585-17AC-FE20-249E-F6EFA6617D63}"/>
              </a:ext>
            </a:extLst>
          </p:cNvPr>
          <p:cNvSpPr txBox="1"/>
          <p:nvPr/>
        </p:nvSpPr>
        <p:spPr>
          <a:xfrm>
            <a:off x="7971769" y="3109944"/>
            <a:ext cx="10435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 kern="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friction torque request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60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43C9-87E5-502C-74F7-EF5F3779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#2 – HDC Regen active during ABS, EDTR Active, EDTR exits mid event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27EDE-818A-5C64-5B2A-16BF53F6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158F6-EFE7-8A35-114F-9B0B5499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6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F8BCC2-A2E7-16F6-6E85-5C46F1A017DE}"/>
              </a:ext>
            </a:extLst>
          </p:cNvPr>
          <p:cNvCxnSpPr>
            <a:cxnSpLocks/>
          </p:cNvCxnSpPr>
          <p:nvPr/>
        </p:nvCxnSpPr>
        <p:spPr>
          <a:xfrm>
            <a:off x="805033" y="1022766"/>
            <a:ext cx="0" cy="141947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18FDAD-53E6-ECF1-367F-53B0710713F0}"/>
              </a:ext>
            </a:extLst>
          </p:cNvPr>
          <p:cNvCxnSpPr>
            <a:cxnSpLocks/>
          </p:cNvCxnSpPr>
          <p:nvPr/>
        </p:nvCxnSpPr>
        <p:spPr>
          <a:xfrm>
            <a:off x="588360" y="1201268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42774C-30B5-3CFB-6B31-1B5B610D1380}"/>
              </a:ext>
            </a:extLst>
          </p:cNvPr>
          <p:cNvSpPr txBox="1"/>
          <p:nvPr/>
        </p:nvSpPr>
        <p:spPr>
          <a:xfrm>
            <a:off x="6478875" y="1115099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0EF57-1E7B-4799-3047-9E0BA2FF5D49}"/>
              </a:ext>
            </a:extLst>
          </p:cNvPr>
          <p:cNvSpPr txBox="1"/>
          <p:nvPr/>
        </p:nvSpPr>
        <p:spPr>
          <a:xfrm>
            <a:off x="364207" y="2436076"/>
            <a:ext cx="881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Torque (Nm)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4860F7-D7EE-B342-9E54-323F947A102E}"/>
              </a:ext>
            </a:extLst>
          </p:cNvPr>
          <p:cNvCxnSpPr>
            <a:cxnSpLocks/>
          </p:cNvCxnSpPr>
          <p:nvPr/>
        </p:nvCxnSpPr>
        <p:spPr>
          <a:xfrm flipH="1">
            <a:off x="786446" y="3232543"/>
            <a:ext cx="18587" cy="163058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B773B5-EF8E-692C-CDA3-40EFFBE13D39}"/>
              </a:ext>
            </a:extLst>
          </p:cNvPr>
          <p:cNvCxnSpPr>
            <a:cxnSpLocks/>
          </p:cNvCxnSpPr>
          <p:nvPr/>
        </p:nvCxnSpPr>
        <p:spPr>
          <a:xfrm>
            <a:off x="569773" y="4766248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11BEB-B6C5-9625-55E6-421C3D32EB8B}"/>
              </a:ext>
            </a:extLst>
          </p:cNvPr>
          <p:cNvSpPr txBox="1"/>
          <p:nvPr/>
        </p:nvSpPr>
        <p:spPr>
          <a:xfrm>
            <a:off x="6460288" y="4666295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C2C5A8-A325-475B-8F31-3C8861F0876F}"/>
              </a:ext>
            </a:extLst>
          </p:cNvPr>
          <p:cNvSpPr txBox="1"/>
          <p:nvPr/>
        </p:nvSpPr>
        <p:spPr>
          <a:xfrm>
            <a:off x="364207" y="2993564"/>
            <a:ext cx="9730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Pressure (bar)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A126ED-ADFB-9B3D-5A58-05DD22EB063F}"/>
              </a:ext>
            </a:extLst>
          </p:cNvPr>
          <p:cNvCxnSpPr>
            <a:cxnSpLocks/>
          </p:cNvCxnSpPr>
          <p:nvPr/>
        </p:nvCxnSpPr>
        <p:spPr>
          <a:xfrm>
            <a:off x="805033" y="1201268"/>
            <a:ext cx="1672752" cy="12838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E3ECC7-A423-B66C-3A35-4C54324568F5}"/>
              </a:ext>
            </a:extLst>
          </p:cNvPr>
          <p:cNvCxnSpPr>
            <a:cxnSpLocks/>
          </p:cNvCxnSpPr>
          <p:nvPr/>
        </p:nvCxnSpPr>
        <p:spPr>
          <a:xfrm>
            <a:off x="2477785" y="2473204"/>
            <a:ext cx="291665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52B719-9918-5BD3-13CE-CCDBBA860B1C}"/>
              </a:ext>
            </a:extLst>
          </p:cNvPr>
          <p:cNvCxnSpPr>
            <a:cxnSpLocks/>
          </p:cNvCxnSpPr>
          <p:nvPr/>
        </p:nvCxnSpPr>
        <p:spPr>
          <a:xfrm flipV="1">
            <a:off x="786446" y="3995526"/>
            <a:ext cx="1441049" cy="763102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E29980-6814-B1EA-4D1B-808859904536}"/>
              </a:ext>
            </a:extLst>
          </p:cNvPr>
          <p:cNvCxnSpPr>
            <a:cxnSpLocks/>
          </p:cNvCxnSpPr>
          <p:nvPr/>
        </p:nvCxnSpPr>
        <p:spPr>
          <a:xfrm>
            <a:off x="7688341" y="1223051"/>
            <a:ext cx="23481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C430B-EB2F-7CD3-39CA-E32869B3D9AA}"/>
              </a:ext>
            </a:extLst>
          </p:cNvPr>
          <p:cNvCxnSpPr>
            <a:cxnSpLocks/>
          </p:cNvCxnSpPr>
          <p:nvPr/>
        </p:nvCxnSpPr>
        <p:spPr>
          <a:xfrm>
            <a:off x="7688341" y="1372596"/>
            <a:ext cx="23481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3D0989-AF86-AC1A-B2F0-F7E8CB096850}"/>
              </a:ext>
            </a:extLst>
          </p:cNvPr>
          <p:cNvSpPr txBox="1"/>
          <p:nvPr/>
        </p:nvSpPr>
        <p:spPr>
          <a:xfrm>
            <a:off x="7997949" y="1145701"/>
            <a:ext cx="65883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Regen request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A6A4BC-1CDD-B357-70D3-22C3B1F657A6}"/>
              </a:ext>
            </a:extLst>
          </p:cNvPr>
          <p:cNvCxnSpPr>
            <a:cxnSpLocks/>
          </p:cNvCxnSpPr>
          <p:nvPr/>
        </p:nvCxnSpPr>
        <p:spPr>
          <a:xfrm>
            <a:off x="7691151" y="3518896"/>
            <a:ext cx="234813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770E1FA-2946-8580-C725-8C0252AB609D}"/>
              </a:ext>
            </a:extLst>
          </p:cNvPr>
          <p:cNvSpPr txBox="1"/>
          <p:nvPr/>
        </p:nvSpPr>
        <p:spPr>
          <a:xfrm>
            <a:off x="8000759" y="3446065"/>
            <a:ext cx="62837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kern="0">
                <a:solidFill>
                  <a:srgbClr val="000000"/>
                </a:solidFill>
              </a:rPr>
              <a:t>pressure Req 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4B48B-0C63-A9CF-E326-76DC37E59D11}"/>
              </a:ext>
            </a:extLst>
          </p:cNvPr>
          <p:cNvSpPr txBox="1"/>
          <p:nvPr/>
        </p:nvSpPr>
        <p:spPr>
          <a:xfrm>
            <a:off x="1987647" y="941003"/>
            <a:ext cx="53380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active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7AD2EB-7B22-2570-C146-AAC27D87A707}"/>
              </a:ext>
            </a:extLst>
          </p:cNvPr>
          <p:cNvCxnSpPr>
            <a:cxnSpLocks/>
          </p:cNvCxnSpPr>
          <p:nvPr/>
        </p:nvCxnSpPr>
        <p:spPr>
          <a:xfrm>
            <a:off x="2200904" y="3995526"/>
            <a:ext cx="19456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234459-DB90-2612-AE00-819207F72977}"/>
              </a:ext>
            </a:extLst>
          </p:cNvPr>
          <p:cNvCxnSpPr>
            <a:cxnSpLocks/>
          </p:cNvCxnSpPr>
          <p:nvPr/>
        </p:nvCxnSpPr>
        <p:spPr>
          <a:xfrm>
            <a:off x="805033" y="1201268"/>
            <a:ext cx="1433238" cy="6010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A6C08D-15AD-C534-9091-58B55E1FED8B}"/>
              </a:ext>
            </a:extLst>
          </p:cNvPr>
          <p:cNvCxnSpPr>
            <a:cxnSpLocks/>
          </p:cNvCxnSpPr>
          <p:nvPr/>
        </p:nvCxnSpPr>
        <p:spPr>
          <a:xfrm>
            <a:off x="2238271" y="1802305"/>
            <a:ext cx="66973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7A900F-DE1D-798B-7D30-7DEAF14B3A3C}"/>
              </a:ext>
            </a:extLst>
          </p:cNvPr>
          <p:cNvCxnSpPr>
            <a:cxnSpLocks/>
          </p:cNvCxnSpPr>
          <p:nvPr/>
        </p:nvCxnSpPr>
        <p:spPr>
          <a:xfrm flipV="1">
            <a:off x="2908009" y="1688903"/>
            <a:ext cx="180052" cy="1134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0D39CD-8DA4-272B-2915-B57D5334D0CB}"/>
              </a:ext>
            </a:extLst>
          </p:cNvPr>
          <p:cNvCxnSpPr>
            <a:cxnSpLocks/>
          </p:cNvCxnSpPr>
          <p:nvPr/>
        </p:nvCxnSpPr>
        <p:spPr>
          <a:xfrm>
            <a:off x="3060409" y="1687548"/>
            <a:ext cx="17278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7B9A5B-D8C4-756C-4199-CC98FACD69E7}"/>
              </a:ext>
            </a:extLst>
          </p:cNvPr>
          <p:cNvCxnSpPr>
            <a:cxnSpLocks/>
          </p:cNvCxnSpPr>
          <p:nvPr/>
        </p:nvCxnSpPr>
        <p:spPr>
          <a:xfrm flipV="1">
            <a:off x="3199560" y="1551368"/>
            <a:ext cx="71093" cy="1431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803C45-330C-FE29-B054-BA0457B03546}"/>
              </a:ext>
            </a:extLst>
          </p:cNvPr>
          <p:cNvCxnSpPr>
            <a:cxnSpLocks/>
          </p:cNvCxnSpPr>
          <p:nvPr/>
        </p:nvCxnSpPr>
        <p:spPr>
          <a:xfrm>
            <a:off x="3270653" y="1535653"/>
            <a:ext cx="1032762" cy="1571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C04510-05E8-3554-B4ED-FE847E94A101}"/>
              </a:ext>
            </a:extLst>
          </p:cNvPr>
          <p:cNvCxnSpPr>
            <a:cxnSpLocks/>
          </p:cNvCxnSpPr>
          <p:nvPr/>
        </p:nvCxnSpPr>
        <p:spPr>
          <a:xfrm>
            <a:off x="2395470" y="3978857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1C6899-9501-E99E-BBFD-D0577C6C2B3C}"/>
              </a:ext>
            </a:extLst>
          </p:cNvPr>
          <p:cNvCxnSpPr>
            <a:cxnSpLocks/>
          </p:cNvCxnSpPr>
          <p:nvPr/>
        </p:nvCxnSpPr>
        <p:spPr>
          <a:xfrm>
            <a:off x="2395470" y="4089384"/>
            <a:ext cx="26458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EF2B05-00CB-3CDF-9196-B5F32ED4E180}"/>
              </a:ext>
            </a:extLst>
          </p:cNvPr>
          <p:cNvCxnSpPr>
            <a:cxnSpLocks/>
          </p:cNvCxnSpPr>
          <p:nvPr/>
        </p:nvCxnSpPr>
        <p:spPr>
          <a:xfrm flipV="1">
            <a:off x="2660057" y="3978857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9D4317-F2D3-4F72-0F96-604E9CA304B9}"/>
              </a:ext>
            </a:extLst>
          </p:cNvPr>
          <p:cNvCxnSpPr>
            <a:cxnSpLocks/>
          </p:cNvCxnSpPr>
          <p:nvPr/>
        </p:nvCxnSpPr>
        <p:spPr>
          <a:xfrm flipV="1">
            <a:off x="2660057" y="3992829"/>
            <a:ext cx="247952" cy="269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129513-1080-3B05-013E-1971E14FCE7E}"/>
              </a:ext>
            </a:extLst>
          </p:cNvPr>
          <p:cNvCxnSpPr>
            <a:cxnSpLocks/>
          </p:cNvCxnSpPr>
          <p:nvPr/>
        </p:nvCxnSpPr>
        <p:spPr>
          <a:xfrm>
            <a:off x="2908009" y="3992829"/>
            <a:ext cx="0" cy="25948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2E842E-EEE4-4D15-6F7F-7EA06616C35D}"/>
              </a:ext>
            </a:extLst>
          </p:cNvPr>
          <p:cNvCxnSpPr>
            <a:cxnSpLocks/>
          </p:cNvCxnSpPr>
          <p:nvPr/>
        </p:nvCxnSpPr>
        <p:spPr>
          <a:xfrm>
            <a:off x="2908009" y="4252316"/>
            <a:ext cx="180052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A3DFA71-1B8E-7A83-FD3B-54080F55E232}"/>
              </a:ext>
            </a:extLst>
          </p:cNvPr>
          <p:cNvCxnSpPr>
            <a:cxnSpLocks/>
          </p:cNvCxnSpPr>
          <p:nvPr/>
        </p:nvCxnSpPr>
        <p:spPr>
          <a:xfrm flipV="1">
            <a:off x="3088061" y="4160821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385EF78-E867-5A0E-C0C6-806620377EB0}"/>
              </a:ext>
            </a:extLst>
          </p:cNvPr>
          <p:cNvCxnSpPr>
            <a:cxnSpLocks/>
          </p:cNvCxnSpPr>
          <p:nvPr/>
        </p:nvCxnSpPr>
        <p:spPr>
          <a:xfrm>
            <a:off x="3088061" y="4160821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9377FA8-C546-B10E-D523-D14EA16FB118}"/>
              </a:ext>
            </a:extLst>
          </p:cNvPr>
          <p:cNvCxnSpPr>
            <a:cxnSpLocks/>
          </p:cNvCxnSpPr>
          <p:nvPr/>
        </p:nvCxnSpPr>
        <p:spPr>
          <a:xfrm flipV="1">
            <a:off x="3240461" y="4058427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498593-64A6-A107-BA4F-0AC433732508}"/>
              </a:ext>
            </a:extLst>
          </p:cNvPr>
          <p:cNvCxnSpPr>
            <a:cxnSpLocks/>
          </p:cNvCxnSpPr>
          <p:nvPr/>
        </p:nvCxnSpPr>
        <p:spPr>
          <a:xfrm>
            <a:off x="3240461" y="4058427"/>
            <a:ext cx="29619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D44182-81DC-1A20-1F9A-435515B843A0}"/>
              </a:ext>
            </a:extLst>
          </p:cNvPr>
          <p:cNvCxnSpPr>
            <a:cxnSpLocks/>
          </p:cNvCxnSpPr>
          <p:nvPr/>
        </p:nvCxnSpPr>
        <p:spPr>
          <a:xfrm flipV="1">
            <a:off x="3531189" y="4058427"/>
            <a:ext cx="2735" cy="132913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6B4BE0-9F3F-A8A7-B1A6-30D031195479}"/>
              </a:ext>
            </a:extLst>
          </p:cNvPr>
          <p:cNvCxnSpPr>
            <a:cxnSpLocks/>
          </p:cNvCxnSpPr>
          <p:nvPr/>
        </p:nvCxnSpPr>
        <p:spPr>
          <a:xfrm flipH="1">
            <a:off x="3531189" y="4173562"/>
            <a:ext cx="32160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5393C4D-E31C-7C92-F946-9A7323417191}"/>
              </a:ext>
            </a:extLst>
          </p:cNvPr>
          <p:cNvCxnSpPr>
            <a:cxnSpLocks/>
          </p:cNvCxnSpPr>
          <p:nvPr/>
        </p:nvCxnSpPr>
        <p:spPr>
          <a:xfrm flipV="1">
            <a:off x="3852795" y="4078255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C696E4-5FFB-C6AF-1C0B-3457884FEAA8}"/>
              </a:ext>
            </a:extLst>
          </p:cNvPr>
          <p:cNvCxnSpPr>
            <a:cxnSpLocks/>
          </p:cNvCxnSpPr>
          <p:nvPr/>
        </p:nvCxnSpPr>
        <p:spPr>
          <a:xfrm>
            <a:off x="3852795" y="4078255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4218EB-B161-16F9-E8AB-C69ABAF9AAFF}"/>
              </a:ext>
            </a:extLst>
          </p:cNvPr>
          <p:cNvCxnSpPr>
            <a:cxnSpLocks/>
          </p:cNvCxnSpPr>
          <p:nvPr/>
        </p:nvCxnSpPr>
        <p:spPr>
          <a:xfrm flipV="1">
            <a:off x="4005195" y="3975861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8330E7-CDB4-224D-C029-17B156AE3E86}"/>
              </a:ext>
            </a:extLst>
          </p:cNvPr>
          <p:cNvSpPr txBox="1"/>
          <p:nvPr/>
        </p:nvSpPr>
        <p:spPr>
          <a:xfrm>
            <a:off x="2611725" y="910111"/>
            <a:ext cx="61555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EDTR active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666EC5-3BBE-BC17-B690-AA19107A3664}"/>
              </a:ext>
            </a:extLst>
          </p:cNvPr>
          <p:cNvCxnSpPr>
            <a:cxnSpLocks/>
          </p:cNvCxnSpPr>
          <p:nvPr/>
        </p:nvCxnSpPr>
        <p:spPr>
          <a:xfrm>
            <a:off x="7688341" y="1518940"/>
            <a:ext cx="234813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4221E35-9336-8FCC-2E9A-F1F182EC6A09}"/>
              </a:ext>
            </a:extLst>
          </p:cNvPr>
          <p:cNvSpPr txBox="1"/>
          <p:nvPr/>
        </p:nvSpPr>
        <p:spPr>
          <a:xfrm>
            <a:off x="7997949" y="1457384"/>
            <a:ext cx="6219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EDTR request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8BC7A2-046E-11CD-B345-09F11CB613B7}"/>
              </a:ext>
            </a:extLst>
          </p:cNvPr>
          <p:cNvCxnSpPr>
            <a:cxnSpLocks/>
          </p:cNvCxnSpPr>
          <p:nvPr/>
        </p:nvCxnSpPr>
        <p:spPr>
          <a:xfrm>
            <a:off x="2238271" y="2245576"/>
            <a:ext cx="669738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D98E41-729E-4D52-289C-E50A42EFC4C2}"/>
              </a:ext>
            </a:extLst>
          </p:cNvPr>
          <p:cNvCxnSpPr>
            <a:cxnSpLocks/>
          </p:cNvCxnSpPr>
          <p:nvPr/>
        </p:nvCxnSpPr>
        <p:spPr>
          <a:xfrm flipV="1">
            <a:off x="2906393" y="1531292"/>
            <a:ext cx="377109" cy="726637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0BCBF8-5888-5516-3868-2BC5F04ED926}"/>
              </a:ext>
            </a:extLst>
          </p:cNvPr>
          <p:cNvCxnSpPr>
            <a:cxnSpLocks/>
          </p:cNvCxnSpPr>
          <p:nvPr/>
        </p:nvCxnSpPr>
        <p:spPr>
          <a:xfrm flipV="1">
            <a:off x="3283502" y="1535653"/>
            <a:ext cx="247687" cy="7941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0EC9198-7543-03B0-6773-C419FEE2A913}"/>
              </a:ext>
            </a:extLst>
          </p:cNvPr>
          <p:cNvSpPr txBox="1"/>
          <p:nvPr/>
        </p:nvSpPr>
        <p:spPr>
          <a:xfrm>
            <a:off x="5039228" y="1811765"/>
            <a:ext cx="410368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EDTR flag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active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then regen torque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shall not follow EDTR</a:t>
            </a:r>
            <a:b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nor increase its torque request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1521B6-506C-FFAD-DC01-926565201CC5}"/>
              </a:ext>
            </a:extLst>
          </p:cNvPr>
          <p:cNvCxnSpPr>
            <a:cxnSpLocks/>
          </p:cNvCxnSpPr>
          <p:nvPr/>
        </p:nvCxnSpPr>
        <p:spPr>
          <a:xfrm flipH="1" flipV="1">
            <a:off x="3557670" y="1580495"/>
            <a:ext cx="1441999" cy="436085"/>
          </a:xfrm>
          <a:prstGeom prst="straightConnector1">
            <a:avLst/>
          </a:prstGeom>
          <a:ln w="9525">
            <a:solidFill>
              <a:srgbClr val="E5233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3D1CCF-047B-677E-C73B-4C69582038EF}"/>
              </a:ext>
            </a:extLst>
          </p:cNvPr>
          <p:cNvCxnSpPr>
            <a:cxnSpLocks/>
          </p:cNvCxnSpPr>
          <p:nvPr/>
        </p:nvCxnSpPr>
        <p:spPr>
          <a:xfrm>
            <a:off x="3518111" y="1543594"/>
            <a:ext cx="39559" cy="258711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1121B60-38EA-A6A3-0CFE-A5FD76859994}"/>
              </a:ext>
            </a:extLst>
          </p:cNvPr>
          <p:cNvCxnSpPr>
            <a:cxnSpLocks/>
          </p:cNvCxnSpPr>
          <p:nvPr/>
        </p:nvCxnSpPr>
        <p:spPr>
          <a:xfrm>
            <a:off x="3557670" y="1802305"/>
            <a:ext cx="2112270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641300-8145-81E0-F556-FCC8D471E83F}"/>
              </a:ext>
            </a:extLst>
          </p:cNvPr>
          <p:cNvCxnSpPr>
            <a:cxnSpLocks/>
          </p:cNvCxnSpPr>
          <p:nvPr/>
        </p:nvCxnSpPr>
        <p:spPr>
          <a:xfrm flipV="1">
            <a:off x="2227495" y="1115099"/>
            <a:ext cx="0" cy="3839588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1FC0EE7-D84C-18B7-6F12-6160EC71AE2A}"/>
              </a:ext>
            </a:extLst>
          </p:cNvPr>
          <p:cNvCxnSpPr>
            <a:cxnSpLocks/>
          </p:cNvCxnSpPr>
          <p:nvPr/>
        </p:nvCxnSpPr>
        <p:spPr>
          <a:xfrm flipH="1" flipV="1">
            <a:off x="2906393" y="1022766"/>
            <a:ext cx="1616" cy="3916379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8EB983D-7F40-978E-49E4-10975D95B885}"/>
              </a:ext>
            </a:extLst>
          </p:cNvPr>
          <p:cNvSpPr txBox="1"/>
          <p:nvPr/>
        </p:nvSpPr>
        <p:spPr>
          <a:xfrm>
            <a:off x="7997949" y="1298375"/>
            <a:ext cx="11621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Decel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torque demand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482395A-C300-84F1-19D6-2B5B64C7BDF6}"/>
              </a:ext>
            </a:extLst>
          </p:cNvPr>
          <p:cNvCxnSpPr>
            <a:cxnSpLocks/>
          </p:cNvCxnSpPr>
          <p:nvPr/>
        </p:nvCxnSpPr>
        <p:spPr>
          <a:xfrm flipH="1" flipV="1">
            <a:off x="3518111" y="1048610"/>
            <a:ext cx="13078" cy="3910047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568D8DB-CC16-5EE7-2A3A-202D61624376}"/>
              </a:ext>
            </a:extLst>
          </p:cNvPr>
          <p:cNvSpPr txBox="1"/>
          <p:nvPr/>
        </p:nvSpPr>
        <p:spPr>
          <a:xfrm>
            <a:off x="3317556" y="903111"/>
            <a:ext cx="5017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EDTR exit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A6BD3B5-8FEC-23E3-C296-9AC2D93C0DAC}"/>
              </a:ext>
            </a:extLst>
          </p:cNvPr>
          <p:cNvCxnSpPr>
            <a:cxnSpLocks/>
          </p:cNvCxnSpPr>
          <p:nvPr/>
        </p:nvCxnSpPr>
        <p:spPr>
          <a:xfrm flipH="1" flipV="1">
            <a:off x="805033" y="1299765"/>
            <a:ext cx="1433238" cy="958164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CE120C-7929-6F78-A7EC-85198599BE28}"/>
              </a:ext>
            </a:extLst>
          </p:cNvPr>
          <p:cNvCxnSpPr>
            <a:cxnSpLocks/>
          </p:cNvCxnSpPr>
          <p:nvPr/>
        </p:nvCxnSpPr>
        <p:spPr>
          <a:xfrm flipV="1">
            <a:off x="784460" y="3570900"/>
            <a:ext cx="1466499" cy="117755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9CB541-3F62-816D-7AD3-807688EDA660}"/>
              </a:ext>
            </a:extLst>
          </p:cNvPr>
          <p:cNvCxnSpPr>
            <a:cxnSpLocks/>
          </p:cNvCxnSpPr>
          <p:nvPr/>
        </p:nvCxnSpPr>
        <p:spPr>
          <a:xfrm>
            <a:off x="2232680" y="3587128"/>
            <a:ext cx="1694329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21F980-C41F-3808-FF05-5EF8A522381C}"/>
              </a:ext>
            </a:extLst>
          </p:cNvPr>
          <p:cNvSpPr txBox="1"/>
          <p:nvPr/>
        </p:nvSpPr>
        <p:spPr>
          <a:xfrm>
            <a:off x="3841574" y="3617629"/>
            <a:ext cx="40107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flag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active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the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friction torque request should freeze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9979896-D7FF-2332-FB87-EF843896CC17}"/>
              </a:ext>
            </a:extLst>
          </p:cNvPr>
          <p:cNvCxnSpPr>
            <a:cxnSpLocks/>
          </p:cNvCxnSpPr>
          <p:nvPr/>
        </p:nvCxnSpPr>
        <p:spPr>
          <a:xfrm>
            <a:off x="7672995" y="3317533"/>
            <a:ext cx="227208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FE83ACF-30AE-F020-8210-EF7978FC1A38}"/>
              </a:ext>
            </a:extLst>
          </p:cNvPr>
          <p:cNvSpPr txBox="1"/>
          <p:nvPr/>
        </p:nvSpPr>
        <p:spPr>
          <a:xfrm>
            <a:off x="7971769" y="3255089"/>
            <a:ext cx="10435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 kern="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friction torque request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589D61-ACA3-550E-EF67-5B7C8563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02386-A3FA-6A46-CB5B-88A07287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7</a:t>
            </a:fld>
            <a:endParaRPr lang="de-DE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7EDB2B-9F47-0A04-991E-12A2648E5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299910"/>
              </p:ext>
            </p:extLst>
          </p:nvPr>
        </p:nvGraphicFramePr>
        <p:xfrm>
          <a:off x="270726" y="359994"/>
          <a:ext cx="8423275" cy="596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493">
                  <a:extLst>
                    <a:ext uri="{9D8B030D-6E8A-4147-A177-3AD203B41FA5}">
                      <a16:colId xmlns:a16="http://schemas.microsoft.com/office/drawing/2014/main" val="1070298058"/>
                    </a:ext>
                  </a:extLst>
                </a:gridCol>
                <a:gridCol w="2890153">
                  <a:extLst>
                    <a:ext uri="{9D8B030D-6E8A-4147-A177-3AD203B41FA5}">
                      <a16:colId xmlns:a16="http://schemas.microsoft.com/office/drawing/2014/main" val="4222700373"/>
                    </a:ext>
                  </a:extLst>
                </a:gridCol>
                <a:gridCol w="2186629">
                  <a:extLst>
                    <a:ext uri="{9D8B030D-6E8A-4147-A177-3AD203B41FA5}">
                      <a16:colId xmlns:a16="http://schemas.microsoft.com/office/drawing/2014/main" val="4079676812"/>
                    </a:ext>
                  </a:extLst>
                </a:gridCol>
              </a:tblGrid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PrDrvShftIncTorqRqst_FD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Primary Drive Shaft Increase Torque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BrkDriveControl.IncreaseTqRqstFrontAxle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2934857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PrDrvShftIncTorqRqstVal_FD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Primary Drive Shaft  Increase Torque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BrkDriveControl.IncreaseTqRqstValFrontAxle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195409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A6B301A-F7B4-5AC6-8145-1D047576D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0966"/>
              </p:ext>
            </p:extLst>
          </p:nvPr>
        </p:nvGraphicFramePr>
        <p:xfrm>
          <a:off x="270725" y="1044806"/>
          <a:ext cx="8423275" cy="596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493">
                  <a:extLst>
                    <a:ext uri="{9D8B030D-6E8A-4147-A177-3AD203B41FA5}">
                      <a16:colId xmlns:a16="http://schemas.microsoft.com/office/drawing/2014/main" val="3062961229"/>
                    </a:ext>
                  </a:extLst>
                </a:gridCol>
                <a:gridCol w="2890153">
                  <a:extLst>
                    <a:ext uri="{9D8B030D-6E8A-4147-A177-3AD203B41FA5}">
                      <a16:colId xmlns:a16="http://schemas.microsoft.com/office/drawing/2014/main" val="2793258461"/>
                    </a:ext>
                  </a:extLst>
                </a:gridCol>
                <a:gridCol w="2186629">
                  <a:extLst>
                    <a:ext uri="{9D8B030D-6E8A-4147-A177-3AD203B41FA5}">
                      <a16:colId xmlns:a16="http://schemas.microsoft.com/office/drawing/2014/main" val="1438468993"/>
                    </a:ext>
                  </a:extLst>
                </a:gridCol>
              </a:tblGrid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ThScdDrvShftIncTorqRqst_FD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The Second Drive Shaft Increase Torque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BrkDriveControl.IncreaseTqRqstRearAxle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90875692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ThScdDrvShftIncTorqRqstVal_FD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The Second Drive Shaft  Increase Torque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BrkDriveControl.IncreaseTqRqstValRearAxle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300746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87699B7-1D90-4F1A-FFD6-998076C474B1}"/>
              </a:ext>
            </a:extLst>
          </p:cNvPr>
          <p:cNvSpPr txBox="1"/>
          <p:nvPr/>
        </p:nvSpPr>
        <p:spPr>
          <a:xfrm>
            <a:off x="270725" y="175328"/>
            <a:ext cx="219165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EHBi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lang="zh-CN" altLang="en-US" sz="1200" kern="0">
                <a:solidFill>
                  <a:srgbClr val="000000"/>
                </a:solidFill>
              </a:rPr>
              <a:t>只对应双电机车型：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EDEB52-AA73-F68E-3559-3CB564F2EC10}"/>
              </a:ext>
            </a:extLst>
          </p:cNvPr>
          <p:cNvSpPr txBox="1"/>
          <p:nvPr/>
        </p:nvSpPr>
        <p:spPr>
          <a:xfrm>
            <a:off x="270725" y="1855933"/>
            <a:ext cx="219165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EMB </a:t>
            </a:r>
            <a:r>
              <a:rPr lang="zh-CN" altLang="en-US" sz="1200" kern="0">
                <a:solidFill>
                  <a:srgbClr val="000000"/>
                </a:solidFill>
              </a:rPr>
              <a:t>只对应</a:t>
            </a:r>
            <a:r>
              <a:rPr lang="en-US" altLang="zh-CN" sz="1200" kern="0">
                <a:solidFill>
                  <a:srgbClr val="000000"/>
                </a:solidFill>
              </a:rPr>
              <a:t>4</a:t>
            </a:r>
            <a:r>
              <a:rPr lang="zh-CN" altLang="en-US" sz="1200" kern="0">
                <a:solidFill>
                  <a:srgbClr val="000000"/>
                </a:solidFill>
              </a:rPr>
              <a:t>电机车型：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66C5573-F4DC-5228-3C78-CDB648F20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79526"/>
              </p:ext>
            </p:extLst>
          </p:nvPr>
        </p:nvGraphicFramePr>
        <p:xfrm>
          <a:off x="270724" y="2084589"/>
          <a:ext cx="8423275" cy="1220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493">
                  <a:extLst>
                    <a:ext uri="{9D8B030D-6E8A-4147-A177-3AD203B41FA5}">
                      <a16:colId xmlns:a16="http://schemas.microsoft.com/office/drawing/2014/main" val="775806113"/>
                    </a:ext>
                  </a:extLst>
                </a:gridCol>
                <a:gridCol w="2890153">
                  <a:extLst>
                    <a:ext uri="{9D8B030D-6E8A-4147-A177-3AD203B41FA5}">
                      <a16:colId xmlns:a16="http://schemas.microsoft.com/office/drawing/2014/main" val="3809160155"/>
                    </a:ext>
                  </a:extLst>
                </a:gridCol>
                <a:gridCol w="2186629">
                  <a:extLst>
                    <a:ext uri="{9D8B030D-6E8A-4147-A177-3AD203B41FA5}">
                      <a16:colId xmlns:a16="http://schemas.microsoft.com/office/drawing/2014/main" val="508609174"/>
                    </a:ext>
                  </a:extLst>
                </a:gridCol>
              </a:tblGrid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FrntLeDrvMotorIncTorqRqst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Front left motor Increase Torque 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BrkDriveControl.IncreaseTqRqstFrontLeft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5562226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FrntRiDrvMotorncTorqRqst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Front Right motor Increase Torque 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BrkDriveControl.IncreaseTqRqstFrontRight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1895018"/>
                  </a:ext>
                </a:extLst>
              </a:tr>
              <a:tr h="3123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ReLeDrMotorIncTorqRqst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Rear left motor Increase Torque 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BrkDriveControl.IncreaseTqRqstRearLeft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109632"/>
                  </a:ext>
                </a:extLst>
              </a:tr>
              <a:tr h="3123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ReRiDrvMotorIncTorqRqst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Rear Right motor Increase Torque  Request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BrkDriveControl.IncreaseTqRqstRearRight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455626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A2D3F4D-0283-EA60-7B64-F8F59D069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29177"/>
              </p:ext>
            </p:extLst>
          </p:nvPr>
        </p:nvGraphicFramePr>
        <p:xfrm>
          <a:off x="270723" y="3349289"/>
          <a:ext cx="8423275" cy="130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493">
                  <a:extLst>
                    <a:ext uri="{9D8B030D-6E8A-4147-A177-3AD203B41FA5}">
                      <a16:colId xmlns:a16="http://schemas.microsoft.com/office/drawing/2014/main" val="3700934154"/>
                    </a:ext>
                  </a:extLst>
                </a:gridCol>
                <a:gridCol w="2890153">
                  <a:extLst>
                    <a:ext uri="{9D8B030D-6E8A-4147-A177-3AD203B41FA5}">
                      <a16:colId xmlns:a16="http://schemas.microsoft.com/office/drawing/2014/main" val="60275604"/>
                    </a:ext>
                  </a:extLst>
                </a:gridCol>
                <a:gridCol w="2186629">
                  <a:extLst>
                    <a:ext uri="{9D8B030D-6E8A-4147-A177-3AD203B41FA5}">
                      <a16:colId xmlns:a16="http://schemas.microsoft.com/office/drawing/2014/main" val="2075583034"/>
                    </a:ext>
                  </a:extLst>
                </a:gridCol>
              </a:tblGrid>
              <a:tr h="326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FrntLeDrvMotorIncTorqRqstVal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Front left motor Increase Torque 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BrkDriveControl.IncreaseTqRqstValFrontLeft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3137268"/>
                  </a:ext>
                </a:extLst>
              </a:tr>
              <a:tr h="326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FrntRiDrvMotorncTorqRqstVal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Front Right motor Increase Torque 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BrkDriveControl.IncreaseTqRqstValFrontRight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5918721"/>
                  </a:ext>
                </a:extLst>
              </a:tr>
              <a:tr h="326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ReLeDrMotorIncTorqRqstVal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Rear left motor Increase Torque 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BrkDriveControl.IncreaseTqRqstValRearLeft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2213299"/>
                  </a:ext>
                </a:extLst>
              </a:tr>
              <a:tr h="326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ReRiDrvMotorIncTorqRqstVal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u="none" strike="noStrike">
                          <a:effectLst/>
                        </a:rPr>
                        <a:t>Rear Right motor Increase Torque  Request Value</a:t>
                      </a:r>
                      <a:endParaRPr 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err="1">
                          <a:effectLst/>
                        </a:rPr>
                        <a:t>BrkDriveControl.IncreaseTqRqstValRearRight</a:t>
                      </a:r>
                      <a:endParaRPr lang="en-US" altLang="zh-CN" sz="8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212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5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0FB2-F966-1934-890E-4A586971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#3 – HDC Regen active during ABS, ABS inhibits regen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C8026-7635-98D6-897E-E0002CC1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1AC73-8D94-D47E-155D-2A57A036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8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6B70FC-0297-23F6-37A8-6F72D9D031B9}"/>
              </a:ext>
            </a:extLst>
          </p:cNvPr>
          <p:cNvCxnSpPr>
            <a:cxnSpLocks/>
          </p:cNvCxnSpPr>
          <p:nvPr/>
        </p:nvCxnSpPr>
        <p:spPr>
          <a:xfrm>
            <a:off x="799412" y="1020942"/>
            <a:ext cx="0" cy="141947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85FED8-BCF5-C6A8-67A0-0817B4A2D0A7}"/>
              </a:ext>
            </a:extLst>
          </p:cNvPr>
          <p:cNvCxnSpPr>
            <a:cxnSpLocks/>
          </p:cNvCxnSpPr>
          <p:nvPr/>
        </p:nvCxnSpPr>
        <p:spPr>
          <a:xfrm>
            <a:off x="582739" y="1199444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D5FBAE-A40A-4472-7C2C-0E5E92D70DF6}"/>
              </a:ext>
            </a:extLst>
          </p:cNvPr>
          <p:cNvSpPr txBox="1"/>
          <p:nvPr/>
        </p:nvSpPr>
        <p:spPr>
          <a:xfrm>
            <a:off x="6473254" y="1113275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5EE0A-A0A3-B138-86B2-D6E55867D5C5}"/>
              </a:ext>
            </a:extLst>
          </p:cNvPr>
          <p:cNvSpPr txBox="1"/>
          <p:nvPr/>
        </p:nvSpPr>
        <p:spPr>
          <a:xfrm>
            <a:off x="358586" y="2434252"/>
            <a:ext cx="881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Torque (Nm)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6ECB4B-3513-33F9-DFE1-A603D2AA1F0B}"/>
              </a:ext>
            </a:extLst>
          </p:cNvPr>
          <p:cNvCxnSpPr>
            <a:cxnSpLocks/>
          </p:cNvCxnSpPr>
          <p:nvPr/>
        </p:nvCxnSpPr>
        <p:spPr>
          <a:xfrm flipH="1">
            <a:off x="780825" y="3230719"/>
            <a:ext cx="18587" cy="163058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B5BE9E-39EB-DFF8-C1E9-45FE7E29CA5E}"/>
              </a:ext>
            </a:extLst>
          </p:cNvPr>
          <p:cNvCxnSpPr>
            <a:cxnSpLocks/>
          </p:cNvCxnSpPr>
          <p:nvPr/>
        </p:nvCxnSpPr>
        <p:spPr>
          <a:xfrm>
            <a:off x="564152" y="4756804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906F03-7B9A-0D74-B403-28DD5156816F}"/>
              </a:ext>
            </a:extLst>
          </p:cNvPr>
          <p:cNvSpPr txBox="1"/>
          <p:nvPr/>
        </p:nvSpPr>
        <p:spPr>
          <a:xfrm>
            <a:off x="6454667" y="4664471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A75031-2B6E-864F-355E-C0ADF94B85C5}"/>
              </a:ext>
            </a:extLst>
          </p:cNvPr>
          <p:cNvSpPr txBox="1"/>
          <p:nvPr/>
        </p:nvSpPr>
        <p:spPr>
          <a:xfrm>
            <a:off x="358586" y="2991740"/>
            <a:ext cx="9730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Pressure (bar)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261BEB-9FCE-CEE9-B337-DC7A8153C458}"/>
              </a:ext>
            </a:extLst>
          </p:cNvPr>
          <p:cNvCxnSpPr>
            <a:cxnSpLocks/>
          </p:cNvCxnSpPr>
          <p:nvPr/>
        </p:nvCxnSpPr>
        <p:spPr>
          <a:xfrm>
            <a:off x="799412" y="1199444"/>
            <a:ext cx="1672752" cy="12838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2D9209-D8B3-A39B-6A66-D58517651F04}"/>
              </a:ext>
            </a:extLst>
          </p:cNvPr>
          <p:cNvCxnSpPr>
            <a:cxnSpLocks/>
          </p:cNvCxnSpPr>
          <p:nvPr/>
        </p:nvCxnSpPr>
        <p:spPr>
          <a:xfrm>
            <a:off x="2472164" y="2471380"/>
            <a:ext cx="291665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953987-8BB6-17FD-3F8E-4D023D9595EE}"/>
              </a:ext>
            </a:extLst>
          </p:cNvPr>
          <p:cNvCxnSpPr>
            <a:cxnSpLocks/>
          </p:cNvCxnSpPr>
          <p:nvPr/>
        </p:nvCxnSpPr>
        <p:spPr>
          <a:xfrm flipV="1">
            <a:off x="2221874" y="1020942"/>
            <a:ext cx="0" cy="4110423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3844B4-9DB2-E1CF-4BB2-42EDEBDD334E}"/>
              </a:ext>
            </a:extLst>
          </p:cNvPr>
          <p:cNvCxnSpPr>
            <a:cxnSpLocks/>
          </p:cNvCxnSpPr>
          <p:nvPr/>
        </p:nvCxnSpPr>
        <p:spPr>
          <a:xfrm flipV="1">
            <a:off x="780825" y="3993702"/>
            <a:ext cx="1441049" cy="763102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A38270-81A8-1010-130D-37620EC77838}"/>
              </a:ext>
            </a:extLst>
          </p:cNvPr>
          <p:cNvCxnSpPr>
            <a:cxnSpLocks/>
          </p:cNvCxnSpPr>
          <p:nvPr/>
        </p:nvCxnSpPr>
        <p:spPr>
          <a:xfrm>
            <a:off x="7682720" y="1221227"/>
            <a:ext cx="23481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CC94A4-4844-3C44-2840-A257B12221EC}"/>
              </a:ext>
            </a:extLst>
          </p:cNvPr>
          <p:cNvCxnSpPr>
            <a:cxnSpLocks/>
          </p:cNvCxnSpPr>
          <p:nvPr/>
        </p:nvCxnSpPr>
        <p:spPr>
          <a:xfrm>
            <a:off x="7682720" y="1370772"/>
            <a:ext cx="23481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FCD7A7-2602-1253-6291-0017495D5EE6}"/>
              </a:ext>
            </a:extLst>
          </p:cNvPr>
          <p:cNvSpPr txBox="1"/>
          <p:nvPr/>
        </p:nvSpPr>
        <p:spPr>
          <a:xfrm>
            <a:off x="7992328" y="1143877"/>
            <a:ext cx="65883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Regen request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EE5FC-41CE-6B9F-893E-0948328E5CB2}"/>
              </a:ext>
            </a:extLst>
          </p:cNvPr>
          <p:cNvSpPr txBox="1"/>
          <p:nvPr/>
        </p:nvSpPr>
        <p:spPr>
          <a:xfrm>
            <a:off x="7992328" y="1297941"/>
            <a:ext cx="11621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Decel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torque demand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CE3B5C-0E32-7391-9729-A3841ED7D897}"/>
              </a:ext>
            </a:extLst>
          </p:cNvPr>
          <p:cNvCxnSpPr>
            <a:cxnSpLocks/>
          </p:cNvCxnSpPr>
          <p:nvPr/>
        </p:nvCxnSpPr>
        <p:spPr>
          <a:xfrm>
            <a:off x="7685530" y="3517072"/>
            <a:ext cx="234813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A64DF1E-FB29-2722-3331-9E26E5158793}"/>
              </a:ext>
            </a:extLst>
          </p:cNvPr>
          <p:cNvSpPr txBox="1"/>
          <p:nvPr/>
        </p:nvSpPr>
        <p:spPr>
          <a:xfrm>
            <a:off x="7995138" y="3444241"/>
            <a:ext cx="62837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zh-CN" sz="800" kern="0">
                <a:solidFill>
                  <a:srgbClr val="000000"/>
                </a:solidFill>
              </a:rPr>
              <a:t>pressure Req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AF4571-A120-EB90-BE49-E31F6E426378}"/>
              </a:ext>
            </a:extLst>
          </p:cNvPr>
          <p:cNvSpPr txBox="1"/>
          <p:nvPr/>
        </p:nvSpPr>
        <p:spPr>
          <a:xfrm>
            <a:off x="1938364" y="881287"/>
            <a:ext cx="53380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active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3B6243-6C6A-D80F-32AB-265FB2D18A07}"/>
              </a:ext>
            </a:extLst>
          </p:cNvPr>
          <p:cNvCxnSpPr>
            <a:cxnSpLocks/>
          </p:cNvCxnSpPr>
          <p:nvPr/>
        </p:nvCxnSpPr>
        <p:spPr>
          <a:xfrm>
            <a:off x="2195283" y="3993702"/>
            <a:ext cx="19456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0EEF10-8C3B-60F9-3964-3783C1013411}"/>
              </a:ext>
            </a:extLst>
          </p:cNvPr>
          <p:cNvCxnSpPr>
            <a:cxnSpLocks/>
          </p:cNvCxnSpPr>
          <p:nvPr/>
        </p:nvCxnSpPr>
        <p:spPr>
          <a:xfrm>
            <a:off x="799412" y="1199444"/>
            <a:ext cx="1433238" cy="6010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6E215E-80B7-3A69-CB67-C0D3B8F08C4C}"/>
              </a:ext>
            </a:extLst>
          </p:cNvPr>
          <p:cNvCxnSpPr>
            <a:cxnSpLocks/>
          </p:cNvCxnSpPr>
          <p:nvPr/>
        </p:nvCxnSpPr>
        <p:spPr>
          <a:xfrm>
            <a:off x="2232650" y="1800481"/>
            <a:ext cx="66973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17B6D6-FBED-059D-8FC2-0F8C613DA075}"/>
              </a:ext>
            </a:extLst>
          </p:cNvPr>
          <p:cNvCxnSpPr>
            <a:cxnSpLocks/>
          </p:cNvCxnSpPr>
          <p:nvPr/>
        </p:nvCxnSpPr>
        <p:spPr>
          <a:xfrm flipV="1">
            <a:off x="2902388" y="1186889"/>
            <a:ext cx="160508" cy="6135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8538BE-FFCA-F7F7-25AE-846AAB9932BA}"/>
              </a:ext>
            </a:extLst>
          </p:cNvPr>
          <p:cNvCxnSpPr>
            <a:cxnSpLocks/>
          </p:cNvCxnSpPr>
          <p:nvPr/>
        </p:nvCxnSpPr>
        <p:spPr>
          <a:xfrm>
            <a:off x="2389849" y="3977033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9579BE-0AC5-8807-A6BB-D5547CEABCFD}"/>
              </a:ext>
            </a:extLst>
          </p:cNvPr>
          <p:cNvCxnSpPr>
            <a:cxnSpLocks/>
          </p:cNvCxnSpPr>
          <p:nvPr/>
        </p:nvCxnSpPr>
        <p:spPr>
          <a:xfrm>
            <a:off x="2389849" y="4087560"/>
            <a:ext cx="26458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F2AA99-D537-F63A-B5A4-774717BAF9DC}"/>
              </a:ext>
            </a:extLst>
          </p:cNvPr>
          <p:cNvCxnSpPr>
            <a:cxnSpLocks/>
          </p:cNvCxnSpPr>
          <p:nvPr/>
        </p:nvCxnSpPr>
        <p:spPr>
          <a:xfrm flipV="1">
            <a:off x="2654436" y="3977033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966169B-BDEF-5630-93A2-1F3A00339149}"/>
              </a:ext>
            </a:extLst>
          </p:cNvPr>
          <p:cNvCxnSpPr>
            <a:cxnSpLocks/>
          </p:cNvCxnSpPr>
          <p:nvPr/>
        </p:nvCxnSpPr>
        <p:spPr>
          <a:xfrm flipV="1">
            <a:off x="2902388" y="1020942"/>
            <a:ext cx="0" cy="4094881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A312318-D498-4E24-A355-ADB45184413A}"/>
              </a:ext>
            </a:extLst>
          </p:cNvPr>
          <p:cNvCxnSpPr>
            <a:cxnSpLocks/>
          </p:cNvCxnSpPr>
          <p:nvPr/>
        </p:nvCxnSpPr>
        <p:spPr>
          <a:xfrm flipV="1">
            <a:off x="2654436" y="3991005"/>
            <a:ext cx="247952" cy="269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6688E5-F05A-D2AB-AB16-8AB348B63989}"/>
              </a:ext>
            </a:extLst>
          </p:cNvPr>
          <p:cNvCxnSpPr>
            <a:cxnSpLocks/>
          </p:cNvCxnSpPr>
          <p:nvPr/>
        </p:nvCxnSpPr>
        <p:spPr>
          <a:xfrm>
            <a:off x="2902388" y="3991005"/>
            <a:ext cx="0" cy="25948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77664B7-8ADD-0055-1E8B-F951A88FFCC3}"/>
              </a:ext>
            </a:extLst>
          </p:cNvPr>
          <p:cNvCxnSpPr>
            <a:cxnSpLocks/>
          </p:cNvCxnSpPr>
          <p:nvPr/>
        </p:nvCxnSpPr>
        <p:spPr>
          <a:xfrm>
            <a:off x="2902388" y="4250492"/>
            <a:ext cx="180052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71BE58-7075-90F2-33D1-01932BD80F8F}"/>
              </a:ext>
            </a:extLst>
          </p:cNvPr>
          <p:cNvCxnSpPr>
            <a:cxnSpLocks/>
          </p:cNvCxnSpPr>
          <p:nvPr/>
        </p:nvCxnSpPr>
        <p:spPr>
          <a:xfrm flipV="1">
            <a:off x="3082440" y="4158997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F7C42E-23F7-DFB3-F6BC-91703375ABB5}"/>
              </a:ext>
            </a:extLst>
          </p:cNvPr>
          <p:cNvCxnSpPr>
            <a:cxnSpLocks/>
          </p:cNvCxnSpPr>
          <p:nvPr/>
        </p:nvCxnSpPr>
        <p:spPr>
          <a:xfrm>
            <a:off x="3082440" y="4158997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AC8423-8BE9-0A68-FB12-0E0A107F75F2}"/>
              </a:ext>
            </a:extLst>
          </p:cNvPr>
          <p:cNvCxnSpPr>
            <a:cxnSpLocks/>
          </p:cNvCxnSpPr>
          <p:nvPr/>
        </p:nvCxnSpPr>
        <p:spPr>
          <a:xfrm flipV="1">
            <a:off x="3234840" y="4056603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727550C-100B-E47C-DAA7-1AA256886746}"/>
              </a:ext>
            </a:extLst>
          </p:cNvPr>
          <p:cNvCxnSpPr>
            <a:cxnSpLocks/>
          </p:cNvCxnSpPr>
          <p:nvPr/>
        </p:nvCxnSpPr>
        <p:spPr>
          <a:xfrm>
            <a:off x="3234840" y="4056603"/>
            <a:ext cx="29619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61F44BC-B9B5-489F-684E-4B9BC5B3237F}"/>
              </a:ext>
            </a:extLst>
          </p:cNvPr>
          <p:cNvCxnSpPr>
            <a:cxnSpLocks/>
          </p:cNvCxnSpPr>
          <p:nvPr/>
        </p:nvCxnSpPr>
        <p:spPr>
          <a:xfrm flipH="1" flipV="1">
            <a:off x="3528303" y="4056603"/>
            <a:ext cx="2735" cy="37147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1217F2-01EB-57AF-DB26-C158871F1C3F}"/>
              </a:ext>
            </a:extLst>
          </p:cNvPr>
          <p:cNvCxnSpPr>
            <a:cxnSpLocks/>
          </p:cNvCxnSpPr>
          <p:nvPr/>
        </p:nvCxnSpPr>
        <p:spPr>
          <a:xfrm flipH="1">
            <a:off x="3525568" y="4406704"/>
            <a:ext cx="32160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97AA064-D491-C110-01EF-9E8EAFC2521D}"/>
              </a:ext>
            </a:extLst>
          </p:cNvPr>
          <p:cNvCxnSpPr>
            <a:cxnSpLocks/>
          </p:cNvCxnSpPr>
          <p:nvPr/>
        </p:nvCxnSpPr>
        <p:spPr>
          <a:xfrm flipV="1">
            <a:off x="3847174" y="4311397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E74166-91A7-D0D2-FDAA-CBB33C8FCBCD}"/>
              </a:ext>
            </a:extLst>
          </p:cNvPr>
          <p:cNvCxnSpPr>
            <a:cxnSpLocks/>
          </p:cNvCxnSpPr>
          <p:nvPr/>
        </p:nvCxnSpPr>
        <p:spPr>
          <a:xfrm>
            <a:off x="3847174" y="4311397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C6CAF66-18A4-F9B4-B100-5E7A919F031E}"/>
              </a:ext>
            </a:extLst>
          </p:cNvPr>
          <p:cNvCxnSpPr>
            <a:cxnSpLocks/>
          </p:cNvCxnSpPr>
          <p:nvPr/>
        </p:nvCxnSpPr>
        <p:spPr>
          <a:xfrm flipV="1">
            <a:off x="3999574" y="4209003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6BD1685-6FB6-C390-83D5-39AD2B60B5F1}"/>
              </a:ext>
            </a:extLst>
          </p:cNvPr>
          <p:cNvSpPr txBox="1"/>
          <p:nvPr/>
        </p:nvSpPr>
        <p:spPr>
          <a:xfrm>
            <a:off x="2633528" y="861952"/>
            <a:ext cx="100348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prohibits regen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247F8E-79BE-790E-2EFA-8DC2D4C7B0FA}"/>
              </a:ext>
            </a:extLst>
          </p:cNvPr>
          <p:cNvSpPr txBox="1"/>
          <p:nvPr/>
        </p:nvSpPr>
        <p:spPr>
          <a:xfrm>
            <a:off x="4563998" y="1481892"/>
            <a:ext cx="31531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Once regen is inhibited, it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shall no longer 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 allowed until HDC state transfer to Inactive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E85600F-839D-F77E-759B-3926DA76D1C6}"/>
              </a:ext>
            </a:extLst>
          </p:cNvPr>
          <p:cNvCxnSpPr>
            <a:cxnSpLocks/>
          </p:cNvCxnSpPr>
          <p:nvPr/>
        </p:nvCxnSpPr>
        <p:spPr>
          <a:xfrm flipH="1" flipV="1">
            <a:off x="3082440" y="1250622"/>
            <a:ext cx="1441999" cy="436085"/>
          </a:xfrm>
          <a:prstGeom prst="straightConnector1">
            <a:avLst/>
          </a:prstGeom>
          <a:ln w="9525">
            <a:solidFill>
              <a:srgbClr val="E5233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63CC57-9ACA-1A4A-DD34-87CA9EDB9CB1}"/>
              </a:ext>
            </a:extLst>
          </p:cNvPr>
          <p:cNvCxnSpPr>
            <a:cxnSpLocks/>
          </p:cNvCxnSpPr>
          <p:nvPr/>
        </p:nvCxnSpPr>
        <p:spPr>
          <a:xfrm flipV="1">
            <a:off x="766151" y="3578676"/>
            <a:ext cx="1466499" cy="117755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25C223-03DF-E155-C045-8262B178EEEA}"/>
              </a:ext>
            </a:extLst>
          </p:cNvPr>
          <p:cNvCxnSpPr>
            <a:cxnSpLocks/>
          </p:cNvCxnSpPr>
          <p:nvPr/>
        </p:nvCxnSpPr>
        <p:spPr>
          <a:xfrm>
            <a:off x="2214371" y="3594904"/>
            <a:ext cx="1694329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D79D9B-307A-0485-FA98-E72DF07D2F6A}"/>
              </a:ext>
            </a:extLst>
          </p:cNvPr>
          <p:cNvSpPr txBox="1"/>
          <p:nvPr/>
        </p:nvSpPr>
        <p:spPr>
          <a:xfrm>
            <a:off x="3847174" y="3677621"/>
            <a:ext cx="40107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flag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active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the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friction torque request should freeze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616916-74FB-BF3E-C93A-354D6CA31435}"/>
              </a:ext>
            </a:extLst>
          </p:cNvPr>
          <p:cNvCxnSpPr>
            <a:cxnSpLocks/>
          </p:cNvCxnSpPr>
          <p:nvPr/>
        </p:nvCxnSpPr>
        <p:spPr>
          <a:xfrm>
            <a:off x="7672995" y="3291065"/>
            <a:ext cx="227208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9DBB3A5-6AB5-3956-A43E-0685A033C900}"/>
              </a:ext>
            </a:extLst>
          </p:cNvPr>
          <p:cNvSpPr txBox="1"/>
          <p:nvPr/>
        </p:nvSpPr>
        <p:spPr>
          <a:xfrm>
            <a:off x="7971769" y="3228621"/>
            <a:ext cx="10435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 kern="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friction torque request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65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DAF5-E500-7489-B831-7D4062B8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69D9-35AF-1854-F13A-23D5265F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#4 – HDC Regen active during ABS, ABS inhibits regen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3AA65-4E0E-D313-D267-FB1A2C22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5FEF-6DF5-57BF-78AF-AB935483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9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785406-CFA4-FE45-E453-30273B7D656F}"/>
              </a:ext>
            </a:extLst>
          </p:cNvPr>
          <p:cNvCxnSpPr>
            <a:cxnSpLocks/>
          </p:cNvCxnSpPr>
          <p:nvPr/>
        </p:nvCxnSpPr>
        <p:spPr>
          <a:xfrm>
            <a:off x="799412" y="1020942"/>
            <a:ext cx="0" cy="141947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6FF93A-6DB5-76F7-D569-3021BB067671}"/>
              </a:ext>
            </a:extLst>
          </p:cNvPr>
          <p:cNvCxnSpPr>
            <a:cxnSpLocks/>
          </p:cNvCxnSpPr>
          <p:nvPr/>
        </p:nvCxnSpPr>
        <p:spPr>
          <a:xfrm>
            <a:off x="582739" y="1199444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B13D0D-5311-C888-4602-C77F1AEA374D}"/>
              </a:ext>
            </a:extLst>
          </p:cNvPr>
          <p:cNvSpPr txBox="1"/>
          <p:nvPr/>
        </p:nvSpPr>
        <p:spPr>
          <a:xfrm>
            <a:off x="6473254" y="1113275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2249C-5056-CDB2-988E-17FCAD8A8FA8}"/>
              </a:ext>
            </a:extLst>
          </p:cNvPr>
          <p:cNvSpPr txBox="1"/>
          <p:nvPr/>
        </p:nvSpPr>
        <p:spPr>
          <a:xfrm>
            <a:off x="358586" y="2434252"/>
            <a:ext cx="881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Torque (Nm)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1CCA61-4915-5F57-DC54-1142CA6FF859}"/>
              </a:ext>
            </a:extLst>
          </p:cNvPr>
          <p:cNvCxnSpPr>
            <a:cxnSpLocks/>
          </p:cNvCxnSpPr>
          <p:nvPr/>
        </p:nvCxnSpPr>
        <p:spPr>
          <a:xfrm flipH="1">
            <a:off x="780825" y="3230719"/>
            <a:ext cx="18587" cy="163058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A09A76-5792-0317-9206-BB2C20D43A8B}"/>
              </a:ext>
            </a:extLst>
          </p:cNvPr>
          <p:cNvCxnSpPr>
            <a:cxnSpLocks/>
          </p:cNvCxnSpPr>
          <p:nvPr/>
        </p:nvCxnSpPr>
        <p:spPr>
          <a:xfrm>
            <a:off x="564152" y="4756804"/>
            <a:ext cx="579990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A614B2-96FD-57F7-6222-50598DA5D9BF}"/>
              </a:ext>
            </a:extLst>
          </p:cNvPr>
          <p:cNvSpPr txBox="1"/>
          <p:nvPr/>
        </p:nvSpPr>
        <p:spPr>
          <a:xfrm>
            <a:off x="6454667" y="4664471"/>
            <a:ext cx="5241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Time(s)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D36A5-A55E-1F0D-8D4D-A0068BA4A37C}"/>
              </a:ext>
            </a:extLst>
          </p:cNvPr>
          <p:cNvSpPr txBox="1"/>
          <p:nvPr/>
        </p:nvSpPr>
        <p:spPr>
          <a:xfrm>
            <a:off x="358586" y="2991740"/>
            <a:ext cx="9730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Pressure (bar)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B04D99-735F-ACD6-CC3D-2E94721E07E9}"/>
              </a:ext>
            </a:extLst>
          </p:cNvPr>
          <p:cNvCxnSpPr>
            <a:cxnSpLocks/>
          </p:cNvCxnSpPr>
          <p:nvPr/>
        </p:nvCxnSpPr>
        <p:spPr>
          <a:xfrm>
            <a:off x="799412" y="1199444"/>
            <a:ext cx="1672752" cy="12838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C79451-61EB-8275-96E9-D1BE1127D422}"/>
              </a:ext>
            </a:extLst>
          </p:cNvPr>
          <p:cNvCxnSpPr>
            <a:cxnSpLocks/>
          </p:cNvCxnSpPr>
          <p:nvPr/>
        </p:nvCxnSpPr>
        <p:spPr>
          <a:xfrm>
            <a:off x="2472164" y="2471380"/>
            <a:ext cx="291665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28D4CC-6D13-D53A-E653-57B702650E8D}"/>
              </a:ext>
            </a:extLst>
          </p:cNvPr>
          <p:cNvCxnSpPr>
            <a:cxnSpLocks/>
          </p:cNvCxnSpPr>
          <p:nvPr/>
        </p:nvCxnSpPr>
        <p:spPr>
          <a:xfrm flipV="1">
            <a:off x="2221874" y="1020942"/>
            <a:ext cx="0" cy="4110423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7D3FA9-F917-F64B-F7BB-505E34065088}"/>
              </a:ext>
            </a:extLst>
          </p:cNvPr>
          <p:cNvCxnSpPr>
            <a:cxnSpLocks/>
          </p:cNvCxnSpPr>
          <p:nvPr/>
        </p:nvCxnSpPr>
        <p:spPr>
          <a:xfrm flipV="1">
            <a:off x="780825" y="3993702"/>
            <a:ext cx="1441049" cy="763102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D1D962-AF2C-9D05-3FC5-AF3E672E0DD4}"/>
              </a:ext>
            </a:extLst>
          </p:cNvPr>
          <p:cNvCxnSpPr>
            <a:cxnSpLocks/>
          </p:cNvCxnSpPr>
          <p:nvPr/>
        </p:nvCxnSpPr>
        <p:spPr>
          <a:xfrm>
            <a:off x="7682720" y="1221227"/>
            <a:ext cx="23481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91B70D-C0A0-2FE4-CC5B-062C691E1C8D}"/>
              </a:ext>
            </a:extLst>
          </p:cNvPr>
          <p:cNvCxnSpPr>
            <a:cxnSpLocks/>
          </p:cNvCxnSpPr>
          <p:nvPr/>
        </p:nvCxnSpPr>
        <p:spPr>
          <a:xfrm>
            <a:off x="7682720" y="1370772"/>
            <a:ext cx="23481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B16B8B7-D1EA-2034-044D-FFBAECBF19D4}"/>
              </a:ext>
            </a:extLst>
          </p:cNvPr>
          <p:cNvSpPr txBox="1"/>
          <p:nvPr/>
        </p:nvSpPr>
        <p:spPr>
          <a:xfrm>
            <a:off x="7992328" y="1143877"/>
            <a:ext cx="65883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Regen request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B4E067-2C74-B5CC-DD56-E38AFD9D0E4D}"/>
              </a:ext>
            </a:extLst>
          </p:cNvPr>
          <p:cNvSpPr txBox="1"/>
          <p:nvPr/>
        </p:nvSpPr>
        <p:spPr>
          <a:xfrm>
            <a:off x="7992328" y="1297941"/>
            <a:ext cx="11621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Decel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torque demand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0644F3-49F3-2884-02FB-FC2920F7D18E}"/>
              </a:ext>
            </a:extLst>
          </p:cNvPr>
          <p:cNvCxnSpPr>
            <a:cxnSpLocks/>
          </p:cNvCxnSpPr>
          <p:nvPr/>
        </p:nvCxnSpPr>
        <p:spPr>
          <a:xfrm>
            <a:off x="7685530" y="3517072"/>
            <a:ext cx="234813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330753B-A0E1-BE11-4082-B4A9E8BC88F9}"/>
              </a:ext>
            </a:extLst>
          </p:cNvPr>
          <p:cNvSpPr txBox="1"/>
          <p:nvPr/>
        </p:nvSpPr>
        <p:spPr>
          <a:xfrm>
            <a:off x="7995138" y="3444241"/>
            <a:ext cx="62837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zh-CN" sz="800" kern="0">
                <a:solidFill>
                  <a:srgbClr val="000000"/>
                </a:solidFill>
              </a:rPr>
              <a:t>pressure Req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480665-F438-6F9B-F4B3-9B46D9980E9F}"/>
              </a:ext>
            </a:extLst>
          </p:cNvPr>
          <p:cNvSpPr txBox="1"/>
          <p:nvPr/>
        </p:nvSpPr>
        <p:spPr>
          <a:xfrm>
            <a:off x="1938364" y="881287"/>
            <a:ext cx="53380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active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962680-347F-E555-A07E-C4E973F8AEE9}"/>
              </a:ext>
            </a:extLst>
          </p:cNvPr>
          <p:cNvCxnSpPr>
            <a:cxnSpLocks/>
          </p:cNvCxnSpPr>
          <p:nvPr/>
        </p:nvCxnSpPr>
        <p:spPr>
          <a:xfrm>
            <a:off x="2195283" y="3993702"/>
            <a:ext cx="19456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F459C6-8277-5B6A-0E12-ED294B2D8D62}"/>
              </a:ext>
            </a:extLst>
          </p:cNvPr>
          <p:cNvCxnSpPr>
            <a:cxnSpLocks/>
          </p:cNvCxnSpPr>
          <p:nvPr/>
        </p:nvCxnSpPr>
        <p:spPr>
          <a:xfrm>
            <a:off x="799412" y="1199444"/>
            <a:ext cx="1433238" cy="6010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E3C9B8-3A79-F75E-32BF-6A5323EDCA7C}"/>
              </a:ext>
            </a:extLst>
          </p:cNvPr>
          <p:cNvCxnSpPr>
            <a:cxnSpLocks/>
          </p:cNvCxnSpPr>
          <p:nvPr/>
        </p:nvCxnSpPr>
        <p:spPr>
          <a:xfrm>
            <a:off x="2232650" y="1800481"/>
            <a:ext cx="66973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E6CD6C-E643-F0F1-EA86-1CC6046B63AB}"/>
              </a:ext>
            </a:extLst>
          </p:cNvPr>
          <p:cNvCxnSpPr>
            <a:cxnSpLocks/>
          </p:cNvCxnSpPr>
          <p:nvPr/>
        </p:nvCxnSpPr>
        <p:spPr>
          <a:xfrm>
            <a:off x="2902388" y="1800481"/>
            <a:ext cx="248643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73B107-9758-7F89-1DBE-B6C788830DD3}"/>
              </a:ext>
            </a:extLst>
          </p:cNvPr>
          <p:cNvCxnSpPr>
            <a:cxnSpLocks/>
          </p:cNvCxnSpPr>
          <p:nvPr/>
        </p:nvCxnSpPr>
        <p:spPr>
          <a:xfrm>
            <a:off x="2389849" y="3977033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501508-3EA4-B334-F5B1-CE7186A95422}"/>
              </a:ext>
            </a:extLst>
          </p:cNvPr>
          <p:cNvCxnSpPr>
            <a:cxnSpLocks/>
          </p:cNvCxnSpPr>
          <p:nvPr/>
        </p:nvCxnSpPr>
        <p:spPr>
          <a:xfrm>
            <a:off x="2389849" y="4087560"/>
            <a:ext cx="26458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4625467-8853-E4BD-535A-5924A567BE69}"/>
              </a:ext>
            </a:extLst>
          </p:cNvPr>
          <p:cNvCxnSpPr>
            <a:cxnSpLocks/>
          </p:cNvCxnSpPr>
          <p:nvPr/>
        </p:nvCxnSpPr>
        <p:spPr>
          <a:xfrm flipV="1">
            <a:off x="2654436" y="3977033"/>
            <a:ext cx="0" cy="11052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1471B2-A677-CBC6-FCC9-F5988BAD198D}"/>
              </a:ext>
            </a:extLst>
          </p:cNvPr>
          <p:cNvCxnSpPr>
            <a:cxnSpLocks/>
          </p:cNvCxnSpPr>
          <p:nvPr/>
        </p:nvCxnSpPr>
        <p:spPr>
          <a:xfrm flipV="1">
            <a:off x="2902388" y="1020942"/>
            <a:ext cx="0" cy="4094881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9A4D38-90A5-A300-904B-B91E164B4FAB}"/>
              </a:ext>
            </a:extLst>
          </p:cNvPr>
          <p:cNvCxnSpPr>
            <a:cxnSpLocks/>
          </p:cNvCxnSpPr>
          <p:nvPr/>
        </p:nvCxnSpPr>
        <p:spPr>
          <a:xfrm flipV="1">
            <a:off x="2654436" y="3991005"/>
            <a:ext cx="247952" cy="269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74D192-16AB-1D8D-0F72-298120A101F9}"/>
              </a:ext>
            </a:extLst>
          </p:cNvPr>
          <p:cNvCxnSpPr>
            <a:cxnSpLocks/>
          </p:cNvCxnSpPr>
          <p:nvPr/>
        </p:nvCxnSpPr>
        <p:spPr>
          <a:xfrm>
            <a:off x="2902388" y="3991005"/>
            <a:ext cx="0" cy="259487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008FDE6-E8DC-1AFA-62DF-B0D4B2A9C870}"/>
              </a:ext>
            </a:extLst>
          </p:cNvPr>
          <p:cNvCxnSpPr>
            <a:cxnSpLocks/>
          </p:cNvCxnSpPr>
          <p:nvPr/>
        </p:nvCxnSpPr>
        <p:spPr>
          <a:xfrm>
            <a:off x="2902388" y="4250492"/>
            <a:ext cx="180052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407650-E75A-6F13-2B2C-3283543391DB}"/>
              </a:ext>
            </a:extLst>
          </p:cNvPr>
          <p:cNvCxnSpPr>
            <a:cxnSpLocks/>
          </p:cNvCxnSpPr>
          <p:nvPr/>
        </p:nvCxnSpPr>
        <p:spPr>
          <a:xfrm flipV="1">
            <a:off x="3082440" y="4158997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A180B9C-1948-FFD9-15DF-972E0CF1EFDF}"/>
              </a:ext>
            </a:extLst>
          </p:cNvPr>
          <p:cNvCxnSpPr>
            <a:cxnSpLocks/>
          </p:cNvCxnSpPr>
          <p:nvPr/>
        </p:nvCxnSpPr>
        <p:spPr>
          <a:xfrm>
            <a:off x="3082440" y="4158997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BC173E-071D-6B04-1E6B-FC53AFCADC91}"/>
              </a:ext>
            </a:extLst>
          </p:cNvPr>
          <p:cNvCxnSpPr>
            <a:cxnSpLocks/>
          </p:cNvCxnSpPr>
          <p:nvPr/>
        </p:nvCxnSpPr>
        <p:spPr>
          <a:xfrm flipV="1">
            <a:off x="3234840" y="4056603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D5D608-3B1C-AD25-93ED-88F6DB833748}"/>
              </a:ext>
            </a:extLst>
          </p:cNvPr>
          <p:cNvCxnSpPr>
            <a:cxnSpLocks/>
          </p:cNvCxnSpPr>
          <p:nvPr/>
        </p:nvCxnSpPr>
        <p:spPr>
          <a:xfrm>
            <a:off x="3234840" y="4056603"/>
            <a:ext cx="296197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ED38D52-E970-6C9C-9549-CF44C44823A1}"/>
              </a:ext>
            </a:extLst>
          </p:cNvPr>
          <p:cNvCxnSpPr>
            <a:cxnSpLocks/>
          </p:cNvCxnSpPr>
          <p:nvPr/>
        </p:nvCxnSpPr>
        <p:spPr>
          <a:xfrm flipH="1" flipV="1">
            <a:off x="3528303" y="4056603"/>
            <a:ext cx="2735" cy="37147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80C81E-BF17-6D2F-FB1D-0FA59F152293}"/>
              </a:ext>
            </a:extLst>
          </p:cNvPr>
          <p:cNvCxnSpPr>
            <a:cxnSpLocks/>
          </p:cNvCxnSpPr>
          <p:nvPr/>
        </p:nvCxnSpPr>
        <p:spPr>
          <a:xfrm flipH="1">
            <a:off x="3525568" y="4406704"/>
            <a:ext cx="321606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996F82-0C5A-A8E2-1E05-3AEBA191C081}"/>
              </a:ext>
            </a:extLst>
          </p:cNvPr>
          <p:cNvCxnSpPr>
            <a:cxnSpLocks/>
          </p:cNvCxnSpPr>
          <p:nvPr/>
        </p:nvCxnSpPr>
        <p:spPr>
          <a:xfrm flipV="1">
            <a:off x="3847174" y="4311397"/>
            <a:ext cx="0" cy="110545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61041E-FE48-E493-E921-612AC47C572F}"/>
              </a:ext>
            </a:extLst>
          </p:cNvPr>
          <p:cNvCxnSpPr>
            <a:cxnSpLocks/>
          </p:cNvCxnSpPr>
          <p:nvPr/>
        </p:nvCxnSpPr>
        <p:spPr>
          <a:xfrm>
            <a:off x="3847174" y="4311397"/>
            <a:ext cx="152400" cy="0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8C9F1A-A2CC-37B6-BC6B-778A9EE5A288}"/>
              </a:ext>
            </a:extLst>
          </p:cNvPr>
          <p:cNvCxnSpPr>
            <a:cxnSpLocks/>
          </p:cNvCxnSpPr>
          <p:nvPr/>
        </p:nvCxnSpPr>
        <p:spPr>
          <a:xfrm flipV="1">
            <a:off x="3999574" y="4209003"/>
            <a:ext cx="0" cy="102394"/>
          </a:xfrm>
          <a:prstGeom prst="line">
            <a:avLst/>
          </a:prstGeom>
          <a:ln>
            <a:solidFill>
              <a:srgbClr val="CCCC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10C04AF-8F75-FE9E-0844-D1DB8548BAD8}"/>
              </a:ext>
            </a:extLst>
          </p:cNvPr>
          <p:cNvSpPr txBox="1"/>
          <p:nvPr/>
        </p:nvSpPr>
        <p:spPr>
          <a:xfrm>
            <a:off x="2633528" y="861952"/>
            <a:ext cx="90249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 </a:t>
            </a:r>
            <a:r>
              <a:rPr kumimoji="0" lang="en-US" altLang="zh-CN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enable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regen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4D28BE-3740-BE91-4EC3-6F07EF6CE523}"/>
              </a:ext>
            </a:extLst>
          </p:cNvPr>
          <p:cNvSpPr txBox="1"/>
          <p:nvPr/>
        </p:nvSpPr>
        <p:spPr>
          <a:xfrm>
            <a:off x="4563998" y="1841707"/>
            <a:ext cx="45799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regen is enable</a:t>
            </a:r>
            <a:r>
              <a:rPr lang="en-US" sz="1200" kern="0">
                <a:solidFill>
                  <a:srgbClr val="000000"/>
                </a:solidFill>
              </a:rPr>
              <a:t>d by braking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and ABS </a:t>
            </a:r>
            <a:r>
              <a:rPr lang="en-US" sz="1200" kern="0">
                <a:solidFill>
                  <a:srgbClr val="000000"/>
                </a:solidFill>
              </a:rPr>
              <a:t>active, regen torque should freeze its request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70B7A8-6C02-A943-A64B-1D92008A552E}"/>
              </a:ext>
            </a:extLst>
          </p:cNvPr>
          <p:cNvCxnSpPr>
            <a:cxnSpLocks/>
          </p:cNvCxnSpPr>
          <p:nvPr/>
        </p:nvCxnSpPr>
        <p:spPr>
          <a:xfrm flipH="1" flipV="1">
            <a:off x="2902388" y="1841707"/>
            <a:ext cx="1622051" cy="291893"/>
          </a:xfrm>
          <a:prstGeom prst="straightConnector1">
            <a:avLst/>
          </a:prstGeom>
          <a:ln w="9525">
            <a:solidFill>
              <a:srgbClr val="E5233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8C1F09-9B6B-9650-7C41-717832FCC81B}"/>
              </a:ext>
            </a:extLst>
          </p:cNvPr>
          <p:cNvCxnSpPr>
            <a:cxnSpLocks/>
          </p:cNvCxnSpPr>
          <p:nvPr/>
        </p:nvCxnSpPr>
        <p:spPr>
          <a:xfrm flipV="1">
            <a:off x="760685" y="3591156"/>
            <a:ext cx="1466499" cy="117755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F9CBF32-F051-EB33-B904-EA48F3F5E936}"/>
              </a:ext>
            </a:extLst>
          </p:cNvPr>
          <p:cNvCxnSpPr>
            <a:cxnSpLocks/>
          </p:cNvCxnSpPr>
          <p:nvPr/>
        </p:nvCxnSpPr>
        <p:spPr>
          <a:xfrm>
            <a:off x="2208905" y="3607384"/>
            <a:ext cx="1694329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633BEE2-968A-D1A2-36C2-5F250F7BA93A}"/>
              </a:ext>
            </a:extLst>
          </p:cNvPr>
          <p:cNvSpPr txBox="1"/>
          <p:nvPr/>
        </p:nvSpPr>
        <p:spPr>
          <a:xfrm>
            <a:off x="3903234" y="3739864"/>
            <a:ext cx="40107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If 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flag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active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the</a:t>
            </a:r>
            <a:r>
              <a:rPr kumimoji="0" lang="en-US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friction torque request should freeze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C8BEF5-FF0B-823B-C821-27DE66C80573}"/>
              </a:ext>
            </a:extLst>
          </p:cNvPr>
          <p:cNvCxnSpPr>
            <a:cxnSpLocks/>
          </p:cNvCxnSpPr>
          <p:nvPr/>
        </p:nvCxnSpPr>
        <p:spPr>
          <a:xfrm>
            <a:off x="7693554" y="3356559"/>
            <a:ext cx="227208" cy="0"/>
          </a:xfrm>
          <a:prstGeom prst="line">
            <a:avLst/>
          </a:prstGeom>
          <a:ln>
            <a:solidFill>
              <a:srgbClr val="DD0C2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920E5C9-7D98-B467-1391-81ADA495A795}"/>
              </a:ext>
            </a:extLst>
          </p:cNvPr>
          <p:cNvSpPr txBox="1"/>
          <p:nvPr/>
        </p:nvSpPr>
        <p:spPr>
          <a:xfrm>
            <a:off x="7992328" y="3294115"/>
            <a:ext cx="10435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 kern="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friction torque request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37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31EE-7C82-CF2C-8967-4AC6BA88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7375-9BD3-45AB-E4D2-41790500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HDC function architecture design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3F796-D80A-4D17-F058-3DEED674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EEAE6-A2F6-06EA-6568-E54520E8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10</a:t>
            </a:fld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423592-75D6-161D-03DD-28CDE606EC69}"/>
              </a:ext>
            </a:extLst>
          </p:cNvPr>
          <p:cNvSpPr/>
          <p:nvPr/>
        </p:nvSpPr>
        <p:spPr>
          <a:xfrm>
            <a:off x="555354" y="1897396"/>
            <a:ext cx="1073200" cy="58296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HDC</a:t>
            </a:r>
          </a:p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(Calc sum </a:t>
            </a:r>
            <a:r>
              <a:rPr lang="en-US" altLang="zh-CN" sz="800" kern="0" err="1">
                <a:latin typeface="Tahoma"/>
                <a:cs typeface="Tahoma" pitchFamily="34" charset="0"/>
              </a:rPr>
              <a:t>decel</a:t>
            </a:r>
            <a:r>
              <a:rPr lang="en-US" altLang="zh-CN" sz="800" kern="0">
                <a:latin typeface="Tahoma"/>
                <a:cs typeface="Tahoma" pitchFamily="34" charset="0"/>
              </a:rPr>
              <a:t> torque)</a:t>
            </a:r>
            <a:endParaRPr lang="zh-CN" altLang="en-US" sz="800" kern="0" err="1">
              <a:latin typeface="Tahoma"/>
              <a:cs typeface="Tahom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EB8A0-EAB1-F075-777F-7005A5E7A194}"/>
              </a:ext>
            </a:extLst>
          </p:cNvPr>
          <p:cNvSpPr/>
          <p:nvPr/>
        </p:nvSpPr>
        <p:spPr>
          <a:xfrm>
            <a:off x="2972871" y="1790367"/>
            <a:ext cx="1159388" cy="79579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ARB</a:t>
            </a:r>
          </a:p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(Torque distribution)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CE8EE85-9E58-BEB9-BF74-AC7C1108FE7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628554" y="2188263"/>
            <a:ext cx="1344317" cy="6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01DC34-80F3-CD8D-288A-ABCE333660A4}"/>
              </a:ext>
            </a:extLst>
          </p:cNvPr>
          <p:cNvSpPr txBox="1"/>
          <p:nvPr/>
        </p:nvSpPr>
        <p:spPr>
          <a:xfrm>
            <a:off x="1630846" y="1981382"/>
            <a:ext cx="144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latin typeface="Tahoma"/>
                <a:cs typeface="Tahoma" pitchFamily="34" charset="0"/>
              </a:rPr>
              <a:t>1× sum </a:t>
            </a:r>
            <a:r>
              <a:rPr lang="en-US" altLang="zh-CN" sz="1000" kern="0" err="1">
                <a:latin typeface="Tahoma"/>
                <a:cs typeface="Tahoma" pitchFamily="34" charset="0"/>
              </a:rPr>
              <a:t>decel</a:t>
            </a:r>
            <a:r>
              <a:rPr lang="en-US" altLang="zh-CN" sz="1000" kern="0">
                <a:latin typeface="Tahoma"/>
                <a:cs typeface="Tahoma" pitchFamily="34" charset="0"/>
              </a:rPr>
              <a:t> torque</a:t>
            </a:r>
            <a:endParaRPr lang="zh-CN" altLang="en-US" sz="1000" kern="0" err="1">
              <a:latin typeface="Tahoma"/>
              <a:cs typeface="Tahoma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D9E565-5E40-117F-AE3E-B03E602F2261}"/>
              </a:ext>
            </a:extLst>
          </p:cNvPr>
          <p:cNvCxnSpPr/>
          <p:nvPr/>
        </p:nvCxnSpPr>
        <p:spPr>
          <a:xfrm flipV="1">
            <a:off x="689703" y="2481891"/>
            <a:ext cx="0" cy="47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617856-0CF3-51D6-5FD3-B68FD22E7057}"/>
              </a:ext>
            </a:extLst>
          </p:cNvPr>
          <p:cNvCxnSpPr/>
          <p:nvPr/>
        </p:nvCxnSpPr>
        <p:spPr>
          <a:xfrm flipV="1">
            <a:off x="1525718" y="2481891"/>
            <a:ext cx="0" cy="47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163FFF-6A50-15A0-7C77-189DA83D2F26}"/>
              </a:ext>
            </a:extLst>
          </p:cNvPr>
          <p:cNvSpPr txBox="1"/>
          <p:nvPr/>
        </p:nvSpPr>
        <p:spPr>
          <a:xfrm>
            <a:off x="359247" y="2799248"/>
            <a:ext cx="67646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Motor Capacity</a:t>
            </a:r>
            <a:endParaRPr kumimoji="0" lang="zh-CN" alt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736F32-F1B3-E545-2334-3CA1A714B869}"/>
              </a:ext>
            </a:extLst>
          </p:cNvPr>
          <p:cNvSpPr txBox="1"/>
          <p:nvPr/>
        </p:nvSpPr>
        <p:spPr>
          <a:xfrm>
            <a:off x="1278555" y="2655969"/>
            <a:ext cx="5129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kern="0">
                <a:solidFill>
                  <a:srgbClr val="000000"/>
                </a:solidFill>
              </a:rPr>
              <a:t>Brake state</a:t>
            </a:r>
            <a:endParaRPr kumimoji="0" lang="zh-CN" alt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3C7507-6C46-88CC-D380-3CE999A125CF}"/>
              </a:ext>
            </a:extLst>
          </p:cNvPr>
          <p:cNvSpPr/>
          <p:nvPr/>
        </p:nvSpPr>
        <p:spPr>
          <a:xfrm>
            <a:off x="5225484" y="1790367"/>
            <a:ext cx="1073199" cy="81542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Target Calculation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4BF7AC-7DB9-7FCD-D56F-880E22A0820C}"/>
              </a:ext>
            </a:extLst>
          </p:cNvPr>
          <p:cNvCxnSpPr/>
          <p:nvPr/>
        </p:nvCxnSpPr>
        <p:spPr>
          <a:xfrm>
            <a:off x="4132259" y="2104492"/>
            <a:ext cx="109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87B2E0-6B62-B35D-7062-07844DFB96A1}"/>
              </a:ext>
            </a:extLst>
          </p:cNvPr>
          <p:cNvCxnSpPr/>
          <p:nvPr/>
        </p:nvCxnSpPr>
        <p:spPr>
          <a:xfrm>
            <a:off x="4132259" y="2456184"/>
            <a:ext cx="109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F8FBE3-1695-C104-957E-D2743E8C75EF}"/>
              </a:ext>
            </a:extLst>
          </p:cNvPr>
          <p:cNvSpPr txBox="1"/>
          <p:nvPr/>
        </p:nvSpPr>
        <p:spPr>
          <a:xfrm>
            <a:off x="4029767" y="1897396"/>
            <a:ext cx="144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latin typeface="Tahoma"/>
                <a:cs typeface="Tahoma" pitchFamily="34" charset="0"/>
              </a:rPr>
              <a:t>1× brake torque</a:t>
            </a:r>
            <a:endParaRPr lang="zh-CN" altLang="en-US" sz="1000" kern="0" err="1">
              <a:latin typeface="Tahoma"/>
              <a:cs typeface="Tahoma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EDCD47-49ED-BDAD-3AE9-32540372818B}"/>
              </a:ext>
            </a:extLst>
          </p:cNvPr>
          <p:cNvSpPr txBox="1"/>
          <p:nvPr/>
        </p:nvSpPr>
        <p:spPr>
          <a:xfrm>
            <a:off x="4029767" y="2234142"/>
            <a:ext cx="144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latin typeface="Tahoma"/>
                <a:cs typeface="Tahoma" pitchFamily="34" charset="0"/>
              </a:rPr>
              <a:t>1× regen torque</a:t>
            </a:r>
            <a:endParaRPr lang="zh-CN" altLang="en-US" sz="1000" kern="0" err="1">
              <a:latin typeface="Tahoma"/>
              <a:cs typeface="Tahoma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B7BE44-AD12-0E94-5170-596E59F4326F}"/>
              </a:ext>
            </a:extLst>
          </p:cNvPr>
          <p:cNvCxnSpPr/>
          <p:nvPr/>
        </p:nvCxnSpPr>
        <p:spPr>
          <a:xfrm>
            <a:off x="6319785" y="2083721"/>
            <a:ext cx="109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CA9241-38B4-33EC-64BB-C1C9EE49A22F}"/>
              </a:ext>
            </a:extLst>
          </p:cNvPr>
          <p:cNvCxnSpPr/>
          <p:nvPr/>
        </p:nvCxnSpPr>
        <p:spPr>
          <a:xfrm>
            <a:off x="6319785" y="2435413"/>
            <a:ext cx="109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F1B980-636B-8C07-CBC3-569FC310C84E}"/>
              </a:ext>
            </a:extLst>
          </p:cNvPr>
          <p:cNvSpPr txBox="1"/>
          <p:nvPr/>
        </p:nvSpPr>
        <p:spPr>
          <a:xfrm>
            <a:off x="6314604" y="2434384"/>
            <a:ext cx="2097661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kern="0">
                <a:ea typeface="+mn-lt"/>
                <a:cs typeface="+mn-lt"/>
              </a:rPr>
              <a:t>front regen torque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000" kern="0">
                <a:ea typeface="+mn-lt"/>
                <a:cs typeface="+mn-lt"/>
              </a:rPr>
              <a:t>rear regen torque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000" kern="0">
                <a:latin typeface="Tahoma"/>
                <a:ea typeface="Tahoma"/>
                <a:cs typeface="Tahoma"/>
              </a:rPr>
              <a:t>Regen torque state(HDC state)</a:t>
            </a:r>
            <a:endParaRPr lang="en-US" sz="1000" kern="0">
              <a:latin typeface="Tahoma"/>
              <a:ea typeface="Tahoma"/>
              <a:cs typeface="Tahoma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DCE7BC-9853-38D7-A759-5067B2710DE6}"/>
              </a:ext>
            </a:extLst>
          </p:cNvPr>
          <p:cNvSpPr txBox="1"/>
          <p:nvPr/>
        </p:nvSpPr>
        <p:spPr>
          <a:xfrm>
            <a:off x="179845" y="543381"/>
            <a:ext cx="18242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A proposal of HDC in VMC: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C94B11-536E-98B9-1A6E-47A021A635C3}"/>
              </a:ext>
            </a:extLst>
          </p:cNvPr>
          <p:cNvSpPr/>
          <p:nvPr/>
        </p:nvSpPr>
        <p:spPr>
          <a:xfrm>
            <a:off x="555354" y="1031084"/>
            <a:ext cx="1073200" cy="582967"/>
          </a:xfrm>
          <a:prstGeom prst="rect">
            <a:avLst/>
          </a:prstGeom>
          <a:noFill/>
          <a:ln w="12700" cap="flat" cmpd="sng" algn="ctr">
            <a:solidFill>
              <a:srgbClr val="7F7F7F"/>
            </a:solidFill>
            <a:prstDash val="dash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Infobase potential calculation longitudinal</a:t>
            </a:r>
            <a:endParaRPr lang="zh-CN" altLang="en-US" sz="800" kern="0" err="1">
              <a:latin typeface="Tahoma"/>
              <a:cs typeface="Tahom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35ECA-0D3E-079F-FFF8-AD57FEA290D8}"/>
              </a:ext>
            </a:extLst>
          </p:cNvPr>
          <p:cNvSpPr txBox="1"/>
          <p:nvPr/>
        </p:nvSpPr>
        <p:spPr>
          <a:xfrm>
            <a:off x="1630847" y="1117949"/>
            <a:ext cx="2987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latin typeface="Tahoma"/>
                <a:cs typeface="Tahoma" pitchFamily="34" charset="0"/>
              </a:rPr>
              <a:t>?</a:t>
            </a:r>
            <a:endParaRPr lang="zh-CN" altLang="en-US" sz="1000" kern="0" err="1">
              <a:latin typeface="Tahoma"/>
              <a:cs typeface="Tahoma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4C1994-47BF-59AE-D012-C8A9CEC1981F}"/>
              </a:ext>
            </a:extLst>
          </p:cNvPr>
          <p:cNvCxnSpPr>
            <a:stCxn id="11" idx="2"/>
            <a:endCxn id="7" idx="0"/>
          </p:cNvCxnSpPr>
          <p:nvPr/>
        </p:nvCxnSpPr>
        <p:spPr>
          <a:xfrm>
            <a:off x="1091954" y="1614051"/>
            <a:ext cx="0" cy="283345"/>
          </a:xfrm>
          <a:prstGeom prst="straightConnector1">
            <a:avLst/>
          </a:prstGeom>
          <a:noFill/>
          <a:ln w="28575" cap="rnd" cmpd="sng" algn="ctr">
            <a:solidFill>
              <a:srgbClr val="7F7F7F"/>
            </a:solidFill>
            <a:prstDash val="sysDot"/>
            <a:round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909DE9B-0EEF-F7C4-EAF0-98BE1224A804}"/>
              </a:ext>
            </a:extLst>
          </p:cNvPr>
          <p:cNvSpPr/>
          <p:nvPr/>
        </p:nvSpPr>
        <p:spPr>
          <a:xfrm>
            <a:off x="5225483" y="905659"/>
            <a:ext cx="1073200" cy="582967"/>
          </a:xfrm>
          <a:prstGeom prst="rect">
            <a:avLst/>
          </a:prstGeom>
          <a:noFill/>
          <a:ln w="12700" cap="flat" cmpd="sng" algn="ctr">
            <a:solidFill>
              <a:srgbClr val="7F7F7F"/>
            </a:solidFill>
            <a:prstDash val="dash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800" kern="0">
                <a:latin typeface="Tahoma"/>
                <a:cs typeface="Tahoma" pitchFamily="34" charset="0"/>
              </a:rPr>
              <a:t>AWDBD in negative area torque</a:t>
            </a:r>
            <a:endParaRPr lang="zh-CN" altLang="en-US" sz="800" kern="0" err="1">
              <a:latin typeface="Tahoma"/>
              <a:cs typeface="Tahoma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49EC83-881F-0301-5AAA-99AEDE128376}"/>
              </a:ext>
            </a:extLst>
          </p:cNvPr>
          <p:cNvCxnSpPr/>
          <p:nvPr/>
        </p:nvCxnSpPr>
        <p:spPr>
          <a:xfrm>
            <a:off x="5762083" y="1511844"/>
            <a:ext cx="0" cy="283345"/>
          </a:xfrm>
          <a:prstGeom prst="straightConnector1">
            <a:avLst/>
          </a:prstGeom>
          <a:noFill/>
          <a:ln w="28575" cap="rnd" cmpd="sng" algn="ctr">
            <a:solidFill>
              <a:srgbClr val="7F7F7F"/>
            </a:solidFill>
            <a:prstDash val="sysDot"/>
            <a:round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97E60F3-F839-05A0-C765-4E142EDF89C7}"/>
              </a:ext>
            </a:extLst>
          </p:cNvPr>
          <p:cNvSpPr txBox="1"/>
          <p:nvPr/>
        </p:nvSpPr>
        <p:spPr>
          <a:xfrm>
            <a:off x="1627084" y="2143617"/>
            <a:ext cx="14445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solidFill>
                  <a:schemeClr val="accent2"/>
                </a:solidFill>
                <a:latin typeface="Tahoma"/>
                <a:cs typeface="Tahoma" pitchFamily="34" charset="0"/>
              </a:rPr>
              <a:t>or</a:t>
            </a:r>
          </a:p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solidFill>
                  <a:schemeClr val="accent2"/>
                </a:solidFill>
                <a:latin typeface="Tahoma"/>
                <a:cs typeface="Tahoma" pitchFamily="34" charset="0"/>
              </a:rPr>
              <a:t>1× brake torque</a:t>
            </a:r>
          </a:p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solidFill>
                  <a:schemeClr val="accent2"/>
                </a:solidFill>
                <a:cs typeface="Tahoma" pitchFamily="34" charset="0"/>
              </a:rPr>
              <a:t>1× regen torque</a:t>
            </a:r>
            <a:endParaRPr lang="zh-CN" altLang="en-US" sz="1000" kern="0">
              <a:solidFill>
                <a:schemeClr val="accent2"/>
              </a:solidFill>
              <a:cs typeface="Tahoma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45839-4A33-A09A-8661-4561AECEF3A6}"/>
              </a:ext>
            </a:extLst>
          </p:cNvPr>
          <p:cNvSpPr txBox="1"/>
          <p:nvPr/>
        </p:nvSpPr>
        <p:spPr>
          <a:xfrm>
            <a:off x="6434942" y="1866654"/>
            <a:ext cx="2449285" cy="161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/>
              <a:t>4×wheel brake </a:t>
            </a:r>
            <a:r>
              <a:rPr lang="en-US" sz="1050" err="1"/>
              <a:t>torque+sliplimit</a:t>
            </a:r>
            <a:endParaRPr lang="en-US" sz="1050" err="1">
              <a:ea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E5CF9-A263-9C28-E44D-F4EE37069770}"/>
              </a:ext>
            </a:extLst>
          </p:cNvPr>
          <p:cNvSpPr txBox="1"/>
          <p:nvPr/>
        </p:nvSpPr>
        <p:spPr>
          <a:xfrm>
            <a:off x="6507152" y="1073416"/>
            <a:ext cx="2987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000" kern="0">
                <a:latin typeface="Tahoma"/>
                <a:cs typeface="Tahoma" pitchFamily="34" charset="0"/>
              </a:rPr>
              <a:t>?</a:t>
            </a:r>
            <a:endParaRPr lang="zh-CN" altLang="en-US" sz="1000" kern="0" err="1">
              <a:latin typeface="Tahom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2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E3A3C-244E-4429-FC28-3C904EC2C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2179-C6E6-F4F4-6E61-440605A5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Market HDC function</a:t>
            </a:r>
            <a:br>
              <a:rPr lang="en-US" altLang="zh-CN"/>
            </a:br>
            <a:r>
              <a:rPr lang="en-US" altLang="zh-CN" sz="1600"/>
              <a:t>2.XiaoPeng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D06AE-10B1-29FF-C180-4DF2EC84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61331-4BBE-DE96-7401-F8E17F4D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11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3AE88-3C8C-AF05-E314-8E60A6763B50}"/>
              </a:ext>
            </a:extLst>
          </p:cNvPr>
          <p:cNvSpPr txBox="1"/>
          <p:nvPr/>
        </p:nvSpPr>
        <p:spPr>
          <a:xfrm>
            <a:off x="118799" y="641180"/>
            <a:ext cx="851798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HDC </a:t>
            </a:r>
            <a:r>
              <a:rPr lang="zh-CN" altLang="en-US" sz="1200" kern="0">
                <a:solidFill>
                  <a:srgbClr val="000000"/>
                </a:solidFill>
              </a:rPr>
              <a:t>是一种巡航功能，它能帮助驾驶员匀速下坡，缓解下坡时一直踩踏制动踏板的脚步疲劳。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65B6DBF-1B10-AD26-643F-EA232F4A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9" y="1160251"/>
            <a:ext cx="84852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车辆上电后，HDC默认为关闭状态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进入控制界面，点击“辅助驾驶”按钮，进入辅助驾驶界面，点击“HDC下坡安全辅助”开关开启或关闭。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  <a:ea typeface="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●HDC能在≤50%的坡道上工作。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●开启 HDC 的条件：车速&lt;40km/h；40km/h&lt;车速&lt;60km/h无法开启，车速&gt;60km/h自动关闭，制动盘温度正常；ESP 系统正常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25B4B-3706-DB6A-1AD8-D20FA725D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082" y="2372903"/>
            <a:ext cx="3570554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8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751D-4238-4AF6-D394-CC63DC9D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4F0F-C7DC-3380-2705-2D595A03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Market HDC function</a:t>
            </a:r>
            <a:br>
              <a:rPr lang="en-US" altLang="zh-CN"/>
            </a:br>
            <a:r>
              <a:rPr lang="en-US" altLang="zh-CN" sz="1600"/>
              <a:t>3.Land Rover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F60BC-C9D2-DBA0-DC3F-5672B157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E4DE0-7A6E-C6B7-559B-2B1BB32F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12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4433D-C4BA-2D35-5FC8-CD9993123979}"/>
              </a:ext>
            </a:extLst>
          </p:cNvPr>
          <p:cNvSpPr txBox="1"/>
          <p:nvPr/>
        </p:nvSpPr>
        <p:spPr>
          <a:xfrm>
            <a:off x="118799" y="641180"/>
            <a:ext cx="85179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200" kern="0">
                <a:solidFill>
                  <a:srgbClr val="000000"/>
                </a:solidFill>
              </a:rPr>
              <a:t>当下坡行驶时，陡坡缓降控制系统 </a:t>
            </a:r>
            <a:r>
              <a:rPr lang="en-US" altLang="zh-CN" sz="1200" kern="0">
                <a:solidFill>
                  <a:srgbClr val="000000"/>
                </a:solidFill>
              </a:rPr>
              <a:t>(HDC) </a:t>
            </a:r>
            <a:r>
              <a:rPr lang="zh-CN" altLang="en-US" sz="1200" kern="0">
                <a:solidFill>
                  <a:srgbClr val="000000"/>
                </a:solidFill>
              </a:rPr>
              <a:t>将车辆速度限制至设定限值。</a:t>
            </a:r>
            <a:endParaRPr lang="en-US" altLang="zh-CN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200" kern="0">
                <a:solidFill>
                  <a:srgbClr val="000000"/>
                </a:solidFill>
              </a:rPr>
              <a:t>在下坡期间，如果发动机制动不足以控制车速，</a:t>
            </a:r>
            <a:r>
              <a:rPr lang="en-US" altLang="zh-CN" sz="1200" kern="0">
                <a:solidFill>
                  <a:srgbClr val="000000"/>
                </a:solidFill>
              </a:rPr>
              <a:t>HDC </a:t>
            </a:r>
            <a:r>
              <a:rPr lang="zh-CN" altLang="en-US" sz="1200" kern="0">
                <a:solidFill>
                  <a:srgbClr val="000000"/>
                </a:solidFill>
              </a:rPr>
              <a:t>会自动地操纵制动器，以降低车速，并维持一个对应于选中的档域和加速器踏板位置的速度。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EC5D942-C2EA-7150-4B04-64B206460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9" y="1298750"/>
            <a:ext cx="848520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要调节车辆的下坡速率：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  <a:ea typeface="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按下并松开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SET+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（设置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）按钮，以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1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公里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小时（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0.6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英里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小时）的增量提高车辆速度。 按住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SET+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（设定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）按钮以大幅提升车速，最高可至最大允许速度。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按下并松开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-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按钮可以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1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公里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小时（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0.6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英里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小时）的增量降低车辆速度。 按住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-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按钮以大幅降低车速，最低降至最小允许速度。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仪表盘显示当前设定的速度以及可用的设定速度范围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63437A-455F-45F6-809E-2B04FBE93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782" y="2827612"/>
            <a:ext cx="2542869" cy="175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7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1546-30A8-77F9-821C-42C7DA90F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861E-83CE-C99B-6B12-465885D7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HDC/CC function in Braking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14E56-2457-DF19-A8DD-B6AC4A7F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51DC8-3205-8A9B-3B88-93027E15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13</a:t>
            </a:fld>
            <a:endParaRPr lang="de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5785BB-4A0E-9452-91D1-29E7AF2EF284}"/>
              </a:ext>
            </a:extLst>
          </p:cNvPr>
          <p:cNvSpPr/>
          <p:nvPr/>
        </p:nvSpPr>
        <p:spPr>
          <a:xfrm>
            <a:off x="351689" y="1125417"/>
            <a:ext cx="2335237" cy="1111348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200" kern="0">
                <a:solidFill>
                  <a:schemeClr val="bg2"/>
                </a:solidFill>
                <a:latin typeface="Tahoma"/>
                <a:cs typeface="Tahoma" pitchFamily="34" charset="0"/>
              </a:rPr>
              <a:t>Launch Assist</a:t>
            </a:r>
            <a:r>
              <a:rPr lang="en-US" altLang="zh-CN" sz="1200" kern="0">
                <a:solidFill>
                  <a:srgbClr val="000000"/>
                </a:solidFill>
                <a:latin typeface="Tahoma"/>
                <a:cs typeface="Tahoma" pitchFamily="34" charset="0"/>
              </a:rPr>
              <a:t>/HDC</a:t>
            </a:r>
            <a:endParaRPr lang="zh-CN" altLang="en-US" sz="1200" kern="0" err="1">
              <a:solidFill>
                <a:srgbClr val="000000"/>
              </a:solidFill>
              <a:latin typeface="Tahoma"/>
              <a:cs typeface="Tahoma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1CE0A2-C289-922B-31ED-EC056E241B12}"/>
              </a:ext>
            </a:extLst>
          </p:cNvPr>
          <p:cNvSpPr/>
          <p:nvPr/>
        </p:nvSpPr>
        <p:spPr>
          <a:xfrm>
            <a:off x="351690" y="2819919"/>
            <a:ext cx="4550899" cy="1552636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BFA0D6-A98D-C434-C6FD-3E14183600CE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1406767" y="2236765"/>
            <a:ext cx="112541" cy="786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51C0EB-5F5A-361D-8B35-16E5366E033D}"/>
              </a:ext>
            </a:extLst>
          </p:cNvPr>
          <p:cNvSpPr txBox="1"/>
          <p:nvPr/>
        </p:nvSpPr>
        <p:spPr>
          <a:xfrm>
            <a:off x="1519307" y="2384581"/>
            <a:ext cx="4621236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SpdReq</a:t>
            </a:r>
            <a:endParaRPr lang="en-US" altLang="zh-CN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3E5F7-3BDD-FCE6-FE0D-0C82FA624B66}"/>
              </a:ext>
            </a:extLst>
          </p:cNvPr>
          <p:cNvSpPr/>
          <p:nvPr/>
        </p:nvSpPr>
        <p:spPr>
          <a:xfrm>
            <a:off x="829991" y="3023636"/>
            <a:ext cx="1153551" cy="38564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lc_spd_control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7FED6-CE5A-DB0D-7D0C-A1A98D83888F}"/>
              </a:ext>
            </a:extLst>
          </p:cNvPr>
          <p:cNvSpPr/>
          <p:nvPr/>
        </p:nvSpPr>
        <p:spPr>
          <a:xfrm>
            <a:off x="829991" y="3784447"/>
            <a:ext cx="1153551" cy="38564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200" kern="0" err="1">
                <a:solidFill>
                  <a:srgbClr val="000000"/>
                </a:solidFill>
                <a:latin typeface="Tahoma"/>
                <a:cs typeface="Tahoma" pitchFamily="34" charset="0"/>
              </a:rPr>
              <a:t>lc_control</a:t>
            </a:r>
            <a:endParaRPr lang="en-US" altLang="zh-CN" sz="1200" kern="0">
              <a:solidFill>
                <a:srgbClr val="000000"/>
              </a:solidFill>
              <a:latin typeface="Tahoma"/>
              <a:cs typeface="Tahoma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EF6E34-4050-D6A8-EFE2-B552BCAB3AA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406766" y="3409276"/>
            <a:ext cx="1" cy="375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DD7C9D-46E1-9FD5-FD2B-66D449C9EC13}"/>
              </a:ext>
            </a:extLst>
          </p:cNvPr>
          <p:cNvSpPr txBox="1"/>
          <p:nvPr/>
        </p:nvSpPr>
        <p:spPr>
          <a:xfrm>
            <a:off x="1798851" y="3216456"/>
            <a:ext cx="1209822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Decel_Req</a:t>
            </a:r>
            <a:endParaRPr lang="en-US" altLang="zh-CN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FCECF2-FB10-3D32-807B-DCB6CC996238}"/>
              </a:ext>
            </a:extLst>
          </p:cNvPr>
          <p:cNvSpPr/>
          <p:nvPr/>
        </p:nvSpPr>
        <p:spPr>
          <a:xfrm>
            <a:off x="2637690" y="3023636"/>
            <a:ext cx="1871004" cy="385640"/>
          </a:xfrm>
          <a:prstGeom prst="rect">
            <a:avLst/>
          </a:prstGeom>
          <a:noFill/>
          <a:ln w="12700" cap="flat" cmpd="sng" algn="ctr">
            <a:solidFill>
              <a:schemeClr val="bg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lc_engine_handler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(only positive torque)</a:t>
            </a:r>
            <a:endParaRPr kumimoji="0" lang="zh-CN" altLang="en-US" sz="900" b="0" i="0" u="none" strike="noStrike" kern="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38F6A3-9069-BEFE-26C1-6C2DFC267992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1983542" y="3216456"/>
            <a:ext cx="654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57D343D-3A8E-E4C6-AF12-BC219DA20599}"/>
              </a:ext>
            </a:extLst>
          </p:cNvPr>
          <p:cNvSpPr/>
          <p:nvPr/>
        </p:nvSpPr>
        <p:spPr>
          <a:xfrm>
            <a:off x="2637690" y="3779664"/>
            <a:ext cx="1871004" cy="38564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lc_force_to_press</a:t>
            </a:r>
            <a:endParaRPr kumimoji="0" lang="zh-CN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63D3F1-0471-78FF-B3FB-437027C5A226}"/>
              </a:ext>
            </a:extLst>
          </p:cNvPr>
          <p:cNvCxnSpPr>
            <a:cxnSpLocks/>
          </p:cNvCxnSpPr>
          <p:nvPr/>
        </p:nvCxnSpPr>
        <p:spPr>
          <a:xfrm>
            <a:off x="1983542" y="3972484"/>
            <a:ext cx="654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1CDF74-A663-669B-B02E-B31B286FB344}"/>
              </a:ext>
            </a:extLst>
          </p:cNvPr>
          <p:cNvCxnSpPr>
            <a:cxnSpLocks/>
          </p:cNvCxnSpPr>
          <p:nvPr/>
        </p:nvCxnSpPr>
        <p:spPr>
          <a:xfrm>
            <a:off x="4496435" y="3216456"/>
            <a:ext cx="654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AECD6E-DA30-1F7F-D5E5-88A9E5D52942}"/>
              </a:ext>
            </a:extLst>
          </p:cNvPr>
          <p:cNvCxnSpPr>
            <a:cxnSpLocks/>
          </p:cNvCxnSpPr>
          <p:nvPr/>
        </p:nvCxnSpPr>
        <p:spPr>
          <a:xfrm>
            <a:off x="4496435" y="3967436"/>
            <a:ext cx="654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C9F59EF-6CBF-0972-EDF2-893478B165E0}"/>
              </a:ext>
            </a:extLst>
          </p:cNvPr>
          <p:cNvSpPr txBox="1"/>
          <p:nvPr/>
        </p:nvSpPr>
        <p:spPr>
          <a:xfrm>
            <a:off x="1784785" y="4033511"/>
            <a:ext cx="1209822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Force_Req</a:t>
            </a:r>
            <a:endParaRPr lang="en-US" altLang="zh-CN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923616-E8F1-D07C-8D5A-62D54A8C6540}"/>
              </a:ext>
            </a:extLst>
          </p:cNvPr>
          <p:cNvSpPr txBox="1"/>
          <p:nvPr/>
        </p:nvSpPr>
        <p:spPr>
          <a:xfrm>
            <a:off x="5162842" y="2985623"/>
            <a:ext cx="2711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</a:rPr>
              <a:t>EngTorqReq_s16</a:t>
            </a:r>
          </a:p>
          <a:p>
            <a:r>
              <a:rPr lang="en-US" altLang="zh-CN" sz="1200" err="1">
                <a:solidFill>
                  <a:schemeClr val="bg2"/>
                </a:solidFill>
              </a:rPr>
              <a:t>LcEngReqActive_bn</a:t>
            </a:r>
            <a:endParaRPr lang="en-US" altLang="zh-CN" sz="1200">
              <a:solidFill>
                <a:schemeClr val="bg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66B84-7B73-CE39-1FA0-4B23D242028C}"/>
              </a:ext>
            </a:extLst>
          </p:cNvPr>
          <p:cNvSpPr txBox="1"/>
          <p:nvPr/>
        </p:nvSpPr>
        <p:spPr>
          <a:xfrm>
            <a:off x="5162842" y="3828936"/>
            <a:ext cx="2711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/>
              <a:t>LcPressReq_s16[Whl_u8]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1203F7-59BF-C399-DC42-A314193489B1}"/>
              </a:ext>
            </a:extLst>
          </p:cNvPr>
          <p:cNvSpPr txBox="1"/>
          <p:nvPr/>
        </p:nvSpPr>
        <p:spPr>
          <a:xfrm>
            <a:off x="1372964" y="3426181"/>
            <a:ext cx="1209822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Decel_Req</a:t>
            </a:r>
            <a:endParaRPr lang="en-US" altLang="zh-CN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78F0CB-1D13-C3B9-5EC4-D795A3F9B39A}"/>
              </a:ext>
            </a:extLst>
          </p:cNvPr>
          <p:cNvSpPr txBox="1"/>
          <p:nvPr/>
        </p:nvSpPr>
        <p:spPr>
          <a:xfrm>
            <a:off x="58083" y="479143"/>
            <a:ext cx="2529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Main control flow for HDC in braking: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C557E-DDBC-F759-C07D-13CBDCED8F17}"/>
              </a:ext>
            </a:extLst>
          </p:cNvPr>
          <p:cNvSpPr txBox="1"/>
          <p:nvPr/>
        </p:nvSpPr>
        <p:spPr>
          <a:xfrm>
            <a:off x="501213" y="931204"/>
            <a:ext cx="2180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Cc: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550F1D-A203-C432-84D5-2D1664C25030}"/>
              </a:ext>
            </a:extLst>
          </p:cNvPr>
          <p:cNvSpPr txBox="1"/>
          <p:nvPr/>
        </p:nvSpPr>
        <p:spPr>
          <a:xfrm>
            <a:off x="501213" y="2595540"/>
            <a:ext cx="20197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>
                <a:solidFill>
                  <a:schemeClr val="accent5"/>
                </a:solidFill>
              </a:rPr>
              <a:t>L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c: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571613-CA0D-6988-BE2D-CE7DAF33A9C9}"/>
              </a:ext>
            </a:extLst>
          </p:cNvPr>
          <p:cNvSpPr txBox="1"/>
          <p:nvPr/>
        </p:nvSpPr>
        <p:spPr>
          <a:xfrm>
            <a:off x="5057336" y="1293567"/>
            <a:ext cx="38311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Only contain brake torque, no negative engine torque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Launch assist and HDC are included in CC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HDC will keep on when ABS active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26788193"/>
      </p:ext>
    </p:extLst>
  </p:cSld>
  <p:clrMapOvr>
    <a:masterClrMapping/>
  </p:clrMapOvr>
</p:sld>
</file>

<file path=ppt/theme/theme1.xml><?xml version="1.0" encoding="utf-8"?>
<a:theme xmlns:a="http://schemas.openxmlformats.org/drawingml/2006/main" name="ZF AG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FD5F3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28575" cap="rnd" cmpd="sng" algn="ctr">
          <a:solidFill>
            <a:srgbClr val="00ABE7"/>
          </a:solidFill>
          <a:prstDash val="sysDot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50%">
      <a:srgbClr val="7FD5F3"/>
    </a:custClr>
    <a:custClr name="ZF Cyan 25%">
      <a:srgbClr val="BFEAF9"/>
    </a:custClr>
    <a:custClr>
      <a:srgbClr val="FFFFFF"/>
    </a:custClr>
    <a:custClr name="ZF Blue 100%">
      <a:srgbClr val="1179BF"/>
    </a:custClr>
    <a:custClr name="ZF Blue 50%">
      <a:srgbClr val="81BCDF"/>
    </a:custClr>
    <a:custClr>
      <a:srgbClr val="FFFFFF"/>
    </a:custClr>
    <a:custClr name="Middle Blue 100%">
      <a:srgbClr val="004D7A"/>
    </a:custClr>
    <a:custClr name="Middle Blue 50%">
      <a:srgbClr val="7FA5BC"/>
    </a:custClr>
    <a:custClr>
      <a:srgbClr val="FFFFFF"/>
    </a:custClr>
    <a:custClr name="Black 100%">
      <a:srgbClr val="000000"/>
    </a:custClr>
    <a:custClr name="Black 50%">
      <a:srgbClr val="7F7F7F"/>
    </a:custClr>
    <a:custClr name="Black 25%">
      <a:srgbClr val="BFBFBF"/>
    </a:custClr>
    <a:custClr>
      <a:srgbClr val="FFFFFF"/>
    </a:custClr>
    <a:custClr name="1. Step color gradient">
      <a:srgbClr val="1179BF"/>
    </a:custClr>
    <a:custClr name="2. Step color gradient">
      <a:srgbClr val="004D7A"/>
    </a:custClr>
    <a:custClr name="3. Step color gradient">
      <a:srgbClr val="001024"/>
    </a:custClr>
    <a:custClr>
      <a:srgbClr val="FFFFFF"/>
    </a:custClr>
    <a:custClr name="ZF Red - Only highlight color">
      <a:srgbClr val="DD0C29"/>
    </a:custClr>
  </a:custClrLst>
  <a:extLst>
    <a:ext uri="{05A4C25C-085E-4340-85A3-A5531E510DB2}">
      <thm15:themeFamily xmlns:thm15="http://schemas.microsoft.com/office/thememl/2012/main" name="master_zf.potx" id="{27FC02A3-3CC2-4411-86F6-B339DEDD2E07}" vid="{BBEEC987-2F6D-4DE3-928C-2140DBAFC1C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CorrectedByUser xmlns="f4ecdb93-bc7f-4438-8c77-236ab96c18a9" xsi:nil="true"/>
    <testStatus xmlns="455088e1-af34-4927-a3f0-bdce59540293">Not found</testStatus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8" ma:contentTypeDescription="Create a new document." ma:contentTypeScope="" ma:versionID="9683c085a59988fd2dc84fe522921e1c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7184c417cebe2c46bf9076e6fd8b1060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Processing status" ma:internalName="PrimeClassificationStatus">
      <xsd:simpleType>
        <xsd:restriction base="dms:Text"/>
      </xsd:simpleType>
    </xsd:element>
    <xsd:element name="PrimeClassificationStatusDetails" ma:index="22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Processed" ma:internalName="PrimeLastClassified">
      <xsd:simpleType>
        <xsd:restriction base="dms:DateTime"/>
      </xsd:simpleType>
    </xsd:element>
    <xsd:element name="PrimeCorrectedByUser" ma:index="24" nillable="true" ma:displayName="Corrected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726A60-13BC-4ECD-AE70-BA20474CCF56}">
  <ds:schemaRefs>
    <ds:schemaRef ds:uri="455088e1-af34-4927-a3f0-bdce59540293"/>
    <ds:schemaRef ds:uri="f4ecdb93-bc7f-4438-8c77-236ab96c18a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BCD379A-EEB4-4892-A8A9-CB930AA97589}">
  <ds:schemaRefs>
    <ds:schemaRef ds:uri="455088e1-af34-4927-a3f0-bdce59540293"/>
    <ds:schemaRef ds:uri="f4ecdb93-bc7f-4438-8c77-236ab96c18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6F8480E-2676-49D6-9A2B-37EB2ED444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Application>Microsoft Office PowerPoint</Application>
  <PresentationFormat>On-screen Show (16:9)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ZF AG</vt:lpstr>
      <vt:lpstr>Customer SOR- HDC</vt:lpstr>
      <vt:lpstr>HDC function interface proposal in VMC</vt:lpstr>
      <vt:lpstr>HDC system architecture design</vt:lpstr>
      <vt:lpstr>HDC system architecture design</vt:lpstr>
      <vt:lpstr>Use case #1 – HDC Regen active during ABS, EDTR active</vt:lpstr>
      <vt:lpstr>Use Case #2 – HDC Regen active during ABS, EDTR Active, EDTR exits mid event</vt:lpstr>
      <vt:lpstr>PowerPoint Presentation</vt:lpstr>
      <vt:lpstr>Use Case #3 – HDC Regen active during ABS, ABS inhibits regen</vt:lpstr>
      <vt:lpstr>Use Case #4 – HDC Regen active during ABS, ABS inhibits regen</vt:lpstr>
      <vt:lpstr>HDC function architecture design</vt:lpstr>
      <vt:lpstr>Market HDC function 2.XiaoPeng</vt:lpstr>
      <vt:lpstr>Market HDC function 3.Land Rover</vt:lpstr>
      <vt:lpstr>HDC/CC function in Braking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 Deqing SGH XMAC</dc:creator>
  <cp:revision>1</cp:revision>
  <dcterms:created xsi:type="dcterms:W3CDTF">2024-03-14T05:12:56Z</dcterms:created>
  <dcterms:modified xsi:type="dcterms:W3CDTF">2026-07-31T02:12:17Z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34277c1-31d4-4dba-9248-3ba93a3f3112_Enabled">
    <vt:lpwstr>true</vt:lpwstr>
  </property>
  <property fmtid="{D5CDD505-2E9C-101B-9397-08002B2CF9AE}" pid="3" name="MSIP_Label_134277c1-31d4-4dba-9248-3ba93a3f3112_SetDate">
    <vt:lpwstr>2024-03-18T07:37:19Z</vt:lpwstr>
  </property>
  <property fmtid="{D5CDD505-2E9C-101B-9397-08002B2CF9AE}" pid="4" name="MSIP_Label_134277c1-31d4-4dba-9248-3ba93a3f3112_Method">
    <vt:lpwstr>Privileged</vt:lpwstr>
  </property>
  <property fmtid="{D5CDD505-2E9C-101B-9397-08002B2CF9AE}" pid="5" name="MSIP_Label_134277c1-31d4-4dba-9248-3ba93a3f3112_Name">
    <vt:lpwstr>Internal sub1</vt:lpwstr>
  </property>
  <property fmtid="{D5CDD505-2E9C-101B-9397-08002B2CF9AE}" pid="6" name="MSIP_Label_134277c1-31d4-4dba-9248-3ba93a3f3112_SiteId">
    <vt:lpwstr>eb70b763-b6d7-4486-8555-8831709a784e</vt:lpwstr>
  </property>
  <property fmtid="{D5CDD505-2E9C-101B-9397-08002B2CF9AE}" pid="7" name="MSIP_Label_134277c1-31d4-4dba-9248-3ba93a3f3112_ActionId">
    <vt:lpwstr>82e3d467-6732-43df-8dca-dc840414aa75</vt:lpwstr>
  </property>
  <property fmtid="{D5CDD505-2E9C-101B-9397-08002B2CF9AE}" pid="8" name="MSIP_Label_134277c1-31d4-4dba-9248-3ba93a3f3112_ContentBits">
    <vt:lpwstr>1</vt:lpwstr>
  </property>
  <property fmtid="{D5CDD505-2E9C-101B-9397-08002B2CF9AE}" pid="9" name="ContentTypeId">
    <vt:lpwstr>0x010100F4ECDE3992A08C4AB27EAAF617A05967</vt:lpwstr>
  </property>
  <property fmtid="{D5CDD505-2E9C-101B-9397-08002B2CF9AE}" pid="10" name="MediaServiceImageTags">
    <vt:lpwstr/>
  </property>
</Properties>
</file>